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295" r:id="rId3"/>
    <p:sldId id="256" r:id="rId4"/>
    <p:sldId id="336" r:id="rId5"/>
    <p:sldId id="333" r:id="rId6"/>
    <p:sldId id="334" r:id="rId7"/>
    <p:sldId id="337" r:id="rId8"/>
    <p:sldId id="338" r:id="rId9"/>
    <p:sldId id="339" r:id="rId10"/>
    <p:sldId id="341" r:id="rId11"/>
    <p:sldId id="342" r:id="rId12"/>
    <p:sldId id="343" r:id="rId13"/>
    <p:sldId id="34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3366"/>
    <a:srgbClr val="FF6699"/>
    <a:srgbClr val="6666FF"/>
    <a:srgbClr val="0099CC"/>
    <a:srgbClr val="FF99CC"/>
    <a:srgbClr val="AC1455"/>
    <a:srgbClr val="9D2F23"/>
    <a:srgbClr val="4563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38" autoAdjust="0"/>
    <p:restoredTop sz="94660"/>
  </p:normalViewPr>
  <p:slideViewPr>
    <p:cSldViewPr snapToGrid="0">
      <p:cViewPr varScale="1">
        <p:scale>
          <a:sx n="113" d="100"/>
          <a:sy n="113" d="100"/>
        </p:scale>
        <p:origin x="52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621A7-1297-4B3D-AA39-F5C0DF1593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F210B9-4796-4874-9BB8-15F35183EC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4B7682-B92C-4941-BF14-1CC126B0A813}"/>
              </a:ext>
            </a:extLst>
          </p:cNvPr>
          <p:cNvSpPr>
            <a:spLocks noGrp="1"/>
          </p:cNvSpPr>
          <p:nvPr>
            <p:ph type="dt" sz="half" idx="10"/>
          </p:nvPr>
        </p:nvSpPr>
        <p:spPr/>
        <p:txBody>
          <a:bodyPr/>
          <a:lstStyle/>
          <a:p>
            <a:fld id="{807B2B08-B017-4EEC-B17F-079F487C2A94}" type="datetimeFigureOut">
              <a:rPr lang="en-US" smtClean="0"/>
              <a:t>12/3/2025</a:t>
            </a:fld>
            <a:endParaRPr lang="en-US"/>
          </a:p>
        </p:txBody>
      </p:sp>
      <p:sp>
        <p:nvSpPr>
          <p:cNvPr id="5" name="Footer Placeholder 4">
            <a:extLst>
              <a:ext uri="{FF2B5EF4-FFF2-40B4-BE49-F238E27FC236}">
                <a16:creationId xmlns:a16="http://schemas.microsoft.com/office/drawing/2014/main" id="{E394EDB1-FFF8-4366-8956-44B1F03997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D50CC4-F01F-49B0-B16E-FB8D42E76007}"/>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3013080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8765F-E9B9-4ED1-9E9E-EBBE0338D1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3A57D5-DD8D-4939-A68C-92AF9510BB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536BAA-6F97-4E6F-B61B-7E4CF543618E}"/>
              </a:ext>
            </a:extLst>
          </p:cNvPr>
          <p:cNvSpPr>
            <a:spLocks noGrp="1"/>
          </p:cNvSpPr>
          <p:nvPr>
            <p:ph type="dt" sz="half" idx="10"/>
          </p:nvPr>
        </p:nvSpPr>
        <p:spPr/>
        <p:txBody>
          <a:bodyPr/>
          <a:lstStyle/>
          <a:p>
            <a:fld id="{807B2B08-B017-4EEC-B17F-079F487C2A94}" type="datetimeFigureOut">
              <a:rPr lang="en-US" smtClean="0"/>
              <a:t>12/3/2025</a:t>
            </a:fld>
            <a:endParaRPr lang="en-US"/>
          </a:p>
        </p:txBody>
      </p:sp>
      <p:sp>
        <p:nvSpPr>
          <p:cNvPr id="5" name="Footer Placeholder 4">
            <a:extLst>
              <a:ext uri="{FF2B5EF4-FFF2-40B4-BE49-F238E27FC236}">
                <a16:creationId xmlns:a16="http://schemas.microsoft.com/office/drawing/2014/main" id="{39EA5917-50CC-4C33-A243-F3EC0293F9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1BB40-3BBA-4F2F-BF06-08662F15231B}"/>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2597189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C94DA-872A-4221-BA19-E07B6B95A3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027956-B24A-4F79-A497-786703A03A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C01D3C-2A54-43A4-B4AA-E3578A5F02D2}"/>
              </a:ext>
            </a:extLst>
          </p:cNvPr>
          <p:cNvSpPr>
            <a:spLocks noGrp="1"/>
          </p:cNvSpPr>
          <p:nvPr>
            <p:ph type="dt" sz="half" idx="10"/>
          </p:nvPr>
        </p:nvSpPr>
        <p:spPr/>
        <p:txBody>
          <a:bodyPr/>
          <a:lstStyle/>
          <a:p>
            <a:fld id="{807B2B08-B017-4EEC-B17F-079F487C2A94}" type="datetimeFigureOut">
              <a:rPr lang="en-US" smtClean="0"/>
              <a:t>12/3/2025</a:t>
            </a:fld>
            <a:endParaRPr lang="en-US"/>
          </a:p>
        </p:txBody>
      </p:sp>
      <p:sp>
        <p:nvSpPr>
          <p:cNvPr id="5" name="Footer Placeholder 4">
            <a:extLst>
              <a:ext uri="{FF2B5EF4-FFF2-40B4-BE49-F238E27FC236}">
                <a16:creationId xmlns:a16="http://schemas.microsoft.com/office/drawing/2014/main" id="{23ABF451-B11A-429E-AE89-A29A040D44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09344F-0B35-47EF-B676-F7D6EFD51B71}"/>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3620703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0B749-E171-424D-95A4-107569D207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4AE049-633C-4EE9-9C60-6E549F603B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E85B50-1331-4886-879E-3B49F84073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6F5FF1-B6E1-4969-8EA6-3540B5C095BE}"/>
              </a:ext>
            </a:extLst>
          </p:cNvPr>
          <p:cNvSpPr>
            <a:spLocks noGrp="1"/>
          </p:cNvSpPr>
          <p:nvPr>
            <p:ph type="dt" sz="half" idx="10"/>
          </p:nvPr>
        </p:nvSpPr>
        <p:spPr/>
        <p:txBody>
          <a:bodyPr/>
          <a:lstStyle/>
          <a:p>
            <a:fld id="{807B2B08-B017-4EEC-B17F-079F487C2A94}" type="datetimeFigureOut">
              <a:rPr lang="en-US" smtClean="0"/>
              <a:t>12/3/2025</a:t>
            </a:fld>
            <a:endParaRPr lang="en-US"/>
          </a:p>
        </p:txBody>
      </p:sp>
      <p:sp>
        <p:nvSpPr>
          <p:cNvPr id="6" name="Footer Placeholder 5">
            <a:extLst>
              <a:ext uri="{FF2B5EF4-FFF2-40B4-BE49-F238E27FC236}">
                <a16:creationId xmlns:a16="http://schemas.microsoft.com/office/drawing/2014/main" id="{6FE9DCB5-B792-438D-BC09-99FA3302AE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21F8EF-9BA1-4D3A-8856-9E1F28F9F090}"/>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3714095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523B0-D53A-4FB3-A0FA-3AA650170B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861986-7E35-4BFD-AE5C-731845CE20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DB44A9-6B54-44C0-B2D5-AB7D848EF5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CF03A4-F8A4-4A2B-B519-1F7A15433D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6FA89C-42F2-4E57-9927-53867109DF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C8D43E-DE9B-4462-9805-C8D17DE09B3F}"/>
              </a:ext>
            </a:extLst>
          </p:cNvPr>
          <p:cNvSpPr>
            <a:spLocks noGrp="1"/>
          </p:cNvSpPr>
          <p:nvPr>
            <p:ph type="dt" sz="half" idx="10"/>
          </p:nvPr>
        </p:nvSpPr>
        <p:spPr/>
        <p:txBody>
          <a:bodyPr/>
          <a:lstStyle/>
          <a:p>
            <a:fld id="{807B2B08-B017-4EEC-B17F-079F487C2A94}" type="datetimeFigureOut">
              <a:rPr lang="en-US" smtClean="0"/>
              <a:t>12/3/2025</a:t>
            </a:fld>
            <a:endParaRPr lang="en-US"/>
          </a:p>
        </p:txBody>
      </p:sp>
      <p:sp>
        <p:nvSpPr>
          <p:cNvPr id="8" name="Footer Placeholder 7">
            <a:extLst>
              <a:ext uri="{FF2B5EF4-FFF2-40B4-BE49-F238E27FC236}">
                <a16:creationId xmlns:a16="http://schemas.microsoft.com/office/drawing/2014/main" id="{508FD1DA-4390-4E8E-9A61-060979A913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F0717FB-EF17-43FB-8605-E12CCEEDECA6}"/>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3884108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E3E59-9915-476C-B0F8-EB3A25E6D1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B460F27-09EE-485F-A74C-6A6BD7FDD323}"/>
              </a:ext>
            </a:extLst>
          </p:cNvPr>
          <p:cNvSpPr>
            <a:spLocks noGrp="1"/>
          </p:cNvSpPr>
          <p:nvPr>
            <p:ph type="dt" sz="half" idx="10"/>
          </p:nvPr>
        </p:nvSpPr>
        <p:spPr/>
        <p:txBody>
          <a:bodyPr/>
          <a:lstStyle/>
          <a:p>
            <a:fld id="{807B2B08-B017-4EEC-B17F-079F487C2A94}" type="datetimeFigureOut">
              <a:rPr lang="en-US" smtClean="0"/>
              <a:t>12/3/2025</a:t>
            </a:fld>
            <a:endParaRPr lang="en-US"/>
          </a:p>
        </p:txBody>
      </p:sp>
      <p:sp>
        <p:nvSpPr>
          <p:cNvPr id="4" name="Footer Placeholder 3">
            <a:extLst>
              <a:ext uri="{FF2B5EF4-FFF2-40B4-BE49-F238E27FC236}">
                <a16:creationId xmlns:a16="http://schemas.microsoft.com/office/drawing/2014/main" id="{A9765843-65D3-4667-B615-FD1F6B5C2EA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AC674E2-122C-48F8-9EF8-E6146682F3A1}"/>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1469304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B7D829-74FC-4444-AFD6-536A86FD1D7F}"/>
              </a:ext>
            </a:extLst>
          </p:cNvPr>
          <p:cNvSpPr>
            <a:spLocks noGrp="1"/>
          </p:cNvSpPr>
          <p:nvPr>
            <p:ph type="dt" sz="half" idx="10"/>
          </p:nvPr>
        </p:nvSpPr>
        <p:spPr/>
        <p:txBody>
          <a:bodyPr/>
          <a:lstStyle/>
          <a:p>
            <a:fld id="{807B2B08-B017-4EEC-B17F-079F487C2A94}" type="datetimeFigureOut">
              <a:rPr lang="en-US" smtClean="0"/>
              <a:t>12/3/2025</a:t>
            </a:fld>
            <a:endParaRPr lang="en-US"/>
          </a:p>
        </p:txBody>
      </p:sp>
      <p:sp>
        <p:nvSpPr>
          <p:cNvPr id="3" name="Footer Placeholder 2">
            <a:extLst>
              <a:ext uri="{FF2B5EF4-FFF2-40B4-BE49-F238E27FC236}">
                <a16:creationId xmlns:a16="http://schemas.microsoft.com/office/drawing/2014/main" id="{8A9E63DD-C7A8-44E9-9536-DA1E149966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F2B870-EF9E-4D10-9908-985BE1401045}"/>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304548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FAF71-5FE8-47EF-BAE7-4E48FB03CC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704D18-94CC-4C61-8AA2-0F0BA6A0E0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F63AB8-9CB2-4DC0-8619-82C66AB041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A9CBA3-20B9-4D09-ACA4-F5CEF556311D}"/>
              </a:ext>
            </a:extLst>
          </p:cNvPr>
          <p:cNvSpPr>
            <a:spLocks noGrp="1"/>
          </p:cNvSpPr>
          <p:nvPr>
            <p:ph type="dt" sz="half" idx="10"/>
          </p:nvPr>
        </p:nvSpPr>
        <p:spPr/>
        <p:txBody>
          <a:bodyPr/>
          <a:lstStyle/>
          <a:p>
            <a:fld id="{807B2B08-B017-4EEC-B17F-079F487C2A94}" type="datetimeFigureOut">
              <a:rPr lang="en-US" smtClean="0"/>
              <a:t>12/3/2025</a:t>
            </a:fld>
            <a:endParaRPr lang="en-US"/>
          </a:p>
        </p:txBody>
      </p:sp>
      <p:sp>
        <p:nvSpPr>
          <p:cNvPr id="6" name="Footer Placeholder 5">
            <a:extLst>
              <a:ext uri="{FF2B5EF4-FFF2-40B4-BE49-F238E27FC236}">
                <a16:creationId xmlns:a16="http://schemas.microsoft.com/office/drawing/2014/main" id="{4E4BCDAA-722B-42B1-AB5B-4104181CB2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24DEFB-4003-4080-A9E6-42AD178C9EF9}"/>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2515680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5A2CF-E225-4AA2-9996-E97E5DA064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5EB8C8-2BA5-4DF3-A3A3-873EAA04F9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4D1B52-B572-4655-9E7F-D7EA05728A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31BB40-94C9-4CB5-A0F8-6A46E661BEEE}"/>
              </a:ext>
            </a:extLst>
          </p:cNvPr>
          <p:cNvSpPr>
            <a:spLocks noGrp="1"/>
          </p:cNvSpPr>
          <p:nvPr>
            <p:ph type="dt" sz="half" idx="10"/>
          </p:nvPr>
        </p:nvSpPr>
        <p:spPr/>
        <p:txBody>
          <a:bodyPr/>
          <a:lstStyle/>
          <a:p>
            <a:fld id="{807B2B08-B017-4EEC-B17F-079F487C2A94}" type="datetimeFigureOut">
              <a:rPr lang="en-US" smtClean="0"/>
              <a:t>12/3/2025</a:t>
            </a:fld>
            <a:endParaRPr lang="en-US"/>
          </a:p>
        </p:txBody>
      </p:sp>
      <p:sp>
        <p:nvSpPr>
          <p:cNvPr id="6" name="Footer Placeholder 5">
            <a:extLst>
              <a:ext uri="{FF2B5EF4-FFF2-40B4-BE49-F238E27FC236}">
                <a16:creationId xmlns:a16="http://schemas.microsoft.com/office/drawing/2014/main" id="{CF83C2F9-22D4-46CF-B08D-134F301D03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C59A7B-D3AF-42CC-BAE5-CDA0DD8EE9E3}"/>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4173746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281F0-3D68-4BF4-B5AB-CFC8A80A33E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C818F2-79A6-4F9C-8E66-E20F9B5DF0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B9898E-CF68-4BA9-953F-8142C596F48B}"/>
              </a:ext>
            </a:extLst>
          </p:cNvPr>
          <p:cNvSpPr>
            <a:spLocks noGrp="1"/>
          </p:cNvSpPr>
          <p:nvPr>
            <p:ph type="dt" sz="half" idx="10"/>
          </p:nvPr>
        </p:nvSpPr>
        <p:spPr/>
        <p:txBody>
          <a:bodyPr/>
          <a:lstStyle/>
          <a:p>
            <a:fld id="{807B2B08-B017-4EEC-B17F-079F487C2A94}" type="datetimeFigureOut">
              <a:rPr lang="en-US" smtClean="0"/>
              <a:t>12/3/2025</a:t>
            </a:fld>
            <a:endParaRPr lang="en-US"/>
          </a:p>
        </p:txBody>
      </p:sp>
      <p:sp>
        <p:nvSpPr>
          <p:cNvPr id="5" name="Footer Placeholder 4">
            <a:extLst>
              <a:ext uri="{FF2B5EF4-FFF2-40B4-BE49-F238E27FC236}">
                <a16:creationId xmlns:a16="http://schemas.microsoft.com/office/drawing/2014/main" id="{DC90293A-8B19-473E-BCA1-11F92655FD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24F1BF-9DEB-49A9-A123-D6CD830287B0}"/>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2249364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5B366D-8EC1-428A-85D4-129DE2C092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9E9B1A-AB28-446F-BB0F-3C4EE0113F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451CD6-A1AE-4BB4-98F6-1EEA62944D0A}"/>
              </a:ext>
            </a:extLst>
          </p:cNvPr>
          <p:cNvSpPr>
            <a:spLocks noGrp="1"/>
          </p:cNvSpPr>
          <p:nvPr>
            <p:ph type="dt" sz="half" idx="10"/>
          </p:nvPr>
        </p:nvSpPr>
        <p:spPr/>
        <p:txBody>
          <a:bodyPr/>
          <a:lstStyle/>
          <a:p>
            <a:fld id="{807B2B08-B017-4EEC-B17F-079F487C2A94}" type="datetimeFigureOut">
              <a:rPr lang="en-US" smtClean="0"/>
              <a:t>12/3/2025</a:t>
            </a:fld>
            <a:endParaRPr lang="en-US"/>
          </a:p>
        </p:txBody>
      </p:sp>
      <p:sp>
        <p:nvSpPr>
          <p:cNvPr id="5" name="Footer Placeholder 4">
            <a:extLst>
              <a:ext uri="{FF2B5EF4-FFF2-40B4-BE49-F238E27FC236}">
                <a16:creationId xmlns:a16="http://schemas.microsoft.com/office/drawing/2014/main" id="{5ACB7E9E-4950-4891-8590-A9FC4063CF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CD1937-6B22-45E0-8722-8BCFDA6AD669}"/>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4225955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E6A79B-B1C2-4FC9-8C3A-F43EC7D4F5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3C36324-1315-477A-9FFD-ECA6522C7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BAE13F-AC62-445F-A16D-ED4215451F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7B2B08-B017-4EEC-B17F-079F487C2A94}" type="datetimeFigureOut">
              <a:rPr lang="en-US" smtClean="0"/>
              <a:t>12/3/2025</a:t>
            </a:fld>
            <a:endParaRPr lang="en-US"/>
          </a:p>
        </p:txBody>
      </p:sp>
      <p:sp>
        <p:nvSpPr>
          <p:cNvPr id="5" name="Footer Placeholder 4">
            <a:extLst>
              <a:ext uri="{FF2B5EF4-FFF2-40B4-BE49-F238E27FC236}">
                <a16:creationId xmlns:a16="http://schemas.microsoft.com/office/drawing/2014/main" id="{F84B1C2D-8020-42C2-998D-4313F62E31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EC0E827-9FF1-43A7-A9E2-B0C00B12F5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04CCB9-2627-4E8D-81FB-E1D3575DD0F9}" type="slidenum">
              <a:rPr lang="en-US" smtClean="0"/>
              <a:t>‹#›</a:t>
            </a:fld>
            <a:endParaRPr lang="en-US"/>
          </a:p>
        </p:txBody>
      </p:sp>
    </p:spTree>
    <p:extLst>
      <p:ext uri="{BB962C8B-B14F-4D97-AF65-F5344CB8AC3E}">
        <p14:creationId xmlns:p14="http://schemas.microsoft.com/office/powerpoint/2010/main" val="284325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4C456-2368-04EF-CB18-5B4BA1953C93}"/>
              </a:ext>
            </a:extLst>
          </p:cNvPr>
          <p:cNvSpPr>
            <a:spLocks noGrp="1"/>
          </p:cNvSpPr>
          <p:nvPr>
            <p:ph type="ctrTitle"/>
          </p:nvPr>
        </p:nvSpPr>
        <p:spPr>
          <a:xfrm>
            <a:off x="1079864" y="240060"/>
            <a:ext cx="9144000" cy="5786006"/>
          </a:xfrm>
        </p:spPr>
        <p:txBody>
          <a:bodyPr>
            <a:normAutofit/>
          </a:bodyPr>
          <a:lstStyle/>
          <a:p>
            <a:r>
              <a:rPr lang="en-US" b="1" dirty="0"/>
              <a:t>Special topics</a:t>
            </a:r>
            <a:br>
              <a:rPr lang="en-US" dirty="0"/>
            </a:br>
            <a:br>
              <a:rPr lang="en-US" dirty="0"/>
            </a:br>
            <a:r>
              <a:rPr lang="en-US" sz="3200" b="1" dirty="0"/>
              <a:t>Session 9</a:t>
            </a:r>
            <a:br>
              <a:rPr lang="en-US" sz="3200" b="1" dirty="0"/>
            </a:br>
            <a:br>
              <a:rPr lang="en-US" dirty="0"/>
            </a:br>
            <a:br>
              <a:rPr lang="en-US" dirty="0"/>
            </a:br>
            <a:br>
              <a:rPr lang="en-US" dirty="0"/>
            </a:br>
            <a:r>
              <a:rPr lang="en-US" sz="2000" dirty="0"/>
              <a:t>Al-Zahra university </a:t>
            </a:r>
            <a:br>
              <a:rPr lang="en-US" sz="2000" dirty="0"/>
            </a:br>
            <a:r>
              <a:rPr lang="en-US" sz="2000" dirty="0"/>
              <a:t>Maryam </a:t>
            </a:r>
            <a:r>
              <a:rPr lang="en-US" sz="2000" dirty="0" err="1"/>
              <a:t>zim</a:t>
            </a:r>
            <a:r>
              <a:rPr lang="en-US" sz="2000" dirty="0"/>
              <a:t> </a:t>
            </a:r>
          </a:p>
        </p:txBody>
      </p:sp>
      <p:sp>
        <p:nvSpPr>
          <p:cNvPr id="3" name="TextBox 2">
            <a:extLst>
              <a:ext uri="{FF2B5EF4-FFF2-40B4-BE49-F238E27FC236}">
                <a16:creationId xmlns:a16="http://schemas.microsoft.com/office/drawing/2014/main" id="{64A49644-702C-104B-A3C2-E81A66E02B10}"/>
              </a:ext>
            </a:extLst>
          </p:cNvPr>
          <p:cNvSpPr txBox="1"/>
          <p:nvPr/>
        </p:nvSpPr>
        <p:spPr>
          <a:xfrm>
            <a:off x="333555" y="6331012"/>
            <a:ext cx="2179608" cy="430887"/>
          </a:xfrm>
          <a:prstGeom prst="rect">
            <a:avLst/>
          </a:prstGeom>
          <a:noFill/>
        </p:spPr>
        <p:txBody>
          <a:bodyPr wrap="square" rtlCol="0">
            <a:spAutoFit/>
          </a:bodyPr>
          <a:lstStyle/>
          <a:p>
            <a:r>
              <a:rPr lang="en-US" sz="1100" dirty="0">
                <a:latin typeface="+mj-lt"/>
              </a:rPr>
              <a:t>@</a:t>
            </a:r>
            <a:r>
              <a:rPr lang="en-US" sz="1100" dirty="0" err="1">
                <a:latin typeface="+mj-lt"/>
              </a:rPr>
              <a:t>maryamzim</a:t>
            </a:r>
            <a:r>
              <a:rPr lang="en-US" sz="1100" dirty="0">
                <a:latin typeface="+mj-lt"/>
              </a:rPr>
              <a:t> </a:t>
            </a:r>
            <a:r>
              <a:rPr lang="en-US" sz="1100" dirty="0" err="1">
                <a:latin typeface="+mj-lt"/>
              </a:rPr>
              <a:t>maryamxiim@gmail.com</a:t>
            </a:r>
            <a:endParaRPr lang="en-US" sz="1100" dirty="0">
              <a:latin typeface="+mj-lt"/>
            </a:endParaRPr>
          </a:p>
        </p:txBody>
      </p:sp>
      <p:cxnSp>
        <p:nvCxnSpPr>
          <p:cNvPr id="5" name="Straight Connector 4">
            <a:extLst>
              <a:ext uri="{FF2B5EF4-FFF2-40B4-BE49-F238E27FC236}">
                <a16:creationId xmlns:a16="http://schemas.microsoft.com/office/drawing/2014/main" id="{9139A4A4-6725-59CF-7099-1F9127951243}"/>
              </a:ext>
            </a:extLst>
          </p:cNvPr>
          <p:cNvCxnSpPr>
            <a:cxnSpLocks/>
          </p:cNvCxnSpPr>
          <p:nvPr/>
        </p:nvCxnSpPr>
        <p:spPr>
          <a:xfrm>
            <a:off x="0" y="6239774"/>
            <a:ext cx="12192000" cy="0"/>
          </a:xfrm>
          <a:prstGeom prst="line">
            <a:avLst/>
          </a:prstGeom>
        </p:spPr>
        <p:style>
          <a:lnRef idx="1">
            <a:schemeClr val="dk1"/>
          </a:lnRef>
          <a:fillRef idx="0">
            <a:schemeClr val="dk1"/>
          </a:fillRef>
          <a:effectRef idx="0">
            <a:schemeClr val="dk1"/>
          </a:effectRef>
          <a:fontRef idx="minor">
            <a:schemeClr val="tx1"/>
          </a:fontRef>
        </p:style>
      </p:cxnSp>
      <p:pic>
        <p:nvPicPr>
          <p:cNvPr id="20482" name="Picture 2">
            <a:extLst>
              <a:ext uri="{FF2B5EF4-FFF2-40B4-BE49-F238E27FC236}">
                <a16:creationId xmlns:a16="http://schemas.microsoft.com/office/drawing/2014/main" id="{C0C7CD75-3CDC-8F39-FAB2-BC9933D5BC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580" y="6406516"/>
            <a:ext cx="139939" cy="139939"/>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a:extLst>
              <a:ext uri="{FF2B5EF4-FFF2-40B4-BE49-F238E27FC236}">
                <a16:creationId xmlns:a16="http://schemas.microsoft.com/office/drawing/2014/main" id="{897B446E-8E4A-1444-0B25-280230FC1E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536" y="6593099"/>
            <a:ext cx="138983" cy="99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6627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611358" y="576152"/>
            <a:ext cx="10615076" cy="1665199"/>
          </a:xfrm>
          <a:prstGeom prst="rect">
            <a:avLst/>
          </a:prstGeom>
          <a:noFill/>
        </p:spPr>
        <p:txBody>
          <a:bodyPr wrap="square" rtlCol="0">
            <a:spAutoFit/>
          </a:bodyPr>
          <a:lstStyle/>
          <a:p>
            <a:pPr>
              <a:lnSpc>
                <a:spcPct val="150000"/>
              </a:lnSpc>
            </a:pPr>
            <a:r>
              <a:rPr lang="en-US" b="1" dirty="0">
                <a:solidFill>
                  <a:srgbClr val="00B050"/>
                </a:solidFill>
              </a:rPr>
              <a:t>loops</a:t>
            </a:r>
            <a:r>
              <a:rPr lang="en-US" b="1" dirty="0">
                <a:solidFill>
                  <a:srgbClr val="92D050"/>
                </a:solidFill>
              </a:rPr>
              <a:t> :</a:t>
            </a:r>
          </a:p>
          <a:p>
            <a:pPr algn="l">
              <a:lnSpc>
                <a:spcPct val="150000"/>
              </a:lnSpc>
            </a:pPr>
            <a:r>
              <a:rPr lang="en-US" sz="1600" dirty="0">
                <a:latin typeface="+mj-lt"/>
              </a:rPr>
              <a:t>A </a:t>
            </a:r>
            <a:r>
              <a:rPr lang="en-US" sz="1600" b="1" dirty="0">
                <a:latin typeface="+mj-lt"/>
              </a:rPr>
              <a:t>loop</a:t>
            </a:r>
            <a:r>
              <a:rPr lang="en-US" sz="1600" dirty="0">
                <a:latin typeface="+mj-lt"/>
              </a:rPr>
              <a:t> in JavaScript is a programming structure that allows you to execute a block of code </a:t>
            </a:r>
            <a:r>
              <a:rPr lang="en-US" sz="1600" b="1" dirty="0">
                <a:latin typeface="+mj-lt"/>
              </a:rPr>
              <a:t>repeatedly</a:t>
            </a:r>
            <a:r>
              <a:rPr lang="en-US" sz="1600" dirty="0">
                <a:latin typeface="+mj-lt"/>
              </a:rPr>
              <a:t> based on a certain condition. </a:t>
            </a:r>
            <a:endParaRPr lang="en-US" dirty="0">
              <a:solidFill>
                <a:schemeClr val="tx1">
                  <a:lumMod val="65000"/>
                  <a:lumOff val="35000"/>
                </a:schemeClr>
              </a:solidFill>
              <a:latin typeface="+mj-lt"/>
            </a:endParaRPr>
          </a:p>
          <a:p>
            <a:pPr>
              <a:lnSpc>
                <a:spcPct val="150000"/>
              </a:lnSpc>
            </a:pPr>
            <a:endParaRPr lang="en-US" dirty="0">
              <a:solidFill>
                <a:schemeClr val="tx1">
                  <a:lumMod val="65000"/>
                  <a:lumOff val="35000"/>
                </a:schemeClr>
              </a:solidFill>
              <a:latin typeface="+mj-lt"/>
            </a:endParaRPr>
          </a:p>
        </p:txBody>
      </p:sp>
      <p:sp>
        <p:nvSpPr>
          <p:cNvPr id="2" name="AutoShape 4">
            <a:extLst>
              <a:ext uri="{FF2B5EF4-FFF2-40B4-BE49-F238E27FC236}">
                <a16:creationId xmlns:a16="http://schemas.microsoft.com/office/drawing/2014/main" id="{79E9D51A-3741-4F10-AA04-E53731288C6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6" name="Picture 2" descr="JavaScript For Loop – Explained with Examples">
            <a:extLst>
              <a:ext uri="{FF2B5EF4-FFF2-40B4-BE49-F238E27FC236}">
                <a16:creationId xmlns:a16="http://schemas.microsoft.com/office/drawing/2014/main" id="{98F7CF8C-073E-47E2-B57D-3CFE091889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0509" y="1735667"/>
            <a:ext cx="4546181" cy="45461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4836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26690" y="394488"/>
            <a:ext cx="10615076" cy="3054939"/>
          </a:xfrm>
          <a:prstGeom prst="rect">
            <a:avLst/>
          </a:prstGeom>
          <a:noFill/>
        </p:spPr>
        <p:txBody>
          <a:bodyPr wrap="square" rtlCol="0">
            <a:spAutoFit/>
          </a:bodyPr>
          <a:lstStyle/>
          <a:p>
            <a:pPr>
              <a:lnSpc>
                <a:spcPct val="150000"/>
              </a:lnSpc>
            </a:pPr>
            <a:r>
              <a:rPr lang="en-US" b="1" dirty="0">
                <a:solidFill>
                  <a:schemeClr val="accent4">
                    <a:lumMod val="75000"/>
                  </a:schemeClr>
                </a:solidFill>
              </a:rPr>
              <a:t>Common Types of Loops:</a:t>
            </a:r>
            <a:endParaRPr lang="en-US" sz="1600" b="1" dirty="0">
              <a:solidFill>
                <a:schemeClr val="accent4">
                  <a:lumMod val="75000"/>
                </a:schemeClr>
              </a:solidFill>
            </a:endParaRPr>
          </a:p>
          <a:p>
            <a:pPr>
              <a:lnSpc>
                <a:spcPct val="150000"/>
              </a:lnSpc>
            </a:pPr>
            <a:r>
              <a:rPr lang="en-US" sz="1600" dirty="0"/>
              <a:t>JavaScript provides several types of loops, each suited for different scenarios:</a:t>
            </a:r>
          </a:p>
          <a:p>
            <a:pPr>
              <a:lnSpc>
                <a:spcPct val="150000"/>
              </a:lnSpc>
            </a:pPr>
            <a:r>
              <a:rPr lang="en-US" sz="1600" dirty="0"/>
              <a:t>JavaScript has several types of loops for different purposes, which fall into three main categories:</a:t>
            </a:r>
          </a:p>
          <a:p>
            <a:pPr>
              <a:lnSpc>
                <a:spcPct val="150000"/>
              </a:lnSpc>
            </a:pPr>
            <a:r>
              <a:rPr lang="en-US" sz="1600" b="1" dirty="0">
                <a:solidFill>
                  <a:schemeClr val="accent2">
                    <a:lumMod val="75000"/>
                  </a:schemeClr>
                </a:solidFill>
              </a:rPr>
              <a:t>A. Standard Loops</a:t>
            </a:r>
          </a:p>
          <a:p>
            <a:pPr>
              <a:lnSpc>
                <a:spcPct val="150000"/>
              </a:lnSpc>
            </a:pPr>
            <a:r>
              <a:rPr lang="en-US" sz="1600" dirty="0">
                <a:latin typeface="+mj-lt"/>
              </a:rPr>
              <a:t>These loops work based on a counter and continue until a condition is true. Like for , while , </a:t>
            </a:r>
            <a:r>
              <a:rPr lang="en-US" sz="1600" dirty="0" err="1">
                <a:latin typeface="+mj-lt"/>
              </a:rPr>
              <a:t>do..while</a:t>
            </a:r>
            <a:endParaRPr lang="en-US" sz="1600" dirty="0">
              <a:latin typeface="+mj-lt"/>
            </a:endParaRPr>
          </a:p>
          <a:p>
            <a:pPr>
              <a:lnSpc>
                <a:spcPct val="150000"/>
              </a:lnSpc>
            </a:pPr>
            <a:r>
              <a:rPr lang="en-US" sz="1600" b="1" dirty="0">
                <a:solidFill>
                  <a:schemeClr val="accent2">
                    <a:lumMod val="75000"/>
                  </a:schemeClr>
                </a:solidFill>
              </a:rPr>
              <a:t>B. Iteration Loops</a:t>
            </a:r>
          </a:p>
          <a:p>
            <a:pPr>
              <a:lnSpc>
                <a:spcPct val="150000"/>
              </a:lnSpc>
            </a:pPr>
            <a:r>
              <a:rPr lang="en-US" sz="1600" dirty="0">
                <a:latin typeface="+mj-lt"/>
              </a:rPr>
              <a:t>These loops are more modern and efficient for iterating over data structures (such as arrays and objects).like for ... in , for … of.</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a:ln>
                  <a:noFill/>
                </a:ln>
                <a:effectLst/>
                <a:latin typeface="+mj-lt"/>
              </a:rPr>
              <a:t> </a:t>
            </a:r>
          </a:p>
        </p:txBody>
      </p:sp>
    </p:spTree>
    <p:extLst>
      <p:ext uri="{BB962C8B-B14F-4D97-AF65-F5344CB8AC3E}">
        <p14:creationId xmlns:p14="http://schemas.microsoft.com/office/powerpoint/2010/main" val="892937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26690" y="394488"/>
            <a:ext cx="10615076" cy="3054939"/>
          </a:xfrm>
          <a:prstGeom prst="rect">
            <a:avLst/>
          </a:prstGeom>
          <a:noFill/>
        </p:spPr>
        <p:txBody>
          <a:bodyPr wrap="square" rtlCol="0">
            <a:spAutoFit/>
          </a:bodyPr>
          <a:lstStyle/>
          <a:p>
            <a:pPr>
              <a:lnSpc>
                <a:spcPct val="150000"/>
              </a:lnSpc>
            </a:pPr>
            <a:r>
              <a:rPr lang="en-US" b="1" dirty="0">
                <a:solidFill>
                  <a:schemeClr val="accent4">
                    <a:lumMod val="75000"/>
                  </a:schemeClr>
                </a:solidFill>
              </a:rPr>
              <a:t>Common Types of Loops:</a:t>
            </a:r>
            <a:endParaRPr lang="en-US" sz="1600" b="1" dirty="0">
              <a:solidFill>
                <a:schemeClr val="accent4">
                  <a:lumMod val="75000"/>
                </a:schemeClr>
              </a:solidFill>
            </a:endParaRPr>
          </a:p>
          <a:p>
            <a:pPr>
              <a:lnSpc>
                <a:spcPct val="150000"/>
              </a:lnSpc>
            </a:pPr>
            <a:r>
              <a:rPr lang="en-US" sz="1600" b="1" dirty="0">
                <a:solidFill>
                  <a:schemeClr val="accent4">
                    <a:lumMod val="75000"/>
                  </a:schemeClr>
                </a:solidFill>
              </a:rPr>
              <a:t>1. for:</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a:ln>
                  <a:noFill/>
                </a:ln>
                <a:effectLst/>
                <a:latin typeface="+mj-lt"/>
              </a:rPr>
              <a:t>The for loop is the most common type and is best used when you know </a:t>
            </a:r>
            <a:r>
              <a:rPr kumimoji="0" lang="en-US" altLang="en-US" sz="1600" b="1" i="0" u="none" strike="noStrike" cap="none" normalizeH="0" baseline="0" dirty="0">
                <a:ln>
                  <a:noFill/>
                </a:ln>
                <a:effectLst/>
                <a:latin typeface="+mj-lt"/>
              </a:rPr>
              <a:t>exactly how many times</a:t>
            </a:r>
            <a:r>
              <a:rPr kumimoji="0" lang="en-US" altLang="en-US" sz="1600" b="0" i="0" u="none" strike="noStrike" cap="none" normalizeH="0" baseline="0" dirty="0">
                <a:ln>
                  <a:noFill/>
                </a:ln>
                <a:effectLst/>
                <a:latin typeface="+mj-lt"/>
              </a:rPr>
              <a:t> you want the loop to run.</a:t>
            </a:r>
          </a:p>
          <a:p>
            <a:pPr algn="l">
              <a:lnSpc>
                <a:spcPct val="150000"/>
              </a:lnSpc>
            </a:pPr>
            <a:r>
              <a:rPr lang="en-US" sz="1600" b="0" i="0" dirty="0">
                <a:effectLst/>
                <a:latin typeface="+mj-lt"/>
              </a:rPr>
              <a:t>It has three parts inside the parentheses, separated by semicolons:</a:t>
            </a:r>
          </a:p>
          <a:p>
            <a:pPr algn="l">
              <a:lnSpc>
                <a:spcPct val="150000"/>
              </a:lnSpc>
            </a:pPr>
            <a:r>
              <a:rPr lang="en-US" sz="1600" b="1" i="0" dirty="0">
                <a:effectLst/>
                <a:latin typeface="+mj-lt"/>
              </a:rPr>
              <a:t>1. Initialization: </a:t>
            </a:r>
            <a:r>
              <a:rPr lang="en-US" sz="1600" b="0" i="0" dirty="0">
                <a:effectLst/>
                <a:latin typeface="+mj-lt"/>
              </a:rPr>
              <a:t>Executed once before the loop starts (e.g., let </a:t>
            </a:r>
            <a:r>
              <a:rPr lang="en-US" sz="1600" b="0" i="0" dirty="0" err="1">
                <a:effectLst/>
                <a:latin typeface="+mj-lt"/>
              </a:rPr>
              <a:t>i</a:t>
            </a:r>
            <a:r>
              <a:rPr lang="en-US" sz="1600" b="0" i="0" dirty="0">
                <a:effectLst/>
                <a:latin typeface="+mj-lt"/>
              </a:rPr>
              <a:t> = 0).</a:t>
            </a:r>
          </a:p>
          <a:p>
            <a:pPr algn="l">
              <a:lnSpc>
                <a:spcPct val="150000"/>
              </a:lnSpc>
            </a:pPr>
            <a:r>
              <a:rPr lang="en-US" sz="1600" b="1" i="0" dirty="0">
                <a:effectLst/>
                <a:latin typeface="+mj-lt"/>
              </a:rPr>
              <a:t>2. Condition: </a:t>
            </a:r>
            <a:r>
              <a:rPr lang="en-US" sz="1600" b="0" i="0" dirty="0">
                <a:effectLst/>
                <a:latin typeface="+mj-lt"/>
              </a:rPr>
              <a:t>Checked before each iteration. If it's true, the loop continues; if false, the loop stops (e.g., </a:t>
            </a:r>
            <a:r>
              <a:rPr lang="en-US" sz="1600" b="0" i="0" dirty="0" err="1">
                <a:effectLst/>
                <a:latin typeface="+mj-lt"/>
              </a:rPr>
              <a:t>i</a:t>
            </a:r>
            <a:r>
              <a:rPr lang="en-US" sz="1600" b="0" i="0" dirty="0">
                <a:effectLst/>
                <a:latin typeface="+mj-lt"/>
              </a:rPr>
              <a:t> &lt; 5).</a:t>
            </a:r>
          </a:p>
          <a:p>
            <a:pPr algn="l">
              <a:lnSpc>
                <a:spcPct val="150000"/>
              </a:lnSpc>
            </a:pPr>
            <a:r>
              <a:rPr lang="en-US" sz="1600" b="1" i="0" dirty="0">
                <a:effectLst/>
                <a:latin typeface="+mj-lt"/>
              </a:rPr>
              <a:t>3. Increment/Decrement: </a:t>
            </a:r>
            <a:r>
              <a:rPr lang="en-US" sz="1600" b="0" i="0" dirty="0">
                <a:effectLst/>
                <a:latin typeface="+mj-lt"/>
              </a:rPr>
              <a:t>Executed after each iteration (e.g., </a:t>
            </a:r>
            <a:r>
              <a:rPr lang="en-US" sz="1600" b="0" i="0" dirty="0" err="1">
                <a:effectLst/>
                <a:latin typeface="+mj-lt"/>
              </a:rPr>
              <a:t>i</a:t>
            </a:r>
            <a:r>
              <a:rPr lang="en-US" sz="1600" b="0" i="0" dirty="0">
                <a:effectLst/>
                <a:latin typeface="+mj-lt"/>
              </a:rPr>
              <a:t>++).</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a:ln>
                  <a:noFill/>
                </a:ln>
                <a:effectLst/>
                <a:latin typeface="+mj-lt"/>
              </a:rPr>
              <a:t> </a:t>
            </a:r>
          </a:p>
        </p:txBody>
      </p:sp>
      <p:pic>
        <p:nvPicPr>
          <p:cNvPr id="8" name="Picture 7">
            <a:extLst>
              <a:ext uri="{FF2B5EF4-FFF2-40B4-BE49-F238E27FC236}">
                <a16:creationId xmlns:a16="http://schemas.microsoft.com/office/drawing/2014/main" id="{90E9B83E-8DC8-4BF2-94C7-F5E23F3119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7565" y="3449427"/>
            <a:ext cx="7173326" cy="2960494"/>
          </a:xfrm>
          <a:prstGeom prst="rect">
            <a:avLst/>
          </a:prstGeom>
        </p:spPr>
      </p:pic>
    </p:spTree>
    <p:extLst>
      <p:ext uri="{BB962C8B-B14F-4D97-AF65-F5344CB8AC3E}">
        <p14:creationId xmlns:p14="http://schemas.microsoft.com/office/powerpoint/2010/main" val="1873261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26690" y="394488"/>
            <a:ext cx="10615076" cy="1577611"/>
          </a:xfrm>
          <a:prstGeom prst="rect">
            <a:avLst/>
          </a:prstGeom>
          <a:noFill/>
        </p:spPr>
        <p:txBody>
          <a:bodyPr wrap="square" rtlCol="0">
            <a:spAutoFit/>
          </a:bodyPr>
          <a:lstStyle/>
          <a:p>
            <a:pPr>
              <a:lnSpc>
                <a:spcPct val="150000"/>
              </a:lnSpc>
            </a:pPr>
            <a:r>
              <a:rPr lang="en-US" b="1" dirty="0">
                <a:solidFill>
                  <a:schemeClr val="accent4">
                    <a:lumMod val="75000"/>
                  </a:schemeClr>
                </a:solidFill>
              </a:rPr>
              <a:t>Common Types of Loops:</a:t>
            </a:r>
            <a:endParaRPr lang="en-US" sz="1600" b="1" dirty="0">
              <a:solidFill>
                <a:schemeClr val="accent4">
                  <a:lumMod val="75000"/>
                </a:schemeClr>
              </a:solidFill>
            </a:endParaRPr>
          </a:p>
          <a:p>
            <a:pPr>
              <a:lnSpc>
                <a:spcPct val="150000"/>
              </a:lnSpc>
            </a:pPr>
            <a:r>
              <a:rPr lang="en-US" sz="1600" b="1" dirty="0">
                <a:solidFill>
                  <a:schemeClr val="accent4">
                    <a:lumMod val="75000"/>
                  </a:schemeClr>
                </a:solidFill>
              </a:rPr>
              <a:t>2. while:</a:t>
            </a:r>
          </a:p>
          <a:p>
            <a:pPr marL="0" marR="0" lvl="0" indent="0" algn="l" defTabSz="914400" rtl="0" eaLnBrk="0" fontAlgn="base" latinLnBrk="0" hangingPunct="0">
              <a:lnSpc>
                <a:spcPct val="150000"/>
              </a:lnSpc>
              <a:spcBef>
                <a:spcPct val="0"/>
              </a:spcBef>
              <a:spcAft>
                <a:spcPct val="0"/>
              </a:spcAft>
              <a:buClrTx/>
              <a:buSzTx/>
              <a:buFontTx/>
              <a:buNone/>
              <a:tabLst/>
            </a:pPr>
            <a:r>
              <a:rPr lang="en-US" sz="1600" b="0" i="0" dirty="0">
                <a:effectLst/>
                <a:latin typeface="+mj-lt"/>
              </a:rPr>
              <a:t>The while loop executes a block of code </a:t>
            </a:r>
            <a:r>
              <a:rPr lang="en-US" sz="1600" b="1" i="0" dirty="0">
                <a:effectLst/>
                <a:latin typeface="+mj-lt"/>
              </a:rPr>
              <a:t>as long as</a:t>
            </a:r>
            <a:r>
              <a:rPr lang="en-US" sz="1600" b="0" i="0" dirty="0">
                <a:effectLst/>
                <a:latin typeface="+mj-lt"/>
              </a:rPr>
              <a:t> a specified condition evaluates to true. This is ideal when the number of iterations is </a:t>
            </a:r>
            <a:r>
              <a:rPr lang="en-US" sz="1600" b="1" i="0" dirty="0">
                <a:effectLst/>
                <a:latin typeface="+mj-lt"/>
              </a:rPr>
              <a:t>not known</a:t>
            </a:r>
            <a:r>
              <a:rPr lang="en-US" sz="1600" b="0" i="0" dirty="0">
                <a:effectLst/>
                <a:latin typeface="+mj-lt"/>
              </a:rPr>
              <a:t> beforehand, and the loop depends on a dynamic condition.</a:t>
            </a:r>
            <a:r>
              <a:rPr kumimoji="0" lang="en-US" altLang="en-US" sz="1600" b="0" i="0" u="none" strike="noStrike" cap="none" normalizeH="0" baseline="0" dirty="0">
                <a:ln>
                  <a:noFill/>
                </a:ln>
                <a:effectLst/>
                <a:latin typeface="+mj-lt"/>
              </a:rPr>
              <a:t> </a:t>
            </a:r>
          </a:p>
        </p:txBody>
      </p:sp>
      <p:pic>
        <p:nvPicPr>
          <p:cNvPr id="3" name="Picture 2">
            <a:extLst>
              <a:ext uri="{FF2B5EF4-FFF2-40B4-BE49-F238E27FC236}">
                <a16:creationId xmlns:a16="http://schemas.microsoft.com/office/drawing/2014/main" id="{BFBD4157-3AEA-4F71-BAA0-4FF6BB5053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6038" y="2457765"/>
            <a:ext cx="7916380" cy="3077004"/>
          </a:xfrm>
          <a:prstGeom prst="rect">
            <a:avLst/>
          </a:prstGeom>
        </p:spPr>
      </p:pic>
    </p:spTree>
    <p:extLst>
      <p:ext uri="{BB962C8B-B14F-4D97-AF65-F5344CB8AC3E}">
        <p14:creationId xmlns:p14="http://schemas.microsoft.com/office/powerpoint/2010/main" val="1475660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26690" y="394488"/>
            <a:ext cx="10615076" cy="1208279"/>
          </a:xfrm>
          <a:prstGeom prst="rect">
            <a:avLst/>
          </a:prstGeom>
          <a:noFill/>
        </p:spPr>
        <p:txBody>
          <a:bodyPr wrap="square" rtlCol="0">
            <a:spAutoFit/>
          </a:bodyPr>
          <a:lstStyle/>
          <a:p>
            <a:pPr>
              <a:lnSpc>
                <a:spcPct val="150000"/>
              </a:lnSpc>
            </a:pPr>
            <a:r>
              <a:rPr lang="en-US" b="1" dirty="0">
                <a:solidFill>
                  <a:schemeClr val="accent4">
                    <a:lumMod val="75000"/>
                  </a:schemeClr>
                </a:solidFill>
              </a:rPr>
              <a:t>Common Types of Loops:</a:t>
            </a:r>
            <a:endParaRPr lang="en-US" sz="1600" b="1" dirty="0">
              <a:solidFill>
                <a:schemeClr val="accent4">
                  <a:lumMod val="75000"/>
                </a:schemeClr>
              </a:solidFill>
            </a:endParaRPr>
          </a:p>
          <a:p>
            <a:pPr>
              <a:lnSpc>
                <a:spcPct val="150000"/>
              </a:lnSpc>
            </a:pPr>
            <a:r>
              <a:rPr lang="en-US" sz="1600" b="1" dirty="0">
                <a:solidFill>
                  <a:schemeClr val="accent4">
                    <a:lumMod val="75000"/>
                  </a:schemeClr>
                </a:solidFill>
              </a:rPr>
              <a:t>3. do...while:</a:t>
            </a:r>
          </a:p>
          <a:p>
            <a:pPr>
              <a:lnSpc>
                <a:spcPct val="150000"/>
              </a:lnSpc>
            </a:pPr>
            <a:r>
              <a:rPr lang="en-US" sz="1600" b="0" i="0" dirty="0">
                <a:effectLst/>
                <a:latin typeface="+mj-lt"/>
              </a:rPr>
              <a:t>The do...while loop is similar to the while loop, but the code block is executed </a:t>
            </a:r>
            <a:r>
              <a:rPr lang="en-US" sz="1600" b="1" i="0" dirty="0">
                <a:effectLst/>
                <a:latin typeface="+mj-lt"/>
              </a:rPr>
              <a:t>at least once</a:t>
            </a:r>
            <a:r>
              <a:rPr lang="en-US" sz="1600" b="0" i="0" dirty="0">
                <a:effectLst/>
                <a:latin typeface="+mj-lt"/>
              </a:rPr>
              <a:t> before the condition is checked.</a:t>
            </a:r>
            <a:endParaRPr lang="en-US" sz="1600" b="1" dirty="0">
              <a:latin typeface="+mj-lt"/>
            </a:endParaRPr>
          </a:p>
        </p:txBody>
      </p:sp>
      <p:pic>
        <p:nvPicPr>
          <p:cNvPr id="6" name="Picture 5">
            <a:extLst>
              <a:ext uri="{FF2B5EF4-FFF2-40B4-BE49-F238E27FC236}">
                <a16:creationId xmlns:a16="http://schemas.microsoft.com/office/drawing/2014/main" id="{1E3FC809-0425-4184-BC1B-A82B16F0BF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4994" y="2395361"/>
            <a:ext cx="7602011" cy="3395839"/>
          </a:xfrm>
          <a:prstGeom prst="rect">
            <a:avLst/>
          </a:prstGeom>
        </p:spPr>
      </p:pic>
    </p:spTree>
    <p:extLst>
      <p:ext uri="{BB962C8B-B14F-4D97-AF65-F5344CB8AC3E}">
        <p14:creationId xmlns:p14="http://schemas.microsoft.com/office/powerpoint/2010/main" val="988976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26690" y="191288"/>
            <a:ext cx="10615076" cy="7117589"/>
          </a:xfrm>
          <a:prstGeom prst="rect">
            <a:avLst/>
          </a:prstGeom>
          <a:noFill/>
        </p:spPr>
        <p:txBody>
          <a:bodyPr wrap="square" rtlCol="0">
            <a:spAutoFit/>
          </a:bodyPr>
          <a:lstStyle/>
          <a:p>
            <a:pPr>
              <a:lnSpc>
                <a:spcPct val="150000"/>
              </a:lnSpc>
            </a:pPr>
            <a:r>
              <a:rPr lang="en-US" b="1" i="0" dirty="0">
                <a:solidFill>
                  <a:srgbClr val="00B0F0"/>
                </a:solidFill>
                <a:effectLst/>
              </a:rPr>
              <a:t>Loop flow control </a:t>
            </a:r>
            <a:r>
              <a:rPr lang="en-US" b="1" dirty="0">
                <a:solidFill>
                  <a:schemeClr val="accent4">
                    <a:lumMod val="75000"/>
                  </a:schemeClr>
                </a:solidFill>
              </a:rPr>
              <a:t>:</a:t>
            </a:r>
            <a:endParaRPr lang="en-US" sz="1600" b="1" dirty="0">
              <a:solidFill>
                <a:schemeClr val="accent4">
                  <a:lumMod val="75000"/>
                </a:schemeClr>
              </a:solidFill>
            </a:endParaRPr>
          </a:p>
          <a:p>
            <a:pPr>
              <a:lnSpc>
                <a:spcPct val="150000"/>
              </a:lnSpc>
            </a:pPr>
            <a:r>
              <a:rPr lang="en-US" sz="1600" dirty="0">
                <a:latin typeface="+mj-lt"/>
              </a:rPr>
              <a:t>Loop flow control in JavaScript refers to the statements you use </a:t>
            </a:r>
            <a:r>
              <a:rPr lang="en-US" sz="1600" b="1" dirty="0">
                <a:latin typeface="+mj-lt"/>
              </a:rPr>
              <a:t>inside</a:t>
            </a:r>
            <a:r>
              <a:rPr lang="en-US" sz="1600" dirty="0">
                <a:latin typeface="+mj-lt"/>
              </a:rPr>
              <a:t> a loop to alter its normal, sequential execution. Instead of letting the loop run naturally until its condition is false, you can use specific keywords to skip an iteration or exit the loop entirely.</a:t>
            </a:r>
          </a:p>
          <a:p>
            <a:pPr>
              <a:lnSpc>
                <a:spcPct val="150000"/>
              </a:lnSpc>
            </a:pPr>
            <a:r>
              <a:rPr lang="en-US" sz="1600" b="1" dirty="0">
                <a:solidFill>
                  <a:srgbClr val="00B0F0"/>
                </a:solidFill>
              </a:rPr>
              <a:t>1. Break : </a:t>
            </a:r>
          </a:p>
          <a:p>
            <a:pPr>
              <a:lnSpc>
                <a:spcPct val="150000"/>
              </a:lnSpc>
            </a:pPr>
            <a:r>
              <a:rPr lang="en-US" sz="1600" b="0" i="0" dirty="0">
                <a:solidFill>
                  <a:schemeClr val="bg2">
                    <a:lumMod val="10000"/>
                  </a:schemeClr>
                </a:solidFill>
                <a:effectLst/>
                <a:latin typeface="+mj-lt"/>
              </a:rPr>
              <a:t>The break statement is used to </a:t>
            </a:r>
            <a:r>
              <a:rPr lang="en-US" sz="1600" b="1" i="0" dirty="0">
                <a:solidFill>
                  <a:schemeClr val="bg2">
                    <a:lumMod val="10000"/>
                  </a:schemeClr>
                </a:solidFill>
                <a:effectLst/>
                <a:latin typeface="+mj-lt"/>
              </a:rPr>
              <a:t>immediately exit</a:t>
            </a:r>
            <a:r>
              <a:rPr lang="en-US" sz="1600" b="0" i="0" dirty="0">
                <a:solidFill>
                  <a:schemeClr val="bg2">
                    <a:lumMod val="10000"/>
                  </a:schemeClr>
                </a:solidFill>
                <a:effectLst/>
                <a:latin typeface="+mj-lt"/>
              </a:rPr>
              <a:t> a loop structure (such as for, while, do...while, or switch). Once break is encountered, the loop terminates, and program execution continues with the code immediately following the loop.</a:t>
            </a:r>
          </a:p>
          <a:p>
            <a:pPr>
              <a:lnSpc>
                <a:spcPct val="150000"/>
              </a:lnSpc>
            </a:pPr>
            <a:r>
              <a:rPr lang="en-US" sz="1600" b="1" dirty="0">
                <a:solidFill>
                  <a:srgbClr val="00B0F0"/>
                </a:solidFill>
                <a:latin typeface="+mj-lt"/>
              </a:rPr>
              <a:t>When to Use It:</a:t>
            </a:r>
          </a:p>
          <a:p>
            <a:pPr marL="285750" indent="-285750">
              <a:lnSpc>
                <a:spcPct val="150000"/>
              </a:lnSpc>
              <a:buFont typeface="Arial" panose="020B0604020202020204" pitchFamily="34" charset="0"/>
              <a:buChar char="•"/>
            </a:pPr>
            <a:r>
              <a:rPr lang="en-US" sz="1600" dirty="0">
                <a:latin typeface="+mj-lt"/>
              </a:rPr>
              <a:t>When you have </a:t>
            </a:r>
            <a:r>
              <a:rPr lang="en-US" sz="1600" b="1" dirty="0">
                <a:latin typeface="+mj-lt"/>
              </a:rPr>
              <a:t>found the item you were searching for</a:t>
            </a:r>
            <a:r>
              <a:rPr lang="en-US" sz="1600" dirty="0">
                <a:latin typeface="+mj-lt"/>
              </a:rPr>
              <a:t> and don't need to check the remaining items.</a:t>
            </a:r>
          </a:p>
          <a:p>
            <a:pPr marL="285750" indent="-285750">
              <a:lnSpc>
                <a:spcPct val="150000"/>
              </a:lnSpc>
              <a:buFont typeface="Arial" panose="020B0604020202020204" pitchFamily="34" charset="0"/>
              <a:buChar char="•"/>
            </a:pPr>
            <a:r>
              <a:rPr lang="en-US" sz="1600" dirty="0">
                <a:latin typeface="+mj-lt"/>
              </a:rPr>
              <a:t>When a </a:t>
            </a:r>
            <a:r>
              <a:rPr lang="en-US" sz="1600" b="1" dirty="0">
                <a:latin typeface="+mj-lt"/>
              </a:rPr>
              <a:t>critical error or condition</a:t>
            </a:r>
            <a:r>
              <a:rPr lang="en-US" sz="1600" dirty="0">
                <a:latin typeface="+mj-lt"/>
              </a:rPr>
              <a:t> occurs that makes further iteration pointless or dangerous.</a:t>
            </a:r>
          </a:p>
          <a:p>
            <a:pPr algn="l">
              <a:lnSpc>
                <a:spcPct val="150000"/>
              </a:lnSpc>
            </a:pPr>
            <a:r>
              <a:rPr lang="en-US" sz="1600" b="1" dirty="0">
                <a:solidFill>
                  <a:srgbClr val="00B0F0"/>
                </a:solidFill>
              </a:rPr>
              <a:t>2.</a:t>
            </a:r>
            <a:r>
              <a:rPr lang="en-US" sz="1600" b="1" i="0" dirty="0">
                <a:solidFill>
                  <a:srgbClr val="00B0F0"/>
                </a:solidFill>
                <a:effectLst/>
              </a:rPr>
              <a:t>  continue:</a:t>
            </a:r>
          </a:p>
          <a:p>
            <a:pPr algn="l">
              <a:lnSpc>
                <a:spcPct val="150000"/>
              </a:lnSpc>
            </a:pPr>
            <a:r>
              <a:rPr lang="en-US" sz="1600" b="0" i="0" dirty="0">
                <a:effectLst/>
                <a:latin typeface="+mj-lt"/>
              </a:rPr>
              <a:t>he continue statement is used to skip the current iteration of a loop and immediately jump to the next iteration. When continue is executed, the remaining code within the current loop block is skipped, the loop condition is re-evaluated, and the loop proceeds normally.</a:t>
            </a:r>
          </a:p>
          <a:p>
            <a:pPr algn="l">
              <a:lnSpc>
                <a:spcPct val="150000"/>
              </a:lnSpc>
            </a:pPr>
            <a:r>
              <a:rPr lang="en-US" sz="1600" b="0" i="0" dirty="0">
                <a:solidFill>
                  <a:srgbClr val="00B0F0"/>
                </a:solidFill>
                <a:effectLst/>
              </a:rPr>
              <a:t>When to Use It:</a:t>
            </a:r>
          </a:p>
          <a:p>
            <a:pPr marL="285750" indent="-285750" algn="l">
              <a:lnSpc>
                <a:spcPct val="150000"/>
              </a:lnSpc>
              <a:buFont typeface="Arial" panose="020B0604020202020204" pitchFamily="34" charset="0"/>
              <a:buChar char="•"/>
            </a:pPr>
            <a:r>
              <a:rPr lang="en-US" sz="1600" b="0" i="0" dirty="0">
                <a:effectLst/>
                <a:latin typeface="+mj-lt"/>
              </a:rPr>
              <a:t>When you want to filter out certain elements or conditions within a sequence without stopping the entire process.</a:t>
            </a:r>
          </a:p>
          <a:p>
            <a:pPr marL="285750" indent="-285750" algn="l">
              <a:lnSpc>
                <a:spcPct val="150000"/>
              </a:lnSpc>
              <a:buFont typeface="Arial" panose="020B0604020202020204" pitchFamily="34" charset="0"/>
              <a:buChar char="•"/>
            </a:pPr>
            <a:r>
              <a:rPr lang="en-US" sz="1600" b="0" i="0" dirty="0">
                <a:effectLst/>
                <a:latin typeface="+mj-lt"/>
              </a:rPr>
              <a:t>When processing a particular element would cause an error, but you want to safely move on to the next one.</a:t>
            </a:r>
          </a:p>
          <a:p>
            <a:pPr>
              <a:lnSpc>
                <a:spcPct val="150000"/>
              </a:lnSpc>
            </a:pPr>
            <a:endParaRPr lang="en-US" sz="1600" dirty="0">
              <a:latin typeface="+mj-lt"/>
            </a:endParaRPr>
          </a:p>
          <a:p>
            <a:pPr>
              <a:lnSpc>
                <a:spcPct val="150000"/>
              </a:lnSpc>
            </a:pPr>
            <a:endParaRPr lang="en-US" sz="1600" b="1" dirty="0">
              <a:solidFill>
                <a:schemeClr val="bg2">
                  <a:lumMod val="10000"/>
                </a:schemeClr>
              </a:solidFill>
              <a:latin typeface="+mj-lt"/>
            </a:endParaRPr>
          </a:p>
        </p:txBody>
      </p:sp>
    </p:spTree>
    <p:extLst>
      <p:ext uri="{BB962C8B-B14F-4D97-AF65-F5344CB8AC3E}">
        <p14:creationId xmlns:p14="http://schemas.microsoft.com/office/powerpoint/2010/main" val="1594545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9914B66-D33A-49CE-8749-B4E038C6D8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8961" y="703924"/>
            <a:ext cx="8145012" cy="5687219"/>
          </a:xfrm>
          <a:prstGeom prst="rect">
            <a:avLst/>
          </a:prstGeom>
        </p:spPr>
      </p:pic>
      <p:sp>
        <p:nvSpPr>
          <p:cNvPr id="8" name="TextBox 7">
            <a:extLst>
              <a:ext uri="{FF2B5EF4-FFF2-40B4-BE49-F238E27FC236}">
                <a16:creationId xmlns:a16="http://schemas.microsoft.com/office/drawing/2014/main" id="{35942F38-6BED-46AE-9F05-5FC351452000}"/>
              </a:ext>
            </a:extLst>
          </p:cNvPr>
          <p:cNvSpPr txBox="1"/>
          <p:nvPr/>
        </p:nvSpPr>
        <p:spPr>
          <a:xfrm>
            <a:off x="448734" y="158221"/>
            <a:ext cx="6096000" cy="464871"/>
          </a:xfrm>
          <a:prstGeom prst="rect">
            <a:avLst/>
          </a:prstGeom>
          <a:noFill/>
        </p:spPr>
        <p:txBody>
          <a:bodyPr wrap="square">
            <a:spAutoFit/>
          </a:bodyPr>
          <a:lstStyle/>
          <a:p>
            <a:pPr>
              <a:lnSpc>
                <a:spcPct val="150000"/>
              </a:lnSpc>
            </a:pPr>
            <a:r>
              <a:rPr lang="en-US" sz="1800" b="1" dirty="0">
                <a:solidFill>
                  <a:srgbClr val="00B0F0"/>
                </a:solidFill>
              </a:rPr>
              <a:t>1. Break : </a:t>
            </a:r>
          </a:p>
        </p:txBody>
      </p:sp>
    </p:spTree>
    <p:extLst>
      <p:ext uri="{BB962C8B-B14F-4D97-AF65-F5344CB8AC3E}">
        <p14:creationId xmlns:p14="http://schemas.microsoft.com/office/powerpoint/2010/main" val="1071243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2B6610-76F9-455E-98A1-4E5572F835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9178" y="528232"/>
            <a:ext cx="8373644" cy="5801535"/>
          </a:xfrm>
          <a:prstGeom prst="rect">
            <a:avLst/>
          </a:prstGeom>
        </p:spPr>
      </p:pic>
      <p:sp>
        <p:nvSpPr>
          <p:cNvPr id="6" name="TextBox 5">
            <a:extLst>
              <a:ext uri="{FF2B5EF4-FFF2-40B4-BE49-F238E27FC236}">
                <a16:creationId xmlns:a16="http://schemas.microsoft.com/office/drawing/2014/main" id="{82EA6D2E-25CA-4A9A-9DAA-56F2F0DA6D2E}"/>
              </a:ext>
            </a:extLst>
          </p:cNvPr>
          <p:cNvSpPr txBox="1"/>
          <p:nvPr/>
        </p:nvSpPr>
        <p:spPr>
          <a:xfrm>
            <a:off x="372533" y="63361"/>
            <a:ext cx="6096000" cy="464871"/>
          </a:xfrm>
          <a:prstGeom prst="rect">
            <a:avLst/>
          </a:prstGeom>
          <a:noFill/>
        </p:spPr>
        <p:txBody>
          <a:bodyPr wrap="square">
            <a:spAutoFit/>
          </a:bodyPr>
          <a:lstStyle/>
          <a:p>
            <a:pPr algn="l">
              <a:lnSpc>
                <a:spcPct val="150000"/>
              </a:lnSpc>
            </a:pPr>
            <a:r>
              <a:rPr lang="en-US" sz="1800" b="1" dirty="0">
                <a:solidFill>
                  <a:srgbClr val="00B0F0"/>
                </a:solidFill>
              </a:rPr>
              <a:t>2.</a:t>
            </a:r>
            <a:r>
              <a:rPr lang="en-US" sz="1800" b="1" i="0" dirty="0">
                <a:solidFill>
                  <a:srgbClr val="00B0F0"/>
                </a:solidFill>
                <a:effectLst/>
              </a:rPr>
              <a:t>  continue:</a:t>
            </a:r>
          </a:p>
        </p:txBody>
      </p:sp>
    </p:spTree>
    <p:extLst>
      <p:ext uri="{BB962C8B-B14F-4D97-AF65-F5344CB8AC3E}">
        <p14:creationId xmlns:p14="http://schemas.microsoft.com/office/powerpoint/2010/main" val="2161588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26690" y="191288"/>
            <a:ext cx="10615076" cy="5640262"/>
          </a:xfrm>
          <a:prstGeom prst="rect">
            <a:avLst/>
          </a:prstGeom>
          <a:noFill/>
        </p:spPr>
        <p:txBody>
          <a:bodyPr wrap="square" rtlCol="0">
            <a:spAutoFit/>
          </a:bodyPr>
          <a:lstStyle/>
          <a:p>
            <a:pPr>
              <a:lnSpc>
                <a:spcPct val="150000"/>
              </a:lnSpc>
            </a:pPr>
            <a:r>
              <a:rPr lang="en-US" b="1" i="0" dirty="0">
                <a:solidFill>
                  <a:srgbClr val="C00000"/>
                </a:solidFill>
                <a:effectLst/>
              </a:rPr>
              <a:t>Array:</a:t>
            </a:r>
            <a:endParaRPr lang="en-US" sz="1600" b="1" dirty="0">
              <a:solidFill>
                <a:srgbClr val="C00000"/>
              </a:solidFill>
            </a:endParaRPr>
          </a:p>
          <a:p>
            <a:pPr>
              <a:lnSpc>
                <a:spcPct val="150000"/>
              </a:lnSpc>
            </a:pPr>
            <a:r>
              <a:rPr lang="en-US" sz="1600" dirty="0">
                <a:latin typeface="+mj-lt"/>
              </a:rPr>
              <a:t>An </a:t>
            </a:r>
            <a:r>
              <a:rPr lang="en-US" sz="1600" b="1" dirty="0">
                <a:latin typeface="+mj-lt"/>
              </a:rPr>
              <a:t>Array</a:t>
            </a:r>
            <a:r>
              <a:rPr lang="en-US" sz="1600" dirty="0">
                <a:latin typeface="+mj-lt"/>
              </a:rPr>
              <a:t> in JavaScript is a single variable used to store an </a:t>
            </a:r>
            <a:r>
              <a:rPr lang="en-US" sz="1600" b="1" dirty="0">
                <a:latin typeface="+mj-lt"/>
              </a:rPr>
              <a:t>ordered list</a:t>
            </a:r>
            <a:r>
              <a:rPr lang="en-US" sz="1600" dirty="0">
                <a:latin typeface="+mj-lt"/>
              </a:rPr>
              <a:t> of values. These values are called </a:t>
            </a:r>
            <a:r>
              <a:rPr lang="en-US" sz="1600" b="1" dirty="0">
                <a:latin typeface="+mj-lt"/>
              </a:rPr>
              <a:t>elements</a:t>
            </a:r>
            <a:r>
              <a:rPr lang="en-US" sz="1600" dirty="0">
                <a:latin typeface="+mj-lt"/>
              </a:rPr>
              <a:t>, and each element has a specific numerical position, starting from zero, called its </a:t>
            </a:r>
            <a:r>
              <a:rPr lang="en-US" sz="1600" b="1" dirty="0">
                <a:latin typeface="+mj-lt"/>
              </a:rPr>
              <a:t>index</a:t>
            </a:r>
            <a:r>
              <a:rPr lang="en-US" sz="1600" dirty="0">
                <a:latin typeface="+mj-lt"/>
              </a:rPr>
              <a:t>.</a:t>
            </a:r>
          </a:p>
          <a:p>
            <a:pPr algn="l">
              <a:lnSpc>
                <a:spcPct val="150000"/>
              </a:lnSpc>
            </a:pPr>
            <a:r>
              <a:rPr lang="en-US" sz="1600" b="1" i="0" dirty="0">
                <a:solidFill>
                  <a:srgbClr val="C00000"/>
                </a:solidFill>
                <a:effectLst/>
                <a:latin typeface="+mj-lt"/>
              </a:rPr>
              <a:t>Key Characteristics of JavaScript Arrays:</a:t>
            </a:r>
          </a:p>
          <a:p>
            <a:pPr algn="l">
              <a:lnSpc>
                <a:spcPct val="150000"/>
              </a:lnSpc>
            </a:pPr>
            <a:r>
              <a:rPr lang="en-US" sz="1600" b="0" i="0" dirty="0">
                <a:solidFill>
                  <a:srgbClr val="C00000"/>
                </a:solidFill>
                <a:effectLst/>
                <a:latin typeface="+mj-lt"/>
              </a:rPr>
              <a:t>Ordered: </a:t>
            </a:r>
            <a:r>
              <a:rPr lang="en-US" sz="1600" b="0" i="0" dirty="0">
                <a:effectLst/>
                <a:latin typeface="+mj-lt"/>
              </a:rPr>
              <a:t>The elements maintain the order in which they are placed.</a:t>
            </a:r>
          </a:p>
          <a:p>
            <a:pPr algn="l">
              <a:lnSpc>
                <a:spcPct val="150000"/>
              </a:lnSpc>
            </a:pPr>
            <a:r>
              <a:rPr lang="en-US" sz="1600" b="0" i="0" dirty="0">
                <a:solidFill>
                  <a:srgbClr val="C00000"/>
                </a:solidFill>
                <a:effectLst/>
                <a:latin typeface="+mj-lt"/>
              </a:rPr>
              <a:t>Zero-Indexed: </a:t>
            </a:r>
            <a:r>
              <a:rPr lang="en-US" sz="1600" b="0" i="0" dirty="0">
                <a:effectLst/>
                <a:latin typeface="+mj-lt"/>
              </a:rPr>
              <a:t>The first element is always at index 0, the second at index 1, and so on.2 If an array has 3$N$ elements, the last element is at index.</a:t>
            </a:r>
          </a:p>
          <a:p>
            <a:pPr algn="l">
              <a:lnSpc>
                <a:spcPct val="150000"/>
              </a:lnSpc>
            </a:pPr>
            <a:r>
              <a:rPr lang="en-US" sz="1600" b="0" i="0" dirty="0">
                <a:solidFill>
                  <a:srgbClr val="C00000"/>
                </a:solidFill>
                <a:effectLst/>
                <a:latin typeface="+mj-lt"/>
              </a:rPr>
              <a:t>Heterogeneous: </a:t>
            </a:r>
            <a:r>
              <a:rPr lang="en-US" sz="1600" b="0" i="0" dirty="0">
                <a:effectLst/>
                <a:latin typeface="+mj-lt"/>
              </a:rPr>
              <a:t>Unlike arrays in some other languages, a single JavaScript array can hold elements of different data types (e.g., numbers, strings, objects, and even other arrays).6</a:t>
            </a:r>
          </a:p>
          <a:p>
            <a:pPr algn="l">
              <a:lnSpc>
                <a:spcPct val="150000"/>
              </a:lnSpc>
            </a:pPr>
            <a:r>
              <a:rPr lang="en-US" sz="1600" b="1" i="0" dirty="0">
                <a:solidFill>
                  <a:srgbClr val="C00000"/>
                </a:solidFill>
                <a:effectLst/>
              </a:rPr>
              <a:t>Creating Arrays:</a:t>
            </a:r>
          </a:p>
          <a:p>
            <a:pPr algn="l">
              <a:lnSpc>
                <a:spcPct val="150000"/>
              </a:lnSpc>
            </a:pPr>
            <a:r>
              <a:rPr lang="en-US" sz="1600" b="0" i="0" dirty="0">
                <a:effectLst/>
                <a:latin typeface="+mj-lt"/>
              </a:rPr>
              <a:t>You use square brackets ([]) to define the array elements.</a:t>
            </a:r>
          </a:p>
          <a:p>
            <a:pPr>
              <a:lnSpc>
                <a:spcPct val="150000"/>
              </a:lnSpc>
            </a:pPr>
            <a:r>
              <a:rPr lang="en-US" sz="1600" b="1" dirty="0">
                <a:solidFill>
                  <a:srgbClr val="C00000"/>
                </a:solidFill>
              </a:rPr>
              <a:t>Accessing Elements:</a:t>
            </a:r>
          </a:p>
          <a:p>
            <a:pPr>
              <a:lnSpc>
                <a:spcPct val="150000"/>
              </a:lnSpc>
            </a:pPr>
            <a:r>
              <a:rPr lang="en-US" sz="1600" dirty="0">
                <a:latin typeface="+mj-lt"/>
              </a:rPr>
              <a:t>To get a value, specify its index inside the brackets.</a:t>
            </a:r>
          </a:p>
          <a:p>
            <a:pPr>
              <a:lnSpc>
                <a:spcPct val="150000"/>
              </a:lnSpc>
            </a:pPr>
            <a:endParaRPr lang="en-US" sz="1600" dirty="0">
              <a:latin typeface="+mj-lt"/>
            </a:endParaRPr>
          </a:p>
          <a:p>
            <a:pPr>
              <a:lnSpc>
                <a:spcPct val="150000"/>
              </a:lnSpc>
            </a:pPr>
            <a:endParaRPr lang="en-US" sz="1600" b="1" dirty="0">
              <a:solidFill>
                <a:schemeClr val="bg2">
                  <a:lumMod val="10000"/>
                </a:schemeClr>
              </a:solidFill>
              <a:latin typeface="+mj-lt"/>
            </a:endParaRPr>
          </a:p>
        </p:txBody>
      </p:sp>
      <p:pic>
        <p:nvPicPr>
          <p:cNvPr id="6" name="Picture 5">
            <a:extLst>
              <a:ext uri="{FF2B5EF4-FFF2-40B4-BE49-F238E27FC236}">
                <a16:creationId xmlns:a16="http://schemas.microsoft.com/office/drawing/2014/main" id="{2940B8C5-90F9-4E7F-AEB8-6D51F90DC0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9179" y="4770972"/>
            <a:ext cx="6636131" cy="1895740"/>
          </a:xfrm>
          <a:prstGeom prst="rect">
            <a:avLst/>
          </a:prstGeom>
        </p:spPr>
      </p:pic>
    </p:spTree>
    <p:extLst>
      <p:ext uri="{BB962C8B-B14F-4D97-AF65-F5344CB8AC3E}">
        <p14:creationId xmlns:p14="http://schemas.microsoft.com/office/powerpoint/2010/main" val="2048651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788462" y="707755"/>
            <a:ext cx="10615076" cy="1531445"/>
          </a:xfrm>
          <a:prstGeom prst="rect">
            <a:avLst/>
          </a:prstGeom>
          <a:noFill/>
        </p:spPr>
        <p:txBody>
          <a:bodyPr wrap="square" rtlCol="0">
            <a:spAutoFit/>
          </a:bodyPr>
          <a:lstStyle/>
          <a:p>
            <a:pPr>
              <a:lnSpc>
                <a:spcPct val="150000"/>
              </a:lnSpc>
            </a:pPr>
            <a:r>
              <a:rPr lang="en-US" sz="1600" b="1" dirty="0">
                <a:solidFill>
                  <a:srgbClr val="C00000"/>
                </a:solidFill>
              </a:rPr>
              <a:t>Modifying Elements:</a:t>
            </a:r>
          </a:p>
          <a:p>
            <a:pPr>
              <a:lnSpc>
                <a:spcPct val="150000"/>
              </a:lnSpc>
            </a:pPr>
            <a:r>
              <a:rPr lang="en-US" sz="1600" dirty="0">
                <a:latin typeface="+mj-lt"/>
              </a:rPr>
              <a:t>To change a value, assign a new value to the specified index.</a:t>
            </a:r>
          </a:p>
          <a:p>
            <a:pPr>
              <a:lnSpc>
                <a:spcPct val="150000"/>
              </a:lnSpc>
            </a:pPr>
            <a:endParaRPr lang="en-US" sz="1600" dirty="0">
              <a:latin typeface="+mj-lt"/>
            </a:endParaRPr>
          </a:p>
          <a:p>
            <a:pPr>
              <a:lnSpc>
                <a:spcPct val="150000"/>
              </a:lnSpc>
            </a:pPr>
            <a:endParaRPr lang="en-US" sz="1600" b="1" dirty="0">
              <a:solidFill>
                <a:schemeClr val="bg2">
                  <a:lumMod val="10000"/>
                </a:schemeClr>
              </a:solidFill>
              <a:latin typeface="+mj-lt"/>
            </a:endParaRPr>
          </a:p>
        </p:txBody>
      </p:sp>
      <p:pic>
        <p:nvPicPr>
          <p:cNvPr id="3" name="Picture 2">
            <a:extLst>
              <a:ext uri="{FF2B5EF4-FFF2-40B4-BE49-F238E27FC236}">
                <a16:creationId xmlns:a16="http://schemas.microsoft.com/office/drawing/2014/main" id="{D7B6D93E-56F1-4AAF-A920-EAA0DA4662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1073" y="2239200"/>
            <a:ext cx="7802064" cy="2172003"/>
          </a:xfrm>
          <a:prstGeom prst="rect">
            <a:avLst/>
          </a:prstGeom>
        </p:spPr>
      </p:pic>
    </p:spTree>
    <p:extLst>
      <p:ext uri="{BB962C8B-B14F-4D97-AF65-F5344CB8AC3E}">
        <p14:creationId xmlns:p14="http://schemas.microsoft.com/office/powerpoint/2010/main" val="1964588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788462" y="707755"/>
            <a:ext cx="10615076" cy="5224764"/>
          </a:xfrm>
          <a:prstGeom prst="rect">
            <a:avLst/>
          </a:prstGeom>
          <a:noFill/>
        </p:spPr>
        <p:txBody>
          <a:bodyPr wrap="square" rtlCol="0">
            <a:spAutoFit/>
          </a:bodyPr>
          <a:lstStyle/>
          <a:p>
            <a:pPr>
              <a:lnSpc>
                <a:spcPct val="150000"/>
              </a:lnSpc>
            </a:pPr>
            <a:r>
              <a:rPr lang="en-US" sz="1600" b="1" dirty="0">
                <a:solidFill>
                  <a:srgbClr val="C00000"/>
                </a:solidFill>
              </a:rPr>
              <a:t>Array methods</a:t>
            </a:r>
            <a:r>
              <a:rPr lang="fa-IR" sz="1600" b="1" dirty="0">
                <a:solidFill>
                  <a:srgbClr val="C00000"/>
                </a:solidFill>
              </a:rPr>
              <a:t>:</a:t>
            </a:r>
            <a:br>
              <a:rPr lang="fa-IR" sz="1600" dirty="0"/>
            </a:br>
            <a:r>
              <a:rPr lang="en-US" sz="1600" dirty="0">
                <a:latin typeface="+mj-lt"/>
              </a:rPr>
              <a:t>Array methods in JavaScript are built-in functions that allow you to easily </a:t>
            </a:r>
            <a:r>
              <a:rPr lang="en-US" sz="1600" b="1" dirty="0">
                <a:latin typeface="+mj-lt"/>
              </a:rPr>
              <a:t>manipulate, transform, and access</a:t>
            </a:r>
            <a:r>
              <a:rPr lang="en-US" sz="1600" dirty="0">
                <a:latin typeface="+mj-lt"/>
              </a:rPr>
              <a:t> the elements of an array.</a:t>
            </a:r>
          </a:p>
          <a:p>
            <a:pPr>
              <a:lnSpc>
                <a:spcPct val="150000"/>
              </a:lnSpc>
            </a:pPr>
            <a:r>
              <a:rPr lang="en-US" sz="1600" dirty="0"/>
              <a:t>Array methods can be broadly grouped into categories based on what they do:</a:t>
            </a:r>
          </a:p>
          <a:p>
            <a:pPr marL="342900" indent="-342900">
              <a:lnSpc>
                <a:spcPct val="150000"/>
              </a:lnSpc>
              <a:buAutoNum type="arabicPeriod"/>
            </a:pPr>
            <a:r>
              <a:rPr lang="en-US" sz="1600" b="1" dirty="0">
                <a:solidFill>
                  <a:srgbClr val="C00000"/>
                </a:solidFill>
              </a:rPr>
              <a:t>Mutator Methods:</a:t>
            </a:r>
          </a:p>
          <a:p>
            <a:pPr>
              <a:lnSpc>
                <a:spcPct val="150000"/>
              </a:lnSpc>
            </a:pPr>
            <a:r>
              <a:rPr lang="en-US" sz="1600" dirty="0"/>
              <a:t>These methods </a:t>
            </a:r>
            <a:r>
              <a:rPr lang="en-US" sz="1600" b="1" dirty="0"/>
              <a:t>change (mutate)</a:t>
            </a:r>
            <a:r>
              <a:rPr lang="en-US" sz="1600" dirty="0"/>
              <a:t> the array they are called on.</a:t>
            </a:r>
          </a:p>
          <a:p>
            <a:pPr>
              <a:lnSpc>
                <a:spcPct val="150000"/>
              </a:lnSpc>
            </a:pPr>
            <a:r>
              <a:rPr lang="en-US" sz="1600" b="1" dirty="0">
                <a:solidFill>
                  <a:srgbClr val="C00000"/>
                </a:solidFill>
              </a:rPr>
              <a:t>Like :</a:t>
            </a:r>
          </a:p>
          <a:p>
            <a:pPr>
              <a:lnSpc>
                <a:spcPct val="150000"/>
              </a:lnSpc>
            </a:pPr>
            <a:r>
              <a:rPr lang="en-US" sz="1600" b="1" dirty="0">
                <a:solidFill>
                  <a:srgbClr val="C00000"/>
                </a:solidFill>
              </a:rPr>
              <a:t>Push()</a:t>
            </a:r>
          </a:p>
          <a:p>
            <a:pPr>
              <a:lnSpc>
                <a:spcPct val="150000"/>
              </a:lnSpc>
            </a:pPr>
            <a:r>
              <a:rPr lang="en-US" sz="1600" b="1" dirty="0">
                <a:solidFill>
                  <a:srgbClr val="C00000"/>
                </a:solidFill>
              </a:rPr>
              <a:t>Pop()</a:t>
            </a:r>
          </a:p>
          <a:p>
            <a:pPr>
              <a:lnSpc>
                <a:spcPct val="150000"/>
              </a:lnSpc>
            </a:pPr>
            <a:r>
              <a:rPr lang="en-US" sz="1600" b="1" dirty="0">
                <a:solidFill>
                  <a:srgbClr val="C00000"/>
                </a:solidFill>
              </a:rPr>
              <a:t>Shift()</a:t>
            </a:r>
          </a:p>
          <a:p>
            <a:pPr>
              <a:lnSpc>
                <a:spcPct val="150000"/>
              </a:lnSpc>
            </a:pPr>
            <a:r>
              <a:rPr lang="en-US" sz="1600" b="1" dirty="0">
                <a:solidFill>
                  <a:srgbClr val="C00000"/>
                </a:solidFill>
              </a:rPr>
              <a:t>Unshift()</a:t>
            </a:r>
          </a:p>
          <a:p>
            <a:pPr>
              <a:lnSpc>
                <a:spcPct val="150000"/>
              </a:lnSpc>
            </a:pPr>
            <a:r>
              <a:rPr lang="en-US" sz="1600" b="1" dirty="0">
                <a:solidFill>
                  <a:srgbClr val="C00000"/>
                </a:solidFill>
              </a:rPr>
              <a:t>splice</a:t>
            </a:r>
            <a:r>
              <a:rPr lang="en-US" sz="1600" b="1" dirty="0">
                <a:solidFill>
                  <a:srgbClr val="C00000"/>
                </a:solidFill>
                <a:sym typeface="Wingdings" panose="05000000000000000000" pitchFamily="2" charset="2"/>
              </a:rPr>
              <a:t>()</a:t>
            </a:r>
            <a:endParaRPr lang="en-US" sz="1600" dirty="0"/>
          </a:p>
          <a:p>
            <a:pPr>
              <a:lnSpc>
                <a:spcPct val="150000"/>
              </a:lnSpc>
            </a:pPr>
            <a:endParaRPr lang="en-US" sz="1600" dirty="0">
              <a:latin typeface="+mj-lt"/>
            </a:endParaRPr>
          </a:p>
          <a:p>
            <a:pPr>
              <a:lnSpc>
                <a:spcPct val="150000"/>
              </a:lnSpc>
            </a:pPr>
            <a:endParaRPr lang="en-US" sz="1600" b="1" dirty="0">
              <a:solidFill>
                <a:schemeClr val="bg2">
                  <a:lumMod val="10000"/>
                </a:schemeClr>
              </a:solidFill>
              <a:latin typeface="+mj-lt"/>
            </a:endParaRPr>
          </a:p>
        </p:txBody>
      </p:sp>
    </p:spTree>
    <p:extLst>
      <p:ext uri="{BB962C8B-B14F-4D97-AF65-F5344CB8AC3E}">
        <p14:creationId xmlns:p14="http://schemas.microsoft.com/office/powerpoint/2010/main" val="2926807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4FEE5B4-6F1C-4FC2-BCCE-21EB0800144B}"/>
              </a:ext>
            </a:extLst>
          </p:cNvPr>
          <p:cNvGraphicFramePr>
            <a:graphicFrameLocks noGrp="1"/>
          </p:cNvGraphicFramePr>
          <p:nvPr>
            <p:extLst>
              <p:ext uri="{D42A27DB-BD31-4B8C-83A1-F6EECF244321}">
                <p14:modId xmlns:p14="http://schemas.microsoft.com/office/powerpoint/2010/main" val="724429532"/>
              </p:ext>
            </p:extLst>
          </p:nvPr>
        </p:nvGraphicFramePr>
        <p:xfrm>
          <a:off x="999067" y="1185334"/>
          <a:ext cx="9908508" cy="4819897"/>
        </p:xfrm>
        <a:graphic>
          <a:graphicData uri="http://schemas.openxmlformats.org/drawingml/2006/table">
            <a:tbl>
              <a:tblPr>
                <a:tableStyleId>{6E25E649-3F16-4E02-A733-19D2CDBF48F0}</a:tableStyleId>
              </a:tblPr>
              <a:tblGrid>
                <a:gridCol w="3302836">
                  <a:extLst>
                    <a:ext uri="{9D8B030D-6E8A-4147-A177-3AD203B41FA5}">
                      <a16:colId xmlns:a16="http://schemas.microsoft.com/office/drawing/2014/main" val="2872587457"/>
                    </a:ext>
                  </a:extLst>
                </a:gridCol>
                <a:gridCol w="3302836">
                  <a:extLst>
                    <a:ext uri="{9D8B030D-6E8A-4147-A177-3AD203B41FA5}">
                      <a16:colId xmlns:a16="http://schemas.microsoft.com/office/drawing/2014/main" val="3737405607"/>
                    </a:ext>
                  </a:extLst>
                </a:gridCol>
                <a:gridCol w="3302836">
                  <a:extLst>
                    <a:ext uri="{9D8B030D-6E8A-4147-A177-3AD203B41FA5}">
                      <a16:colId xmlns:a16="http://schemas.microsoft.com/office/drawing/2014/main" val="1424611225"/>
                    </a:ext>
                  </a:extLst>
                </a:gridCol>
              </a:tblGrid>
              <a:tr h="468250">
                <a:tc>
                  <a:txBody>
                    <a:bodyPr/>
                    <a:lstStyle/>
                    <a:p>
                      <a:pPr rtl="0"/>
                      <a:r>
                        <a:rPr lang="en-US" sz="1400" b="1">
                          <a:solidFill>
                            <a:srgbClr val="1F1F1F"/>
                          </a:solidFill>
                          <a:effectLst/>
                        </a:rPr>
                        <a:t>Method</a:t>
                      </a:r>
                      <a:endParaRPr lang="en-US" sz="1400">
                        <a:solidFill>
                          <a:srgbClr val="1F1F1F"/>
                        </a:solidFill>
                        <a:effectLst/>
                        <a:latin typeface="+mj-lt"/>
                      </a:endParaRPr>
                    </a:p>
                  </a:txBody>
                  <a:tcPr marL="104599" marR="104599" marT="69733" marB="69733" anchor="ctr"/>
                </a:tc>
                <a:tc>
                  <a:txBody>
                    <a:bodyPr/>
                    <a:lstStyle/>
                    <a:p>
                      <a:pPr rtl="0"/>
                      <a:r>
                        <a:rPr lang="en-US" sz="1400" b="1" dirty="0">
                          <a:solidFill>
                            <a:srgbClr val="1F1F1F"/>
                          </a:solidFill>
                          <a:effectLst/>
                        </a:rPr>
                        <a:t>Description</a:t>
                      </a:r>
                      <a:endParaRPr lang="en-US" sz="1400" dirty="0">
                        <a:solidFill>
                          <a:srgbClr val="1F1F1F"/>
                        </a:solidFill>
                        <a:effectLst/>
                        <a:latin typeface="+mj-lt"/>
                      </a:endParaRPr>
                    </a:p>
                  </a:txBody>
                  <a:tcPr marL="104599" marR="104599" marT="69733" marB="69733" anchor="ctr"/>
                </a:tc>
                <a:tc>
                  <a:txBody>
                    <a:bodyPr/>
                    <a:lstStyle/>
                    <a:p>
                      <a:pPr rtl="0"/>
                      <a:r>
                        <a:rPr lang="en-US" sz="1400" b="1">
                          <a:solidFill>
                            <a:srgbClr val="1F1F1F"/>
                          </a:solidFill>
                          <a:effectLst/>
                        </a:rPr>
                        <a:t>Example</a:t>
                      </a:r>
                      <a:endParaRPr lang="en-US" sz="1400">
                        <a:solidFill>
                          <a:srgbClr val="1F1F1F"/>
                        </a:solidFill>
                        <a:effectLst/>
                        <a:latin typeface="+mj-lt"/>
                      </a:endParaRPr>
                    </a:p>
                  </a:txBody>
                  <a:tcPr marL="104599" marR="104599" marT="69733" marB="69733" anchor="ctr"/>
                </a:tc>
                <a:extLst>
                  <a:ext uri="{0D108BD9-81ED-4DB2-BD59-A6C34878D82A}">
                    <a16:rowId xmlns:a16="http://schemas.microsoft.com/office/drawing/2014/main" val="1328712798"/>
                  </a:ext>
                </a:extLst>
              </a:tr>
              <a:tr h="907129">
                <a:tc>
                  <a:txBody>
                    <a:bodyPr/>
                    <a:lstStyle/>
                    <a:p>
                      <a:pPr rtl="0"/>
                      <a:r>
                        <a:rPr lang="en-US" sz="1400" b="1">
                          <a:solidFill>
                            <a:srgbClr val="1F1F1F"/>
                          </a:solidFill>
                          <a:effectLst/>
                        </a:rPr>
                        <a:t>.push(element1, ...)</a:t>
                      </a:r>
                      <a:endParaRPr lang="en-US" sz="1400">
                        <a:solidFill>
                          <a:srgbClr val="1F1F1F"/>
                        </a:solidFill>
                        <a:effectLst/>
                        <a:latin typeface="+mj-lt"/>
                      </a:endParaRPr>
                    </a:p>
                  </a:txBody>
                  <a:tcPr marL="104599" marR="104599" marT="69733" marB="69733" anchor="ctr"/>
                </a:tc>
                <a:tc>
                  <a:txBody>
                    <a:bodyPr/>
                    <a:lstStyle/>
                    <a:p>
                      <a:pPr rtl="0"/>
                      <a:r>
                        <a:rPr lang="en-US" sz="1400">
                          <a:solidFill>
                            <a:srgbClr val="1F1F1F"/>
                          </a:solidFill>
                          <a:effectLst/>
                        </a:rPr>
                        <a:t>Adds one or more elements to the </a:t>
                      </a:r>
                      <a:r>
                        <a:rPr lang="en-US" sz="1400" b="1">
                          <a:solidFill>
                            <a:srgbClr val="1F1F1F"/>
                          </a:solidFill>
                          <a:effectLst/>
                        </a:rPr>
                        <a:t>end</a:t>
                      </a:r>
                      <a:r>
                        <a:rPr lang="en-US" sz="1400">
                          <a:solidFill>
                            <a:srgbClr val="1F1F1F"/>
                          </a:solidFill>
                          <a:effectLst/>
                        </a:rPr>
                        <a:t> of an array and returns the new length.</a:t>
                      </a:r>
                      <a:endParaRPr lang="en-US" sz="1400">
                        <a:solidFill>
                          <a:srgbClr val="1F1F1F"/>
                        </a:solidFill>
                        <a:effectLst/>
                        <a:latin typeface="+mj-lt"/>
                      </a:endParaRPr>
                    </a:p>
                  </a:txBody>
                  <a:tcPr marL="104599" marR="104599" marT="69733" marB="69733" anchor="ctr"/>
                </a:tc>
                <a:tc>
                  <a:txBody>
                    <a:bodyPr/>
                    <a:lstStyle/>
                    <a:p>
                      <a:pPr rtl="0"/>
                      <a:r>
                        <a:rPr lang="en-US" sz="1400" dirty="0" err="1">
                          <a:solidFill>
                            <a:srgbClr val="1F1F1F"/>
                          </a:solidFill>
                          <a:effectLst/>
                        </a:rPr>
                        <a:t>arr.push</a:t>
                      </a:r>
                      <a:r>
                        <a:rPr lang="en-US" sz="1400" dirty="0">
                          <a:solidFill>
                            <a:srgbClr val="1F1F1F"/>
                          </a:solidFill>
                          <a:effectLst/>
                        </a:rPr>
                        <a:t>('d’) =&gt; ['a', 'b', 'c', 'd']</a:t>
                      </a:r>
                      <a:endParaRPr lang="en-US" sz="1400" dirty="0">
                        <a:solidFill>
                          <a:srgbClr val="1F1F1F"/>
                        </a:solidFill>
                        <a:effectLst/>
                        <a:latin typeface="+mj-lt"/>
                      </a:endParaRPr>
                    </a:p>
                  </a:txBody>
                  <a:tcPr marL="104599" marR="104599" marT="69733" marB="69733" anchor="ctr"/>
                </a:tc>
                <a:extLst>
                  <a:ext uri="{0D108BD9-81ED-4DB2-BD59-A6C34878D82A}">
                    <a16:rowId xmlns:a16="http://schemas.microsoft.com/office/drawing/2014/main" val="335446524"/>
                  </a:ext>
                </a:extLst>
              </a:tr>
              <a:tr h="751410">
                <a:tc>
                  <a:txBody>
                    <a:bodyPr/>
                    <a:lstStyle/>
                    <a:p>
                      <a:pPr rtl="0"/>
                      <a:r>
                        <a:rPr lang="en-US" sz="1400" b="1">
                          <a:solidFill>
                            <a:srgbClr val="1F1F1F"/>
                          </a:solidFill>
                          <a:effectLst/>
                        </a:rPr>
                        <a:t>.pop()</a:t>
                      </a:r>
                      <a:endParaRPr lang="en-US" sz="1400">
                        <a:solidFill>
                          <a:srgbClr val="1F1F1F"/>
                        </a:solidFill>
                        <a:effectLst/>
                        <a:latin typeface="+mj-lt"/>
                      </a:endParaRPr>
                    </a:p>
                  </a:txBody>
                  <a:tcPr marL="104599" marR="104599" marT="69733" marB="69733" anchor="ctr"/>
                </a:tc>
                <a:tc>
                  <a:txBody>
                    <a:bodyPr/>
                    <a:lstStyle/>
                    <a:p>
                      <a:pPr rtl="0"/>
                      <a:r>
                        <a:rPr lang="en-US" sz="1400" b="1" dirty="0">
                          <a:solidFill>
                            <a:srgbClr val="1F1F1F"/>
                          </a:solidFill>
                          <a:effectLst/>
                        </a:rPr>
                        <a:t>Removes</a:t>
                      </a:r>
                      <a:r>
                        <a:rPr lang="en-US" sz="1400" dirty="0">
                          <a:solidFill>
                            <a:srgbClr val="1F1F1F"/>
                          </a:solidFill>
                          <a:effectLst/>
                        </a:rPr>
                        <a:t> the </a:t>
                      </a:r>
                      <a:r>
                        <a:rPr lang="en-US" sz="1400" b="1" dirty="0">
                          <a:solidFill>
                            <a:srgbClr val="1F1F1F"/>
                          </a:solidFill>
                          <a:effectLst/>
                        </a:rPr>
                        <a:t>last</a:t>
                      </a:r>
                      <a:r>
                        <a:rPr lang="en-US" sz="1400" dirty="0">
                          <a:solidFill>
                            <a:srgbClr val="1F1F1F"/>
                          </a:solidFill>
                          <a:effectLst/>
                        </a:rPr>
                        <a:t> element from an array and returns that element.</a:t>
                      </a:r>
                      <a:endParaRPr lang="en-US" sz="1400" dirty="0">
                        <a:solidFill>
                          <a:srgbClr val="1F1F1F"/>
                        </a:solidFill>
                        <a:effectLst/>
                        <a:latin typeface="+mj-lt"/>
                      </a:endParaRPr>
                    </a:p>
                  </a:txBody>
                  <a:tcPr marL="104599" marR="104599" marT="69733" marB="69733" anchor="ctr"/>
                </a:tc>
                <a:tc>
                  <a:txBody>
                    <a:bodyPr/>
                    <a:lstStyle/>
                    <a:p>
                      <a:pPr rtl="0"/>
                      <a:r>
                        <a:rPr lang="en-US" sz="1400" dirty="0" err="1">
                          <a:solidFill>
                            <a:srgbClr val="1F1F1F"/>
                          </a:solidFill>
                          <a:effectLst/>
                        </a:rPr>
                        <a:t>arr.pop</a:t>
                      </a:r>
                      <a:r>
                        <a:rPr lang="en-US" sz="1400" dirty="0">
                          <a:solidFill>
                            <a:srgbClr val="1F1F1F"/>
                          </a:solidFill>
                          <a:effectLst/>
                        </a:rPr>
                        <a:t>() =&gt; ['a', 'b']</a:t>
                      </a:r>
                      <a:endParaRPr lang="en-US" sz="1400" dirty="0">
                        <a:solidFill>
                          <a:srgbClr val="1F1F1F"/>
                        </a:solidFill>
                        <a:effectLst/>
                        <a:latin typeface="+mj-lt"/>
                      </a:endParaRPr>
                    </a:p>
                  </a:txBody>
                  <a:tcPr marL="104599" marR="104599" marT="69733" marB="69733" anchor="ctr"/>
                </a:tc>
                <a:extLst>
                  <a:ext uri="{0D108BD9-81ED-4DB2-BD59-A6C34878D82A}">
                    <a16:rowId xmlns:a16="http://schemas.microsoft.com/office/drawing/2014/main" val="778779268"/>
                  </a:ext>
                </a:extLst>
              </a:tr>
              <a:tr h="1034569">
                <a:tc>
                  <a:txBody>
                    <a:bodyPr/>
                    <a:lstStyle/>
                    <a:p>
                      <a:pPr rtl="0"/>
                      <a:r>
                        <a:rPr lang="en-US" sz="1400" b="1">
                          <a:solidFill>
                            <a:srgbClr val="1F1F1F"/>
                          </a:solidFill>
                          <a:effectLst/>
                        </a:rPr>
                        <a:t>.unshift(element1, ...)</a:t>
                      </a:r>
                      <a:endParaRPr lang="en-US" sz="1400">
                        <a:solidFill>
                          <a:srgbClr val="1F1F1F"/>
                        </a:solidFill>
                        <a:effectLst/>
                        <a:latin typeface="+mj-lt"/>
                      </a:endParaRPr>
                    </a:p>
                  </a:txBody>
                  <a:tcPr marL="104599" marR="104599" marT="69733" marB="69733" anchor="ctr"/>
                </a:tc>
                <a:tc>
                  <a:txBody>
                    <a:bodyPr/>
                    <a:lstStyle/>
                    <a:p>
                      <a:pPr rtl="0"/>
                      <a:r>
                        <a:rPr lang="en-US" sz="1400">
                          <a:solidFill>
                            <a:srgbClr val="1F1F1F"/>
                          </a:solidFill>
                          <a:effectLst/>
                        </a:rPr>
                        <a:t>Adds one or more elements to the </a:t>
                      </a:r>
                      <a:r>
                        <a:rPr lang="en-US" sz="1400" b="1">
                          <a:solidFill>
                            <a:srgbClr val="1F1F1F"/>
                          </a:solidFill>
                          <a:effectLst/>
                        </a:rPr>
                        <a:t>beginning</a:t>
                      </a:r>
                      <a:r>
                        <a:rPr lang="en-US" sz="1400">
                          <a:solidFill>
                            <a:srgbClr val="1F1F1F"/>
                          </a:solidFill>
                          <a:effectLst/>
                        </a:rPr>
                        <a:t> of an array and returns the new length.</a:t>
                      </a:r>
                      <a:endParaRPr lang="en-US" sz="1400">
                        <a:solidFill>
                          <a:srgbClr val="1F1F1F"/>
                        </a:solidFill>
                        <a:effectLst/>
                        <a:latin typeface="+mj-lt"/>
                      </a:endParaRPr>
                    </a:p>
                  </a:txBody>
                  <a:tcPr marL="104599" marR="104599" marT="69733" marB="69733" anchor="ctr"/>
                </a:tc>
                <a:tc>
                  <a:txBody>
                    <a:bodyPr/>
                    <a:lstStyle/>
                    <a:p>
                      <a:pPr rtl="0"/>
                      <a:r>
                        <a:rPr lang="en-US" sz="1400" dirty="0" err="1">
                          <a:solidFill>
                            <a:srgbClr val="1F1F1F"/>
                          </a:solidFill>
                          <a:effectLst/>
                        </a:rPr>
                        <a:t>arr.unshift</a:t>
                      </a:r>
                      <a:r>
                        <a:rPr lang="en-US" sz="1400" dirty="0">
                          <a:solidFill>
                            <a:srgbClr val="1F1F1F"/>
                          </a:solidFill>
                          <a:effectLst/>
                        </a:rPr>
                        <a:t>('x’) =&gt; ['x', 'a', 'b', 'c']</a:t>
                      </a:r>
                      <a:endParaRPr lang="en-US" sz="1400" dirty="0">
                        <a:solidFill>
                          <a:srgbClr val="1F1F1F"/>
                        </a:solidFill>
                        <a:effectLst/>
                        <a:latin typeface="+mj-lt"/>
                      </a:endParaRPr>
                    </a:p>
                  </a:txBody>
                  <a:tcPr marL="104599" marR="104599" marT="69733" marB="69733" anchor="ctr"/>
                </a:tc>
                <a:extLst>
                  <a:ext uri="{0D108BD9-81ED-4DB2-BD59-A6C34878D82A}">
                    <a16:rowId xmlns:a16="http://schemas.microsoft.com/office/drawing/2014/main" val="518483492"/>
                  </a:ext>
                </a:extLst>
              </a:tr>
              <a:tr h="751410">
                <a:tc>
                  <a:txBody>
                    <a:bodyPr/>
                    <a:lstStyle/>
                    <a:p>
                      <a:pPr rtl="0"/>
                      <a:r>
                        <a:rPr lang="en-US" sz="1400" b="1">
                          <a:solidFill>
                            <a:srgbClr val="1F1F1F"/>
                          </a:solidFill>
                          <a:effectLst/>
                        </a:rPr>
                        <a:t>.shift()</a:t>
                      </a:r>
                      <a:endParaRPr lang="en-US" sz="1400">
                        <a:solidFill>
                          <a:srgbClr val="1F1F1F"/>
                        </a:solidFill>
                        <a:effectLst/>
                        <a:latin typeface="+mj-lt"/>
                      </a:endParaRPr>
                    </a:p>
                  </a:txBody>
                  <a:tcPr marL="104599" marR="104599" marT="69733" marB="69733" anchor="ctr"/>
                </a:tc>
                <a:tc>
                  <a:txBody>
                    <a:bodyPr/>
                    <a:lstStyle/>
                    <a:p>
                      <a:pPr rtl="0"/>
                      <a:r>
                        <a:rPr lang="en-US" sz="1400" b="1">
                          <a:solidFill>
                            <a:srgbClr val="1F1F1F"/>
                          </a:solidFill>
                          <a:effectLst/>
                        </a:rPr>
                        <a:t>Removes</a:t>
                      </a:r>
                      <a:r>
                        <a:rPr lang="en-US" sz="1400">
                          <a:solidFill>
                            <a:srgbClr val="1F1F1F"/>
                          </a:solidFill>
                          <a:effectLst/>
                        </a:rPr>
                        <a:t> the </a:t>
                      </a:r>
                      <a:r>
                        <a:rPr lang="en-US" sz="1400" b="1">
                          <a:solidFill>
                            <a:srgbClr val="1F1F1F"/>
                          </a:solidFill>
                          <a:effectLst/>
                        </a:rPr>
                        <a:t>first</a:t>
                      </a:r>
                      <a:r>
                        <a:rPr lang="en-US" sz="1400">
                          <a:solidFill>
                            <a:srgbClr val="1F1F1F"/>
                          </a:solidFill>
                          <a:effectLst/>
                        </a:rPr>
                        <a:t> element from an array and returns that element.</a:t>
                      </a:r>
                      <a:endParaRPr lang="en-US" sz="1400">
                        <a:solidFill>
                          <a:srgbClr val="1F1F1F"/>
                        </a:solidFill>
                        <a:effectLst/>
                        <a:latin typeface="+mj-lt"/>
                      </a:endParaRPr>
                    </a:p>
                  </a:txBody>
                  <a:tcPr marL="104599" marR="104599" marT="69733" marB="69733" anchor="ctr"/>
                </a:tc>
                <a:tc>
                  <a:txBody>
                    <a:bodyPr/>
                    <a:lstStyle/>
                    <a:p>
                      <a:pPr rtl="0"/>
                      <a:r>
                        <a:rPr lang="en-US" sz="1400" dirty="0" err="1">
                          <a:solidFill>
                            <a:srgbClr val="1F1F1F"/>
                          </a:solidFill>
                          <a:effectLst/>
                        </a:rPr>
                        <a:t>arr.shift</a:t>
                      </a:r>
                      <a:r>
                        <a:rPr lang="en-US" sz="1400" dirty="0">
                          <a:solidFill>
                            <a:srgbClr val="1F1F1F"/>
                          </a:solidFill>
                          <a:effectLst/>
                        </a:rPr>
                        <a:t>() =&gt; ['b', 'c']</a:t>
                      </a:r>
                      <a:endParaRPr lang="en-US" sz="1400" dirty="0">
                        <a:solidFill>
                          <a:srgbClr val="1F1F1F"/>
                        </a:solidFill>
                        <a:effectLst/>
                        <a:latin typeface="+mj-lt"/>
                      </a:endParaRPr>
                    </a:p>
                  </a:txBody>
                  <a:tcPr marL="104599" marR="104599" marT="69733" marB="69733" anchor="ctr"/>
                </a:tc>
                <a:extLst>
                  <a:ext uri="{0D108BD9-81ED-4DB2-BD59-A6C34878D82A}">
                    <a16:rowId xmlns:a16="http://schemas.microsoft.com/office/drawing/2014/main" val="2047838914"/>
                  </a:ext>
                </a:extLst>
              </a:tr>
              <a:tr h="907129">
                <a:tc>
                  <a:txBody>
                    <a:bodyPr/>
                    <a:lstStyle/>
                    <a:p>
                      <a:pPr rtl="0"/>
                      <a:r>
                        <a:rPr lang="en-US" sz="1400" b="1">
                          <a:solidFill>
                            <a:srgbClr val="1F1F1F"/>
                          </a:solidFill>
                          <a:effectLst/>
                        </a:rPr>
                        <a:t>.splice(start, deleteCount, item1, ...)</a:t>
                      </a:r>
                      <a:endParaRPr lang="en-US" sz="1400">
                        <a:solidFill>
                          <a:srgbClr val="1F1F1F"/>
                        </a:solidFill>
                        <a:effectLst/>
                        <a:latin typeface="+mj-lt"/>
                      </a:endParaRPr>
                    </a:p>
                  </a:txBody>
                  <a:tcPr marL="104599" marR="104599" marT="69733" marB="69733" anchor="ctr"/>
                </a:tc>
                <a:tc>
                  <a:txBody>
                    <a:bodyPr/>
                    <a:lstStyle/>
                    <a:p>
                      <a:pPr rtl="0"/>
                      <a:r>
                        <a:rPr lang="en-US" sz="1400">
                          <a:solidFill>
                            <a:srgbClr val="1F1F1F"/>
                          </a:solidFill>
                          <a:effectLst/>
                        </a:rPr>
                        <a:t>A powerful method that can </a:t>
                      </a:r>
                      <a:r>
                        <a:rPr lang="en-US" sz="1400" b="1">
                          <a:solidFill>
                            <a:srgbClr val="1F1F1F"/>
                          </a:solidFill>
                          <a:effectLst/>
                        </a:rPr>
                        <a:t>add, remove, or replace</a:t>
                      </a:r>
                      <a:r>
                        <a:rPr lang="en-US" sz="1400">
                          <a:solidFill>
                            <a:srgbClr val="1F1F1F"/>
                          </a:solidFill>
                          <a:effectLst/>
                        </a:rPr>
                        <a:t> elements at any position.</a:t>
                      </a:r>
                      <a:endParaRPr lang="en-US" sz="1400">
                        <a:solidFill>
                          <a:srgbClr val="1F1F1F"/>
                        </a:solidFill>
                        <a:effectLst/>
                        <a:latin typeface="+mj-lt"/>
                      </a:endParaRPr>
                    </a:p>
                  </a:txBody>
                  <a:tcPr marL="104599" marR="104599" marT="69733" marB="69733" anchor="ctr"/>
                </a:tc>
                <a:tc>
                  <a:txBody>
                    <a:bodyPr/>
                    <a:lstStyle/>
                    <a:p>
                      <a:pPr rtl="0"/>
                      <a:r>
                        <a:rPr lang="en-US" sz="1400" dirty="0" err="1">
                          <a:solidFill>
                            <a:srgbClr val="1F1F1F"/>
                          </a:solidFill>
                          <a:effectLst/>
                        </a:rPr>
                        <a:t>arr.splice</a:t>
                      </a:r>
                      <a:r>
                        <a:rPr lang="en-US" sz="1400" dirty="0">
                          <a:solidFill>
                            <a:srgbClr val="1F1F1F"/>
                          </a:solidFill>
                          <a:effectLst/>
                        </a:rPr>
                        <a:t>(1, 1, 'x') =&gt; removes 1 element at index 1 and inserts 'x'</a:t>
                      </a:r>
                      <a:endParaRPr lang="en-US" sz="1400" dirty="0">
                        <a:solidFill>
                          <a:srgbClr val="1F1F1F"/>
                        </a:solidFill>
                        <a:effectLst/>
                        <a:latin typeface="+mj-lt"/>
                      </a:endParaRPr>
                    </a:p>
                  </a:txBody>
                  <a:tcPr marL="104599" marR="104599" marT="69733" marB="69733" anchor="ctr"/>
                </a:tc>
                <a:extLst>
                  <a:ext uri="{0D108BD9-81ED-4DB2-BD59-A6C34878D82A}">
                    <a16:rowId xmlns:a16="http://schemas.microsoft.com/office/drawing/2014/main" val="1514237029"/>
                  </a:ext>
                </a:extLst>
              </a:tr>
            </a:tbl>
          </a:graphicData>
        </a:graphic>
      </p:graphicFrame>
    </p:spTree>
    <p:extLst>
      <p:ext uri="{BB962C8B-B14F-4D97-AF65-F5344CB8AC3E}">
        <p14:creationId xmlns:p14="http://schemas.microsoft.com/office/powerpoint/2010/main" val="39003708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7850</TotalTime>
  <Words>1028</Words>
  <Application>Microsoft Office PowerPoint</Application>
  <PresentationFormat>Widescreen</PresentationFormat>
  <Paragraphs>80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Special topics  Session 9    Al-Zahra university  Maryam zim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maryam.zim@PART.LOCAL</dc:creator>
  <cp:lastModifiedBy>maryam.zim@PART.LOCAL</cp:lastModifiedBy>
  <cp:revision>102</cp:revision>
  <dcterms:created xsi:type="dcterms:W3CDTF">2025-10-04T12:24:50Z</dcterms:created>
  <dcterms:modified xsi:type="dcterms:W3CDTF">2025-12-03T09:04:11Z</dcterms:modified>
</cp:coreProperties>
</file>