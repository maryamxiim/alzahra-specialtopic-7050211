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1" r:id="rId10"/>
    <p:sldId id="352" r:id="rId11"/>
    <p:sldId id="353" r:id="rId12"/>
    <p:sldId id="354" r:id="rId13"/>
    <p:sldId id="355" r:id="rId14"/>
    <p:sldId id="3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am.zim@PART.LOCAL" initials="m" lastIdx="1" clrIdx="0">
    <p:extLst>
      <p:ext uri="{19B8F6BF-5375-455C-9EA6-DF929625EA0E}">
        <p15:presenceInfo xmlns:p15="http://schemas.microsoft.com/office/powerpoint/2012/main" userId="S-1-5-21-3489999022-4110809321-1974184606-90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6666FF"/>
    <a:srgbClr val="456328"/>
    <a:srgbClr val="FF6699"/>
    <a:srgbClr val="0099CC"/>
    <a:srgbClr val="FF99CC"/>
    <a:srgbClr val="AC1455"/>
    <a:srgbClr val="9D2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>
        <p:scale>
          <a:sx n="125" d="100"/>
          <a:sy n="125" d="100"/>
        </p:scale>
        <p:origin x="4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21A7-1297-4B3D-AA39-F5C0DF159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10B9-4796-4874-9BB8-15F35183E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B7682-B92C-4941-BF14-1CC126B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4EDB1-FFF8-4366-8956-44B1F039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50CC4-F01F-49B0-B16E-FB8D42E7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80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765F-E9B9-4ED1-9E9E-EBBE0338D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A57D5-DD8D-4939-A68C-92AF9510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36BAA-6F97-4E6F-B61B-7E4CF543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A5917-50CC-4C33-A243-F3EC029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BB40-3BBA-4F2F-BF06-08662F15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89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C94DA-872A-4221-BA19-E07B6B95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27956-B24A-4F79-A497-786703A03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01D3C-2A54-43A4-B4AA-E3578A5F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F451-B11A-429E-AE89-A29A040D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9344F-0B35-47EF-B676-F7D6EFD5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B749-E171-424D-95A4-107569D2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E049-633C-4EE9-9C60-6E549F603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85B50-1331-4886-879E-3B49F8407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F5FF1-B6E1-4969-8EA6-3540B5C0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9DCB5-B792-438D-BC09-99FA3302A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1F8EF-9BA1-4D3A-8856-9E1F28F9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9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23B0-D53A-4FB3-A0FA-3AA65017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861986-7E35-4BFD-AE5C-731845CE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B44A9-6B54-44C0-B2D5-AB7D848E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F03A4-F8A4-4A2B-B519-1F7A15433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6FA89C-42F2-4E57-9927-53867109D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8D43E-DE9B-4462-9805-C8D17DE0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D1DA-4390-4E8E-9A61-060979A9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717FB-EF17-43FB-8605-E12CCEED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E59-9915-476C-B0F8-EB3A25E6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60F27-09EE-485F-A74C-6A6BD7FD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65843-65D3-4667-B615-FD1F6B5C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674E2-122C-48F8-9EF8-E6146682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B7D829-74FC-4444-AFD6-536A86FD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E63DD-C7A8-44E9-9536-DA1E1499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2B870-EF9E-4D10-9908-985BE140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8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FAF71-5FE8-47EF-BAE7-4E48FB03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4D18-94CC-4C61-8AA2-0F0BA6A0E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63AB8-9CB2-4DC0-8619-82C66AB04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9CBA3-20B9-4D09-ACA4-F5CEF556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BCDAA-722B-42B1-AB5B-4104181C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4DEFB-4003-4080-A9E6-42AD178C9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A2CF-E225-4AA2-9996-E97E5DA0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EB8C8-2BA5-4DF3-A3A3-873EAA04F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D1B52-B572-4655-9E7F-D7EA0572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1BB40-94C9-4CB5-A0F8-6A46E661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3C2F9-22D4-46CF-B08D-134F301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59A7B-D3AF-42CC-BAE5-CDA0DD8E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281F0-3D68-4BF4-B5AB-CFC8A80A3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818F2-79A6-4F9C-8E66-E20F9B5DF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898E-CF68-4BA9-953F-8142C596F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0293A-8B19-473E-BCA1-11F9265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4F1BF-9DEB-49A9-A123-D6CD8302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64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5B366D-8EC1-428A-85D4-129DE2C09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9E9B1A-AB28-446F-BB0F-3C4EE0113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51CD6-A1AE-4BB4-98F6-1EEA6294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7E9E-4950-4891-8590-A9FC4063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D1937-6B22-45E0-8722-8BCFDA6A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5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6A79B-B1C2-4FC9-8C3A-F43EC7D4F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6324-1315-477A-9FFD-ECA6522C7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AE13F-AC62-445F-A16D-ED4215451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B2B08-B017-4EEC-B17F-079F487C2A94}" type="datetimeFigureOut">
              <a:rPr lang="en-US" smtClean="0"/>
              <a:t>12/24/2025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B1C2D-8020-42C2-998D-4313F62E3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0E827-9FF1-43A7-A9E2-B0C00B12F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CCB9-2627-4E8D-81FB-E1D3575DD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5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w3schools.com/js/js_es6.asp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C456-2368-04EF-CB18-5B4BA1953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864" y="240060"/>
            <a:ext cx="9144000" cy="5786006"/>
          </a:xfrm>
        </p:spPr>
        <p:txBody>
          <a:bodyPr>
            <a:normAutofit/>
          </a:bodyPr>
          <a:lstStyle/>
          <a:p>
            <a:r>
              <a:rPr lang="en-US" b="1" dirty="0"/>
              <a:t>Special topics</a:t>
            </a:r>
            <a:br>
              <a:rPr lang="en-US" dirty="0"/>
            </a:br>
            <a:br>
              <a:rPr lang="en-US" dirty="0"/>
            </a:br>
            <a:r>
              <a:rPr lang="en-US" sz="3200" b="1" dirty="0"/>
              <a:t>Session 10</a:t>
            </a:r>
            <a:br>
              <a:rPr lang="en-US" sz="3200" b="1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Al-Zahra university </a:t>
            </a:r>
            <a:br>
              <a:rPr lang="en-US" sz="2000" dirty="0"/>
            </a:br>
            <a:r>
              <a:rPr lang="en-US" sz="2000" dirty="0"/>
              <a:t>Maryam </a:t>
            </a:r>
            <a:r>
              <a:rPr lang="en-US" sz="2000" dirty="0" err="1"/>
              <a:t>zim</a:t>
            </a:r>
            <a:r>
              <a:rPr lang="en-US" sz="2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49644-702C-104B-A3C2-E81A66E02B10}"/>
              </a:ext>
            </a:extLst>
          </p:cNvPr>
          <p:cNvSpPr txBox="1"/>
          <p:nvPr/>
        </p:nvSpPr>
        <p:spPr>
          <a:xfrm>
            <a:off x="333555" y="6331012"/>
            <a:ext cx="217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+mj-lt"/>
              </a:rPr>
              <a:t>@</a:t>
            </a:r>
            <a:r>
              <a:rPr lang="en-US" sz="1100" dirty="0" err="1">
                <a:latin typeface="+mj-lt"/>
              </a:rPr>
              <a:t>maryamzim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maryamxiim@gmail.com</a:t>
            </a:r>
            <a:endParaRPr lang="en-US" sz="1100" dirty="0">
              <a:latin typeface="+mj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39A4A4-6725-59CF-7099-1F9127951243}"/>
              </a:ext>
            </a:extLst>
          </p:cNvPr>
          <p:cNvCxnSpPr>
            <a:cxnSpLocks/>
          </p:cNvCxnSpPr>
          <p:nvPr/>
        </p:nvCxnSpPr>
        <p:spPr>
          <a:xfrm>
            <a:off x="0" y="623977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482" name="Picture 2">
            <a:extLst>
              <a:ext uri="{FF2B5EF4-FFF2-40B4-BE49-F238E27FC236}">
                <a16:creationId xmlns:a16="http://schemas.microsoft.com/office/drawing/2014/main" id="{C0C7CD75-3CDC-8F39-FAB2-BC9933D5B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80" y="6406516"/>
            <a:ext cx="139939" cy="139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897B446E-8E4A-1444-0B25-280230FC1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36" y="6593099"/>
            <a:ext cx="138983" cy="9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627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5270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B050"/>
                </a:solidFill>
              </a:rPr>
              <a:t>Array methods</a:t>
            </a:r>
            <a:r>
              <a:rPr lang="fa-IR" b="1" dirty="0">
                <a:solidFill>
                  <a:srgbClr val="00B050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br>
              <a:rPr lang="fa-IR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2. </a:t>
            </a:r>
            <a:r>
              <a:rPr lang="en-US" sz="1600" b="1" dirty="0">
                <a:solidFill>
                  <a:srgbClr val="00B050"/>
                </a:solidFill>
              </a:rPr>
              <a:t>Accessor Methods (Non-Mutating)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These methods retrieve data from the array without changing the original array.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050"/>
                </a:solidFill>
              </a:rPr>
              <a:t>Like :</a:t>
            </a:r>
          </a:p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rgbClr val="00B050"/>
                </a:solidFill>
              </a:rPr>
              <a:t>Concat</a:t>
            </a:r>
            <a:r>
              <a:rPr lang="en-US" sz="1600" b="1" dirty="0">
                <a:solidFill>
                  <a:srgbClr val="00B050"/>
                </a:solidFill>
              </a:rPr>
              <a:t>() 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concat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method concatenates (joins) two or more arrays and returns a new array, containing the joined arrays. The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concat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method does not change the existing arrays.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050"/>
                </a:solidFill>
              </a:rPr>
              <a:t>join():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join() method returns an array as a string AND does not change the original array. Any separator can be specified. The default is comma (,).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050"/>
                </a:solidFill>
              </a:rPr>
              <a:t>Slice() :</a:t>
            </a:r>
            <a:r>
              <a:rPr lang="en-US" sz="1600" b="1" dirty="0">
                <a:solidFill>
                  <a:srgbClr val="C00000"/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slice() method returns selected elements in a new array.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slice() method selects from a given start, up to a (not inclusive) given end. The slice() method does not change the original array.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680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A1C2F3-2923-4CF2-844C-10F6B116E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379350"/>
              </p:ext>
            </p:extLst>
          </p:nvPr>
        </p:nvGraphicFramePr>
        <p:xfrm>
          <a:off x="838200" y="1364774"/>
          <a:ext cx="10515600" cy="39014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755913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081625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34858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Method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Example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00372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.slice(start, end)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Returns a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new array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 containing a shallow copy of a portion of the original array specified by start and end indices.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</a:rPr>
                        <a:t>arr.slice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(1, 3) =&gt; copies elements from index 1 up to (but not including) index 3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9312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.concat(arr1, arr2, ...)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Returns a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new array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 that is the combination of the original array and the arrays/values passed as arguments.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arr1.concat(arr2)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8950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.join(separator)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Creates and returns a new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string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 by concatenating all of the elements in an array.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</a:rPr>
                        <a:t>arr.join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('-’) =&gt; "a-b-c"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24527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370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506607"/>
            <a:ext cx="10615076" cy="6748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6699"/>
                </a:solidFill>
              </a:rPr>
              <a:t>Array methods</a:t>
            </a:r>
            <a:r>
              <a:rPr lang="fa-IR" b="1" dirty="0">
                <a:solidFill>
                  <a:srgbClr val="FF6699"/>
                </a:solidFill>
              </a:rPr>
              <a:t>:</a:t>
            </a:r>
            <a:br>
              <a:rPr lang="fa-IR" sz="1600" b="1" dirty="0">
                <a:solidFill>
                  <a:srgbClr val="FF6699"/>
                </a:solidFill>
              </a:rPr>
            </a:br>
            <a:r>
              <a:rPr lang="en-US" sz="1600" b="1" dirty="0">
                <a:solidFill>
                  <a:srgbClr val="FF6699"/>
                </a:solidFill>
              </a:rPr>
              <a:t>3. Search and Test Methods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These methods are used to find elements or check if elements meet certain criteria. They typically </a:t>
            </a:r>
            <a:r>
              <a:rPr lang="en-US" sz="1600" b="1" dirty="0"/>
              <a:t>do not mutate</a:t>
            </a:r>
            <a:r>
              <a:rPr lang="en-US" sz="1600" dirty="0"/>
              <a:t> the array.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6699"/>
                </a:solidFill>
              </a:rPr>
              <a:t>Like :</a:t>
            </a:r>
          </a:p>
          <a:p>
            <a:pPr>
              <a:lnSpc>
                <a:spcPct val="150000"/>
              </a:lnSpc>
            </a:pPr>
            <a:r>
              <a:rPr lang="en-US" sz="1600" b="1" dirty="0" err="1">
                <a:solidFill>
                  <a:srgbClr val="FF6699"/>
                </a:solidFill>
              </a:rPr>
              <a:t>IndexOf</a:t>
            </a:r>
            <a:r>
              <a:rPr lang="en-US" sz="1600" b="1" dirty="0">
                <a:solidFill>
                  <a:srgbClr val="FF6699"/>
                </a:solidFill>
              </a:rPr>
              <a:t>():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indexOf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method returns the position of the first occurrence of a value in a string and returns -1 if the value is not found. The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indexOf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method is case sensitive.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6699"/>
                </a:solidFill>
              </a:rPr>
              <a:t>Find():</a:t>
            </a:r>
            <a:r>
              <a:rPr lang="en-US" sz="1600" dirty="0">
                <a:solidFill>
                  <a:srgbClr val="FF6699"/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find() method returns the value of the first element that passes a test and  executes a function for each array element. The find() method returns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undefined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if no elements are found. The find() method does not execute the function for empty elements and 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does not change the original array.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6699"/>
                </a:solidFill>
              </a:rPr>
              <a:t>Includes():</a:t>
            </a:r>
            <a:r>
              <a:rPr lang="en-US" sz="1600" dirty="0">
                <a:solidFill>
                  <a:srgbClr val="FF6699"/>
                </a:solidFill>
              </a:rPr>
              <a:t>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includes() method returns true if an array contains a specified value. The includes() method returns false if the value is not found. The includes() method is case sensitive.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3C72D-3BD0-4A77-B82D-E31802AAD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0670" y="2970656"/>
            <a:ext cx="4725059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6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368572-272A-4622-B925-166865385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070541"/>
              </p:ext>
            </p:extLst>
          </p:nvPr>
        </p:nvGraphicFramePr>
        <p:xfrm>
          <a:off x="1883833" y="1371601"/>
          <a:ext cx="8424333" cy="4114798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2808111">
                  <a:extLst>
                    <a:ext uri="{9D8B030D-6E8A-4147-A177-3AD203B41FA5}">
                      <a16:colId xmlns:a16="http://schemas.microsoft.com/office/drawing/2014/main" val="3554041418"/>
                    </a:ext>
                  </a:extLst>
                </a:gridCol>
                <a:gridCol w="2808111">
                  <a:extLst>
                    <a:ext uri="{9D8B030D-6E8A-4147-A177-3AD203B41FA5}">
                      <a16:colId xmlns:a16="http://schemas.microsoft.com/office/drawing/2014/main" val="1784583874"/>
                    </a:ext>
                  </a:extLst>
                </a:gridCol>
                <a:gridCol w="2808111">
                  <a:extLst>
                    <a:ext uri="{9D8B030D-6E8A-4147-A177-3AD203B41FA5}">
                      <a16:colId xmlns:a16="http://schemas.microsoft.com/office/drawing/2014/main" val="1751301301"/>
                    </a:ext>
                  </a:extLst>
                </a:gridCol>
              </a:tblGrid>
              <a:tr h="523702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</a:rPr>
                        <a:t>Method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Example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extLst>
                  <a:ext uri="{0D108BD9-81ED-4DB2-BD59-A6C34878D82A}">
                    <a16:rowId xmlns:a16="http://schemas.microsoft.com/office/drawing/2014/main" val="1231327898"/>
                  </a:ext>
                </a:extLst>
              </a:tr>
              <a:tr h="1197032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</a:rPr>
                        <a:t>.indexOf(searchElement, fromIndex)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</a:rPr>
                        <a:t>Returns the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</a:rPr>
                        <a:t>first index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</a:rPr>
                        <a:t> at which a given element can be found, or -1 if it is not present.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</a:rPr>
                        <a:t>arr.indexOf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('b’) =&gt; 1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extLst>
                  <a:ext uri="{0D108BD9-81ED-4DB2-BD59-A6C34878D82A}">
                    <a16:rowId xmlns:a16="http://schemas.microsoft.com/office/drawing/2014/main" val="1192944124"/>
                  </a:ext>
                </a:extLst>
              </a:tr>
              <a:tr h="1197032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</a:rPr>
                        <a:t>.includes(searchElement)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</a:rPr>
                        <a:t>Returns a </a:t>
                      </a:r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</a:rPr>
                        <a:t>Boolean</a:t>
                      </a:r>
                      <a:r>
                        <a:rPr lang="en-US" sz="1200">
                          <a:solidFill>
                            <a:srgbClr val="1F1F1F"/>
                          </a:solidFill>
                          <a:effectLst/>
                        </a:rPr>
                        <a:t> (true or false) indicating whether an array includes a certain value.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</a:rPr>
                        <a:t>arr.includes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('b’) = &gt;  true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extLst>
                  <a:ext uri="{0D108BD9-81ED-4DB2-BD59-A6C34878D82A}">
                    <a16:rowId xmlns:a16="http://schemas.microsoft.com/office/drawing/2014/main" val="1060226925"/>
                  </a:ext>
                </a:extLst>
              </a:tr>
              <a:tr h="1197032">
                <a:tc>
                  <a:txBody>
                    <a:bodyPr/>
                    <a:lstStyle/>
                    <a:p>
                      <a:pPr rtl="0"/>
                      <a:r>
                        <a:rPr lang="en-US" sz="1200" b="1">
                          <a:solidFill>
                            <a:srgbClr val="1F1F1F"/>
                          </a:solidFill>
                          <a:effectLst/>
                        </a:rPr>
                        <a:t>.find(callback)</a:t>
                      </a:r>
                      <a:endParaRPr lang="en-US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Returns the </a:t>
                      </a:r>
                      <a:r>
                        <a:rPr lang="en-US" sz="1200" b="1" dirty="0">
                          <a:solidFill>
                            <a:srgbClr val="1F1F1F"/>
                          </a:solidFill>
                          <a:effectLst/>
                        </a:rPr>
                        <a:t>value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 of the first element in the array that satisfies the provided testing function.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dirty="0" err="1">
                          <a:solidFill>
                            <a:srgbClr val="1F1F1F"/>
                          </a:solidFill>
                          <a:effectLst/>
                        </a:rPr>
                        <a:t>arr.find</a:t>
                      </a:r>
                      <a:r>
                        <a:rPr lang="en-US" sz="1200" dirty="0">
                          <a:solidFill>
                            <a:srgbClr val="1F1F1F"/>
                          </a:solidFill>
                          <a:effectLst/>
                        </a:rPr>
                        <a:t>(user =&gt; user.id === 5)</a:t>
                      </a:r>
                      <a:endParaRPr lang="en-US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211" marR="79211" marT="52807" marB="52807" anchor="ctr"/>
                </a:tc>
                <a:extLst>
                  <a:ext uri="{0D108BD9-81ED-4DB2-BD59-A6C34878D82A}">
                    <a16:rowId xmlns:a16="http://schemas.microsoft.com/office/drawing/2014/main" val="2725872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029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5963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6666FF"/>
                </a:solidFill>
              </a:rPr>
              <a:t>Array methods</a:t>
            </a:r>
            <a:r>
              <a:rPr lang="fa-IR" sz="1600" b="1" dirty="0">
                <a:solidFill>
                  <a:srgbClr val="6666FF"/>
                </a:solidFill>
              </a:rPr>
              <a:t>:</a:t>
            </a:r>
            <a:endParaRPr lang="en-US" sz="1600" b="1" dirty="0">
              <a:solidFill>
                <a:srgbClr val="6666FF"/>
              </a:solidFill>
            </a:endParaRPr>
          </a:p>
          <a:p>
            <a:pPr>
              <a:lnSpc>
                <a:spcPct val="150000"/>
              </a:lnSpc>
            </a:pPr>
            <a:br>
              <a:rPr lang="fa-IR" sz="1600" b="1" dirty="0">
                <a:solidFill>
                  <a:srgbClr val="6666FF"/>
                </a:solidFill>
              </a:rPr>
            </a:br>
            <a:r>
              <a:rPr lang="en-US" sz="1600" b="1" dirty="0">
                <a:solidFill>
                  <a:srgbClr val="6666FF"/>
                </a:solidFill>
              </a:rPr>
              <a:t>4. Iteration and Transformation Methods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These methods often take a </a:t>
            </a:r>
            <a:r>
              <a:rPr lang="en-US" sz="1600" b="1" dirty="0"/>
              <a:t>callback function</a:t>
            </a:r>
            <a:r>
              <a:rPr lang="en-US" sz="1600" dirty="0"/>
              <a:t> as an argument and generally return a </a:t>
            </a:r>
            <a:r>
              <a:rPr lang="en-US" sz="1600" b="1" dirty="0"/>
              <a:t>new array</a:t>
            </a:r>
            <a:r>
              <a:rPr lang="en-US" sz="1600" dirty="0"/>
              <a:t> or value, leaving the original array unchanged.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6666FF"/>
                </a:solidFill>
              </a:rPr>
              <a:t>Like 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6666FF"/>
                </a:solidFill>
              </a:rPr>
              <a:t>foreach():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forEach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() method of Array that executes a provided function once for each array element.</a:t>
            </a:r>
            <a:endParaRPr lang="en-US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6666FF"/>
                </a:solidFill>
              </a:rPr>
              <a:t>map():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map() creates a new array from calling a function for every array element. map() does not execute the function for empty elements. map() does not change the original array.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6666FF"/>
                </a:solidFill>
              </a:rPr>
              <a:t>filter():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filter() method creates a new array filled with elements that pass a test provided by a function. The filter() method does not execute the function for empty elements. The filter() method does not change the original array.</a:t>
            </a:r>
            <a:endParaRPr lang="en-US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6666FF"/>
                </a:solidFill>
              </a:rPr>
              <a:t>Reduce():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reduce() method executes a reducer function for array element. The reduce() method returns a single value: the function's accumulated result. The reduce() method does not execute the function for empty array elements. The reduce() method does not change the original array.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629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8F63BD-644E-473E-B990-03AACEC78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094675"/>
              </p:ext>
            </p:extLst>
          </p:nvPr>
        </p:nvGraphicFramePr>
        <p:xfrm>
          <a:off x="1735110" y="982133"/>
          <a:ext cx="8399490" cy="450141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799830">
                  <a:extLst>
                    <a:ext uri="{9D8B030D-6E8A-4147-A177-3AD203B41FA5}">
                      <a16:colId xmlns:a16="http://schemas.microsoft.com/office/drawing/2014/main" val="3211671395"/>
                    </a:ext>
                  </a:extLst>
                </a:gridCol>
                <a:gridCol w="2799830">
                  <a:extLst>
                    <a:ext uri="{9D8B030D-6E8A-4147-A177-3AD203B41FA5}">
                      <a16:colId xmlns:a16="http://schemas.microsoft.com/office/drawing/2014/main" val="2789019643"/>
                    </a:ext>
                  </a:extLst>
                </a:gridCol>
                <a:gridCol w="2799830">
                  <a:extLst>
                    <a:ext uri="{9D8B030D-6E8A-4147-A177-3AD203B41FA5}">
                      <a16:colId xmlns:a16="http://schemas.microsoft.com/office/drawing/2014/main" val="3739706612"/>
                    </a:ext>
                  </a:extLst>
                </a:gridCol>
              </a:tblGrid>
              <a:tr h="352769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Method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Description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Example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extLst>
                  <a:ext uri="{0D108BD9-81ED-4DB2-BD59-A6C34878D82A}">
                    <a16:rowId xmlns:a16="http://schemas.microsoft.com/office/drawing/2014/main" val="2805891786"/>
                  </a:ext>
                </a:extLst>
              </a:tr>
              <a:tr h="1037161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.forEach(callback)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Executes a provided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callback function once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 for each array element.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Returns nothing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 (undefined).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arr.forEach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 =&gt; console.log(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))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extLst>
                  <a:ext uri="{0D108BD9-81ED-4DB2-BD59-A6C34878D82A}">
                    <a16:rowId xmlns:a16="http://schemas.microsoft.com/office/drawing/2014/main" val="1775617762"/>
                  </a:ext>
                </a:extLst>
              </a:tr>
              <a:tr h="809030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.map(callback)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Creates a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new array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 by applying the callback function to every element in the original array.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arr.map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 =&gt;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 * 2) = &gt; [2, 4, 6] from [1, 2, 3]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extLst>
                  <a:ext uri="{0D108BD9-81ED-4DB2-BD59-A6C34878D82A}">
                    <a16:rowId xmlns:a16="http://schemas.microsoft.com/office/drawing/2014/main" val="2979600122"/>
                  </a:ext>
                </a:extLst>
              </a:tr>
              <a:tr h="1037161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.filter(callback)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Creates a </a:t>
                      </a:r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new array</a:t>
                      </a:r>
                      <a:r>
                        <a:rPr lang="en-US" sz="1300">
                          <a:solidFill>
                            <a:srgbClr val="1F1F1F"/>
                          </a:solidFill>
                          <a:effectLst/>
                        </a:rPr>
                        <a:t> with all elements that pass the test implemented by the callback function.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arr.filter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 =&gt;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 &gt; 10) =&gt; [20, 30] from [5, 20, 30]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extLst>
                  <a:ext uri="{0D108BD9-81ED-4DB2-BD59-A6C34878D82A}">
                    <a16:rowId xmlns:a16="http://schemas.microsoft.com/office/drawing/2014/main" val="3216379824"/>
                  </a:ext>
                </a:extLst>
              </a:tr>
              <a:tr h="1265291">
                <a:tc>
                  <a:txBody>
                    <a:bodyPr/>
                    <a:lstStyle/>
                    <a:p>
                      <a:pPr rtl="0"/>
                      <a:r>
                        <a:rPr lang="en-US" sz="1300" b="1">
                          <a:solidFill>
                            <a:srgbClr val="1F1F1F"/>
                          </a:solidFill>
                          <a:effectLst/>
                        </a:rPr>
                        <a:t>.reduce(callback, initialValue)</a:t>
                      </a:r>
                      <a:endParaRPr lang="en-US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Executes a </a:t>
                      </a:r>
                      <a:r>
                        <a:rPr lang="en-US" sz="1300" b="1" dirty="0">
                          <a:solidFill>
                            <a:srgbClr val="1F1F1F"/>
                          </a:solidFill>
                          <a:effectLst/>
                        </a:rPr>
                        <a:t>reducer function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 (callback) on each element of the array, resulting in a single output value (e.g., sum, product, single object).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arr.reduce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((acc,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) =&gt; acc + </a:t>
                      </a:r>
                      <a:r>
                        <a:rPr lang="en-US" sz="1300" dirty="0" err="1">
                          <a:solidFill>
                            <a:srgbClr val="1F1F1F"/>
                          </a:solidFill>
                          <a:effectLst/>
                        </a:rPr>
                        <a:t>val</a:t>
                      </a:r>
                      <a:r>
                        <a:rPr lang="en-US" sz="1300" dirty="0">
                          <a:solidFill>
                            <a:srgbClr val="1F1F1F"/>
                          </a:solidFill>
                          <a:effectLst/>
                        </a:rPr>
                        <a:t>, 0) =&gt; sum of all elements</a:t>
                      </a:r>
                      <a:endParaRPr lang="en-US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1182" marR="81182" marT="54121" marB="54121" anchor="ctr"/>
                </a:tc>
                <a:extLst>
                  <a:ext uri="{0D108BD9-81ED-4DB2-BD59-A6C34878D82A}">
                    <a16:rowId xmlns:a16="http://schemas.microsoft.com/office/drawing/2014/main" val="4183326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33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>
            <a:extLst>
              <a:ext uri="{FF2B5EF4-FFF2-40B4-BE49-F238E27FC236}">
                <a16:creationId xmlns:a16="http://schemas.microsoft.com/office/drawing/2014/main" id="{8952029A-9AB8-4042-8B68-2369F87727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DBBF38-B2F4-4D92-9CF7-4DA4E9B3B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44" y="297932"/>
            <a:ext cx="4549456" cy="56811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4B369C-A1F2-4392-9572-8056306535F7}"/>
              </a:ext>
            </a:extLst>
          </p:cNvPr>
          <p:cNvSpPr txBox="1"/>
          <p:nvPr/>
        </p:nvSpPr>
        <p:spPr>
          <a:xfrm>
            <a:off x="7529723" y="2953832"/>
            <a:ext cx="296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err="1">
                <a:cs typeface="B Elham" panose="00000400000000000000" pitchFamily="2" charset="-78"/>
              </a:rPr>
              <a:t>لطفا</a:t>
            </a:r>
            <a:r>
              <a:rPr lang="fa-IR" dirty="0">
                <a:cs typeface="B Elham" panose="00000400000000000000" pitchFamily="2" charset="-78"/>
              </a:rPr>
              <a:t> به </a:t>
            </a:r>
            <a:r>
              <a:rPr lang="fa-IR" dirty="0" err="1">
                <a:cs typeface="B Elham" panose="00000400000000000000" pitchFamily="2" charset="-78"/>
              </a:rPr>
              <a:t>متود</a:t>
            </a:r>
            <a:r>
              <a:rPr lang="fa-IR" dirty="0">
                <a:cs typeface="B Elham" panose="00000400000000000000" pitchFamily="2" charset="-78"/>
              </a:rPr>
              <a:t> </a:t>
            </a:r>
            <a:r>
              <a:rPr lang="en-US" dirty="0">
                <a:cs typeface="B Elham" panose="00000400000000000000" pitchFamily="2" charset="-78"/>
              </a:rPr>
              <a:t> .at </a:t>
            </a:r>
            <a:r>
              <a:rPr lang="fa-IR" dirty="0">
                <a:cs typeface="B Elham" panose="00000400000000000000" pitchFamily="2" charset="-78"/>
              </a:rPr>
              <a:t>توجه نکنید 🥲</a:t>
            </a:r>
            <a:endParaRPr lang="en-US" dirty="0">
              <a:cs typeface="B Elham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3574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6009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</a:rPr>
              <a:t>Function: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Functions are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reusable block of code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designed to perform a particular task.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Functions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are executed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when they are "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called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" or "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invoked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".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JavaScript Function Syntax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endParaRPr lang="en-U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endParaRPr lang="en-U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Functions are defined with the function keyword: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followed by the function name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followed by parentheses ( 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followed by brackets { }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The function name follows the naming rules for variables.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Optional parameters are listed inside parentheses: ( p1, p2, ... ) Code to be executed is listed inside curly brackets: { } Functions can return an optional value back to the caller.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F2773-2A5F-4192-8D2F-061D76F2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919" y="2350501"/>
            <a:ext cx="3134162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301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3793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</a:rPr>
              <a:t>Function: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Functions are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reusable block of code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designed to perform a particular task.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Functions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are executed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when they are "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called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" or "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invoked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".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JavaScript Function Syntax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Functions are defined with the function keyword: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followed by the function name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followed by parentheses ( )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followed by brackets { }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10242" name="Picture 2" descr="Create a JavaScript Function ">
            <a:extLst>
              <a:ext uri="{FF2B5EF4-FFF2-40B4-BE49-F238E27FC236}">
                <a16:creationId xmlns:a16="http://schemas.microsoft.com/office/drawing/2014/main" id="{E2B54698-63D5-4BD5-9DBA-5EA4D9904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533" y="2667601"/>
            <a:ext cx="5833533" cy="338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40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157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7030A0"/>
                </a:solidFill>
              </a:rPr>
              <a:t>Function parameters and arguments: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 parameters are the names listed in the function definition.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 arguments are the real values passed to (and received by) the function.</a:t>
            </a:r>
          </a:p>
          <a:p>
            <a:pPr>
              <a:lnSpc>
                <a:spcPct val="150000"/>
              </a:lnSpc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pic>
        <p:nvPicPr>
          <p:cNvPr id="9218" name="Picture 2" descr="parameter vs arguments">
            <a:extLst>
              <a:ext uri="{FF2B5EF4-FFF2-40B4-BE49-F238E27FC236}">
                <a16:creationId xmlns:a16="http://schemas.microsoft.com/office/drawing/2014/main" id="{EB90E989-E09D-4C4D-99AF-1D78759E24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6" t="6381" r="12210" b="6862"/>
          <a:stretch/>
        </p:blipFill>
        <p:spPr bwMode="auto">
          <a:xfrm>
            <a:off x="3108960" y="2285366"/>
            <a:ext cx="5288280" cy="338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60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1069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0070C0"/>
                </a:solidFill>
                <a:effectLst/>
              </a:rPr>
              <a:t>Return function: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The return statement stops the execution of a function and returns a value. </a:t>
            </a:r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The value to be returned. If omitted, it returns undefined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592B4E19-29BA-4813-BF8B-A3F5DE44C3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C1FB3-3950-4516-8257-51FA9DE49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40" y="2205990"/>
            <a:ext cx="6896100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0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0070C0"/>
                </a:solidFill>
                <a:effectLst/>
              </a:rPr>
              <a:t>Return function:</a:t>
            </a:r>
          </a:p>
          <a:p>
            <a:pPr algn="l"/>
            <a:endParaRPr lang="en-US" b="1" i="0" dirty="0">
              <a:solidFill>
                <a:srgbClr val="0070C0"/>
              </a:solidFill>
              <a:effectLst/>
            </a:endParaRPr>
          </a:p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Arrow Functions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were introduced in 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ES6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Arrow Functions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allow a shorter syntax for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 expressions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You can skip the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function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keyword, the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return</a:t>
            </a: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 keyword, and the </a:t>
            </a:r>
            <a:r>
              <a:rPr lang="en-US" sz="1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curly brackets</a:t>
            </a:r>
            <a:r>
              <a:rPr lang="en-US" sz="1600" b="0" i="0" dirty="0">
                <a:solidFill>
                  <a:srgbClr val="DDDDDD"/>
                </a:solidFill>
                <a:effectLst/>
                <a:latin typeface="Segoe UI" panose="020B0502040204020203" pitchFamily="34" charset="0"/>
              </a:rPr>
              <a:t>:</a:t>
            </a:r>
          </a:p>
          <a:p>
            <a:pPr algn="l">
              <a:lnSpc>
                <a:spcPct val="150000"/>
              </a:lnSpc>
            </a:pPr>
            <a:endParaRPr lang="en-US" sz="1600" b="0" i="0" dirty="0">
              <a:solidFill>
                <a:srgbClr val="DDDDDD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en-US" sz="1600" b="1" i="0" dirty="0">
                <a:solidFill>
                  <a:srgbClr val="0070C0"/>
                </a:solidFill>
                <a:effectLst/>
              </a:rPr>
              <a:t>Before Arrow:</a:t>
            </a:r>
          </a:p>
          <a:p>
            <a:pPr algn="l"/>
            <a:endParaRPr lang="en-US" sz="1600" b="1" dirty="0">
              <a:solidFill>
                <a:srgbClr val="0070C0"/>
              </a:solidFill>
            </a:endParaRPr>
          </a:p>
          <a:p>
            <a:pPr algn="l"/>
            <a:endParaRPr lang="en-US" sz="1600" b="1" dirty="0">
              <a:solidFill>
                <a:srgbClr val="0070C0"/>
              </a:solidFill>
            </a:endParaRPr>
          </a:p>
          <a:p>
            <a:pPr algn="l"/>
            <a:endParaRPr lang="en-US" sz="1600" b="1" dirty="0">
              <a:solidFill>
                <a:srgbClr val="0070C0"/>
              </a:solidFill>
            </a:endParaRPr>
          </a:p>
          <a:p>
            <a:pPr algn="l"/>
            <a:br>
              <a:rPr lang="en-US" sz="1600" b="1" dirty="0">
                <a:solidFill>
                  <a:srgbClr val="0070C0"/>
                </a:solidFill>
              </a:rPr>
            </a:br>
            <a:r>
              <a:rPr lang="en-US" sz="1600" b="1" i="0" dirty="0">
                <a:solidFill>
                  <a:srgbClr val="0070C0"/>
                </a:solidFill>
                <a:effectLst/>
              </a:rPr>
              <a:t>With Arrow:</a:t>
            </a:r>
          </a:p>
          <a:p>
            <a:br>
              <a:rPr lang="en-US" sz="1600" dirty="0"/>
            </a:br>
            <a:endParaRPr lang="en-US" sz="1600" b="0" i="0" dirty="0">
              <a:solidFill>
                <a:srgbClr val="DDDDDD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592B4E19-29BA-4813-BF8B-A3F5DE44C3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6C6483-9175-4DD2-B14A-0D8388C07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30" y="3276600"/>
            <a:ext cx="4000500" cy="371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2A64A-1741-4E0C-BFBE-1F79031A1D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333"/>
          <a:stretch/>
        </p:blipFill>
        <p:spPr>
          <a:xfrm>
            <a:off x="887730" y="4494478"/>
            <a:ext cx="3152775" cy="3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72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3A004C-57F2-4831-B539-656D63523175}"/>
              </a:ext>
            </a:extLst>
          </p:cNvPr>
          <p:cNvSpPr txBox="1"/>
          <p:nvPr/>
        </p:nvSpPr>
        <p:spPr>
          <a:xfrm>
            <a:off x="788462" y="707755"/>
            <a:ext cx="10615076" cy="397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rgbClr val="993366"/>
                </a:solidFill>
                <a:effectLst/>
              </a:rPr>
              <a:t>Callbacks:</a:t>
            </a:r>
            <a:endParaRPr lang="en-US" b="1" dirty="0">
              <a:solidFill>
                <a:srgbClr val="993366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"I will call back later!“</a:t>
            </a:r>
          </a:p>
          <a:p>
            <a:pPr algn="ctr">
              <a:lnSpc>
                <a:spcPct val="150000"/>
              </a:lnSpc>
            </a:pPr>
            <a:endParaRPr lang="en-US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callback is a function passed as an argument to another function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This technique allows a function to call another function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callback function can run after another function has finished</a:t>
            </a:r>
          </a:p>
          <a:p>
            <a:pPr algn="l">
              <a:lnSpc>
                <a:spcPct val="150000"/>
              </a:lnSpc>
            </a:pPr>
            <a:endParaRPr lang="en-US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 algn="l">
              <a:lnSpc>
                <a:spcPct val="150000"/>
              </a:lnSpc>
            </a:pPr>
            <a:endParaRPr lang="en-US" b="1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pPr>
              <a:lnSpc>
                <a:spcPct val="150000"/>
              </a:lnSpc>
            </a:pPr>
            <a:br>
              <a:rPr lang="en-US" sz="1600" dirty="0"/>
            </a:br>
            <a:endParaRPr lang="en-US" sz="1600" b="0" i="0" dirty="0">
              <a:solidFill>
                <a:srgbClr val="DDDDDD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592B4E19-29BA-4813-BF8B-A3F5DE44C3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9936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A3018B-4D8A-4812-A949-B2E112E6465F}"/>
              </a:ext>
            </a:extLst>
          </p:cNvPr>
          <p:cNvSpPr txBox="1"/>
          <p:nvPr/>
        </p:nvSpPr>
        <p:spPr>
          <a:xfrm>
            <a:off x="4145279" y="4196834"/>
            <a:ext cx="48781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b="1" dirty="0">
                <a:cs typeface="B Mitra" panose="00000400000000000000" pitchFamily="2" charset="-78"/>
              </a:rPr>
              <a:t>این قسمت تو امتحان </a:t>
            </a:r>
            <a:r>
              <a:rPr lang="fa-IR" b="1" dirty="0" err="1">
                <a:cs typeface="B Mitra" panose="00000400000000000000" pitchFamily="2" charset="-78"/>
              </a:rPr>
              <a:t>تون</a:t>
            </a:r>
            <a:r>
              <a:rPr lang="fa-IR" b="1" dirty="0">
                <a:cs typeface="B Mitra" panose="00000400000000000000" pitchFamily="2" charset="-78"/>
              </a:rPr>
              <a:t> نمیاد صرفا جهت اطلاع </a:t>
            </a:r>
            <a:r>
              <a:rPr lang="fa-IR" b="1" dirty="0" err="1">
                <a:cs typeface="B Mitra" panose="00000400000000000000" pitchFamily="2" charset="-78"/>
              </a:rPr>
              <a:t>بیشترتون</a:t>
            </a:r>
            <a:r>
              <a:rPr lang="fa-IR" b="1" dirty="0">
                <a:cs typeface="B Mitra" panose="00000400000000000000" pitchFamily="2" charset="-78"/>
              </a:rPr>
              <a:t> هست  </a:t>
            </a:r>
            <a:endParaRPr lang="en-US" b="1" dirty="0">
              <a:cs typeface="B Mitra" panose="00000400000000000000" pitchFamily="2" charset="-78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0C5F09F-9523-486E-BE9C-6BAC7348E4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401C6DB-0079-4841-97AF-B08C3DC3F2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A6522064-C94F-44D4-B4C6-11AB9717A9E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203" y="3429000"/>
            <a:ext cx="1748518" cy="195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63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7953</TotalTime>
  <Words>1256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Google Sans Text</vt:lpstr>
      <vt:lpstr>Segoe UI</vt:lpstr>
      <vt:lpstr>Office Theme</vt:lpstr>
      <vt:lpstr>Special topics  Session 10    Al-Zahra university  Maryam zim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maryam.zim@PART.LOCAL</dc:creator>
  <cp:lastModifiedBy>maryam.zim@PART.LOCAL</cp:lastModifiedBy>
  <cp:revision>114</cp:revision>
  <dcterms:created xsi:type="dcterms:W3CDTF">2025-10-04T12:24:50Z</dcterms:created>
  <dcterms:modified xsi:type="dcterms:W3CDTF">2025-12-24T07:14:39Z</dcterms:modified>
</cp:coreProperties>
</file>