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256" r:id="rId3"/>
    <p:sldId id="281" r:id="rId4"/>
    <p:sldId id="294" r:id="rId5"/>
    <p:sldId id="295" r:id="rId6"/>
    <p:sldId id="296" r:id="rId7"/>
    <p:sldId id="297" r:id="rId8"/>
    <p:sldId id="289" r:id="rId9"/>
    <p:sldId id="298" r:id="rId10"/>
    <p:sldId id="299" r:id="rId11"/>
    <p:sldId id="303" r:id="rId12"/>
    <p:sldId id="304" r:id="rId13"/>
    <p:sldId id="306" r:id="rId14"/>
    <p:sldId id="307" r:id="rId15"/>
    <p:sldId id="308" r:id="rId16"/>
    <p:sldId id="309" r:id="rId17"/>
    <p:sldId id="3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0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0:40:50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1 170 24575,'64'0'0,"-6"0"-3277,27 0 0,2 0 1638,-35 0 1,3 0 1774,8 0 1,3 0-137,7 0 0,4 0 0,7 0 0,2 0 0,5 0 0,1 0 0,3 0 0,1 0 132,0 0 0,0 0-132,-29 0 0,0 0 0,0 0 0,30 0 0,0 0 0,-30 0 0,1 0 0,-1 0 0,29 0 0,-1 0 0,-7 1 0,-3-2 0,3-14 0,-7 0 0,5 8 0,-19-26 3276,-67 33-1012,-16 12-1066,-14 9-1198,-2 2 2556,-14 5-2556,11-17 0,-10 0 0,-19 1 0,-4-11 0,-28 6-713,43-7 1,-1 0 712,-5 0 0,-2 0 0,-7 0 0,-2 0 0,1 0 0,-2 0 0,-8 0 0,-1 0 0,-1 0 0,1 0 0,-2-3 0,2-2 0,3 1 0,4-1 0,21 1 0,4-1 0,-25-9 0,47 12 0,17-8 0,13 9 0,20-2 0,-3 0 1425,22 2-1425,-7-3 0,18-2 0,2 5 0,19-5 0,2 6 0,19 0 0,-43 0 0,1 0-316,1 0 1,0 0 315,-1 0 0,0 0 0,-1 0 0,-1 0 0,37-6 0,-12 4 0,-23-4 0,-26 6 0,-16-6 0,-12 4 0,-27-3 0,-5 0 631,-18 4-631,-14-4 0,-13-2 0,-12-1-698,-7-1 698,0 3 0,-2-8 0,0 4 0,2-5 0,18 8 0,13 7 0,25 0 0,16 0 0,12 0 0,7-5 0,27 3 698,4-8-698,26 3 0,-7 1 0,9 1 0,-7 5 0,17 0 0,-8 0 0,1 0 0,-3 0 0,-19 0 0,-9 0 0,-9 0 0,-16 0 0,-27 0 0,-5 0 0,-44 0 0,7 6 0,17-5 0,-3 0-1149,-4 2 0,-3 0 1149,-13-2 0,-2-2 0,-4 1 0,-1 0 0,-1 0 0,2 0-16,7 0 1,6 0 15,-15 0 0,28 0 0,47 0 0,-5 0 0,5 0 2294,-5 3-2294,5-2 35,-5 7-35,-3-6 0,-4 7 0,0-8 0,-4 2 0,-5 7 0,-8-7 0,-9 7 0,9-10 0,-6 0 0,23 0 0,-5 0 0,24 0 0,17 2 0,1-1 0,14 9 0,-8-8 0,0 9 0,-7-11 0,0 10 0,-10-9 0,4 7 0,-4-4 0,5 2 0,-5 3 0,5-5 0,-5 5 0,5-3 0,3-2 0,-4 5 0,6-3 0,-10-2 0,5 5 0,-5-9 0,5 3 0,3-3 0,4 7 0,5-5 0,0 5 0,9-7 0,3 0 0,-1 0 0,-9 0 0,-9 0 0,-10 0 0,4 0 0,-4-3 0,10 3 0,0-3 0,7 3 0,0 0 0,9 0 0,3 0 0,8 0 0,-8 3 0,-11-2 0,-16 8 0,-23-5 0,-4 3 0,-12-4 0,-3 2 0,-12 2 0,-12 5 0,-27 2-824,-5 0 824,35-9 0,0-1 0,-26 8-201,-2-11 201,44 4 0,-4-5 0,25 0 0,9 0 0,27-3 815,0 2-815,17-9 210,-12 8-210,9-5 0,-7 4 0,17 2 0,2-3 0,20 4 0,22 0 0,2 0 0,6 0 0,-36 0 0,-12 0 0,-32-6 0,-9 5 0,-3-5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3T10:40:33.9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1 32,'88'12,"4"-3,-15-9,10 6,9-4,-35-2,4-1,1-7,1-1,12 0,1-1,-9 1,-2 2,-2 1,-5 4,18 9,-1 1,-32 0,1-2,-14 0,-17-5,-7 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customXml" Target="../ink/ink2.xml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 dirty="0"/>
              <a:t>Session 4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60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7056" y="646043"/>
            <a:ext cx="6897840" cy="6512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+mj-lt"/>
              </a:rPr>
              <a:t>B</a:t>
            </a:r>
            <a:r>
              <a:rPr lang="en-US" b="1" i="0" dirty="0">
                <a:solidFill>
                  <a:srgbClr val="00B0F0"/>
                </a:solidFill>
                <a:effectLst/>
                <a:latin typeface="+mj-lt"/>
              </a:rPr>
              <a:t>order-radius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property defines the radius of the element's corners.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This property allows you to add rounded corners to elements! </a:t>
            </a:r>
            <a:endParaRPr lang="en-US" sz="1600" b="1" dirty="0">
              <a:solidFill>
                <a:srgbClr val="0070C0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rgbClr val="00B0F0"/>
                </a:solidFill>
                <a:effectLst/>
                <a:latin typeface="+mj-lt"/>
              </a:rPr>
              <a:t>Four values - border-radius: 15px 50px 30px 5px;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(first value applies to top-left corner, second value applies to top-right corner, third value applies to bottom-right corner, and fourth value applies to bottom-left corner):</a:t>
            </a: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rgbClr val="00B0F0"/>
                </a:solidFill>
                <a:effectLst/>
                <a:latin typeface="+mj-lt"/>
              </a:rPr>
              <a:t>Three values - border-radius: 15px 50px 30px;</a:t>
            </a:r>
            <a:r>
              <a:rPr lang="en-US" sz="1600" b="0" i="0" dirty="0">
                <a:solidFill>
                  <a:srgbClr val="00B0F0"/>
                </a:solidFill>
                <a:effectLst/>
                <a:latin typeface="+mj-lt"/>
              </a:rPr>
              <a:t>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(first value applies to top-left corner, second value applies to top-right and bottom-left corners, and third value applies to bottom-right corner):</a:t>
            </a: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rgbClr val="00B0F0"/>
                </a:solidFill>
                <a:effectLst/>
                <a:latin typeface="+mj-lt"/>
              </a:rPr>
              <a:t>Two values - border-radius: 15px 50px;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(first value applies to top-left and bottom-right corners, and the second value applies to top-right and bottom-left corners):</a:t>
            </a: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rgbClr val="00B0F0"/>
                </a:solidFill>
                <a:effectLst/>
                <a:latin typeface="+mj-lt"/>
              </a:rPr>
              <a:t>One value - border-radius: 15px;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(the value applies to all four corners, which are rounded equally:</a:t>
            </a:r>
          </a:p>
          <a:p>
            <a:pPr>
              <a:lnSpc>
                <a:spcPct val="150000"/>
              </a:lnSpc>
            </a:pPr>
            <a:br>
              <a:rPr lang="en-US" dirty="0">
                <a:latin typeface="+mj-lt"/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0DC3F-8938-A47E-08B6-D2F2585C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586" y="530086"/>
            <a:ext cx="1636218" cy="12390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86079D-8D3A-D72E-8EDD-F34641C6F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586" y="2026447"/>
            <a:ext cx="1636219" cy="1239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E5901-455A-7877-29AF-6D10A1B47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586" y="3541077"/>
            <a:ext cx="1636219" cy="1239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10F5FA-D8EB-C5E2-2C8F-3492C9AEF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586" y="5183243"/>
            <a:ext cx="1636218" cy="123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3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25472" y="963778"/>
            <a:ext cx="10267206" cy="1576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+mj-lt"/>
              </a:rPr>
              <a:t>Opacity: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The opacity describes the transparency, where 1 is not transparent at all, 0.5 is 50% see-through, and 0 is completely transparent.</a:t>
            </a:r>
          </a:p>
          <a:p>
            <a:pPr algn="r">
              <a:lnSpc>
                <a:spcPct val="150000"/>
              </a:lnSpc>
            </a:pPr>
            <a:r>
              <a:rPr lang="fa-IR" sz="1600" b="1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پرده </a:t>
            </a:r>
            <a:r>
              <a:rPr lang="fa-IR" sz="1600" b="1" dirty="0" err="1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هارو</a:t>
            </a:r>
            <a:r>
              <a:rPr lang="fa-IR" sz="1600" b="1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a-IR" sz="1600" b="1" dirty="0" err="1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سرکلاس</a:t>
            </a:r>
            <a:r>
              <a:rPr lang="fa-IR" sz="1600" b="1" dirty="0">
                <a:solidFill>
                  <a:srgbClr val="0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بکشیم استاد چه شکلی دیده میشه ؟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AF261-7167-4C4D-676A-F28CAE2E0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6" y="2782476"/>
            <a:ext cx="10249468" cy="2929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3687D3-5F9F-54D2-6CE6-87A9AD302007}"/>
              </a:ext>
            </a:extLst>
          </p:cNvPr>
          <p:cNvSpPr txBox="1"/>
          <p:nvPr/>
        </p:nvSpPr>
        <p:spPr>
          <a:xfrm>
            <a:off x="6748669" y="2200272"/>
            <a:ext cx="459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b="0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08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129209"/>
            <a:ext cx="11420144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2D050"/>
                </a:solidFill>
                <a:latin typeface="+mj-lt"/>
              </a:rPr>
              <a:t>Fonts</a:t>
            </a:r>
            <a:endParaRPr lang="en-US" b="1" i="0" dirty="0">
              <a:solidFill>
                <a:srgbClr val="92D05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fa-IR" dirty="0">
                <a:latin typeface="+mj-lt"/>
              </a:rPr>
              <a:t> </a:t>
            </a:r>
            <a:r>
              <a:rPr lang="en-US" b="1" dirty="0"/>
              <a:t>CSS Fonts</a:t>
            </a:r>
            <a:r>
              <a:rPr lang="en-US" dirty="0"/>
              <a:t> are a set of properties used to control the appearance, style, size, and weight of text on a web page. They allow web designers to select the specific typeface (font family) that the browser should use to display text, ensuring consistency and enhancing readability across different devices.</a:t>
            </a:r>
            <a:br>
              <a:rPr lang="en-US" dirty="0">
                <a:latin typeface="+mj-lt"/>
              </a:rPr>
            </a:br>
            <a:r>
              <a:rPr lang="en-US" dirty="0"/>
              <a:t>Here are the most important CSS properties used for controlling text: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BD6E00-C0D2-B176-2749-F7C184A16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931410"/>
              </p:ext>
            </p:extLst>
          </p:nvPr>
        </p:nvGraphicFramePr>
        <p:xfrm>
          <a:off x="463825" y="2453694"/>
          <a:ext cx="10956234" cy="415825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652078">
                  <a:extLst>
                    <a:ext uri="{9D8B030D-6E8A-4147-A177-3AD203B41FA5}">
                      <a16:colId xmlns:a16="http://schemas.microsoft.com/office/drawing/2014/main" val="2919254879"/>
                    </a:ext>
                  </a:extLst>
                </a:gridCol>
                <a:gridCol w="3652078">
                  <a:extLst>
                    <a:ext uri="{9D8B030D-6E8A-4147-A177-3AD203B41FA5}">
                      <a16:colId xmlns:a16="http://schemas.microsoft.com/office/drawing/2014/main" val="2941938760"/>
                    </a:ext>
                  </a:extLst>
                </a:gridCol>
                <a:gridCol w="3652078">
                  <a:extLst>
                    <a:ext uri="{9D8B030D-6E8A-4147-A177-3AD203B41FA5}">
                      <a16:colId xmlns:a16="http://schemas.microsoft.com/office/drawing/2014/main" val="661309296"/>
                    </a:ext>
                  </a:extLst>
                </a:gridCol>
              </a:tblGrid>
              <a:tr h="302559">
                <a:tc>
                  <a:txBody>
                    <a:bodyPr/>
                    <a:lstStyle/>
                    <a:p>
                      <a:pPr rtl="0"/>
                      <a:r>
                        <a:rPr lang="en-US" sz="1300" b="1" dirty="0">
                          <a:solidFill>
                            <a:srgbClr val="1B1C1D"/>
                          </a:solidFill>
                          <a:effectLst/>
                        </a:rPr>
                        <a:t>Property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Example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extLst>
                  <a:ext uri="{0D108BD9-81ED-4DB2-BD59-A6C34878D82A}">
                    <a16:rowId xmlns:a16="http://schemas.microsoft.com/office/drawing/2014/main" val="1464315894"/>
                  </a:ext>
                </a:extLst>
              </a:tr>
              <a:tr h="691563">
                <a:tc>
                  <a:txBody>
                    <a:bodyPr/>
                    <a:lstStyle/>
                    <a:p>
                      <a:pPr rtl="0"/>
                      <a:r>
                        <a:rPr lang="en-US" sz="1300" b="1" dirty="0">
                          <a:solidFill>
                            <a:srgbClr val="1B1C1D"/>
                          </a:solidFill>
                          <a:effectLst/>
                        </a:rPr>
                        <a:t>font-family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Specifies the </a:t>
                      </a:r>
                      <a:r>
                        <a:rPr lang="en-US" sz="1300" b="1" dirty="0">
                          <a:solidFill>
                            <a:srgbClr val="1B1C1D"/>
                          </a:solidFill>
                          <a:effectLst/>
                        </a:rPr>
                        <a:t>typeface</a:t>
                      </a:r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 (font name) to be used. It can list several font names as a fallback system.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font-family: Arial, sans-serif;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extLst>
                  <a:ext uri="{0D108BD9-81ED-4DB2-BD59-A6C34878D82A}">
                    <a16:rowId xmlns:a16="http://schemas.microsoft.com/office/drawing/2014/main" val="1414663251"/>
                  </a:ext>
                </a:extLst>
              </a:tr>
              <a:tr h="886066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font-size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Sets the </a:t>
                      </a:r>
                      <a:r>
                        <a:rPr lang="en-US" sz="1300" b="1" dirty="0">
                          <a:solidFill>
                            <a:srgbClr val="1B1C1D"/>
                          </a:solidFill>
                          <a:effectLst/>
                        </a:rPr>
                        <a:t>size</a:t>
                      </a:r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 of the text. Can be defined using pixels (</a:t>
                      </a:r>
                      <a:r>
                        <a:rPr lang="en-US" sz="1300" dirty="0" err="1">
                          <a:solidFill>
                            <a:srgbClr val="1B1C1D"/>
                          </a:solidFill>
                          <a:effectLst/>
                        </a:rPr>
                        <a:t>px</a:t>
                      </a:r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), relative units (</a:t>
                      </a:r>
                      <a:r>
                        <a:rPr lang="en-US" sz="1300" dirty="0" err="1">
                          <a:solidFill>
                            <a:srgbClr val="1B1C1D"/>
                          </a:solidFill>
                          <a:effectLst/>
                        </a:rPr>
                        <a:t>em</a:t>
                      </a:r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, rem), or percentages (%).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font-size: 16px;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extLst>
                  <a:ext uri="{0D108BD9-81ED-4DB2-BD59-A6C34878D82A}">
                    <a16:rowId xmlns:a16="http://schemas.microsoft.com/office/drawing/2014/main" val="1948451847"/>
                  </a:ext>
                </a:extLst>
              </a:tr>
              <a:tr h="886066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font-weight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Controls the </a:t>
                      </a:r>
                      <a:r>
                        <a:rPr lang="en-US" sz="1300" b="1" dirty="0">
                          <a:solidFill>
                            <a:srgbClr val="1B1C1D"/>
                          </a:solidFill>
                          <a:effectLst/>
                        </a:rPr>
                        <a:t>thickness</a:t>
                      </a:r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 or boldness of characters. Values are typically keywords (bold, normal) or numbers (100 to 900).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font-weight: bold;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extLst>
                  <a:ext uri="{0D108BD9-81ED-4DB2-BD59-A6C34878D82A}">
                    <a16:rowId xmlns:a16="http://schemas.microsoft.com/office/drawing/2014/main" val="2444131236"/>
                  </a:ext>
                </a:extLst>
              </a:tr>
              <a:tr h="691563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font-style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Specifies whether the font should be displayed in a </a:t>
                      </a:r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normal</a:t>
                      </a:r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, italic, or oblique face.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font-style: italic;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extLst>
                  <a:ext uri="{0D108BD9-81ED-4DB2-BD59-A6C34878D82A}">
                    <a16:rowId xmlns:a16="http://schemas.microsoft.com/office/drawing/2014/main" val="2307697285"/>
                  </a:ext>
                </a:extLst>
              </a:tr>
              <a:tr h="691563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line-height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Sets the </a:t>
                      </a:r>
                      <a:r>
                        <a:rPr lang="en-US" sz="1300" b="1">
                          <a:solidFill>
                            <a:srgbClr val="1B1C1D"/>
                          </a:solidFill>
                          <a:effectLst/>
                        </a:rPr>
                        <a:t>height of a line</a:t>
                      </a:r>
                      <a:r>
                        <a:rPr lang="en-US" sz="1300">
                          <a:solidFill>
                            <a:srgbClr val="1B1C1D"/>
                          </a:solidFill>
                          <a:effectLst/>
                        </a:rPr>
                        <a:t> of text, which determines the vertical space between lines (leading).</a:t>
                      </a:r>
                      <a:endParaRPr lang="en-US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>
                          <a:solidFill>
                            <a:srgbClr val="1B1C1D"/>
                          </a:solidFill>
                          <a:effectLst/>
                        </a:rPr>
                        <a:t>line-height: 1.5;</a:t>
                      </a:r>
                      <a:endParaRPr lang="en-US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87" marR="84987" marT="56658" marB="56658" anchor="ctr"/>
                </a:tc>
                <a:extLst>
                  <a:ext uri="{0D108BD9-81ED-4DB2-BD59-A6C34878D82A}">
                    <a16:rowId xmlns:a16="http://schemas.microsoft.com/office/drawing/2014/main" val="300899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04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129209"/>
            <a:ext cx="11420144" cy="2773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+mj-lt"/>
              </a:rPr>
              <a:t>At-rules:</a:t>
            </a:r>
            <a:endParaRPr lang="en-US" b="1" i="0" dirty="0">
              <a:solidFill>
                <a:srgbClr val="C00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At-rules</a:t>
            </a:r>
            <a:r>
              <a:rPr lang="en-US" sz="1600" dirty="0">
                <a:latin typeface="+mj-lt"/>
              </a:rPr>
              <a:t> are special commands in </a:t>
            </a:r>
            <a:r>
              <a:rPr lang="en-US" sz="1600" b="1" dirty="0">
                <a:latin typeface="+mj-lt"/>
              </a:rPr>
              <a:t>CSS</a:t>
            </a:r>
            <a:r>
              <a:rPr lang="en-US" sz="1600" dirty="0">
                <a:latin typeface="+mj-lt"/>
              </a:rPr>
              <a:t> that start with an at symbol (@). They instruct the CSS engine on how to behave, such as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importing external stylesheets</a:t>
            </a:r>
            <a:r>
              <a:rPr lang="en-US" sz="1600" dirty="0">
                <a:latin typeface="+mj-lt"/>
              </a:rPr>
              <a:t>, defining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custom fonts</a:t>
            </a:r>
            <a:r>
              <a:rPr lang="en-US" sz="1600" dirty="0">
                <a:latin typeface="+mj-lt"/>
              </a:rPr>
              <a:t>, or managing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keyframe</a:t>
            </a:r>
            <a:r>
              <a:rPr lang="en-US" sz="1600" dirty="0">
                <a:latin typeface="+mj-lt"/>
              </a:rPr>
              <a:t> animations.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@font-face:</a:t>
            </a:r>
            <a:br>
              <a:rPr lang="en-US" sz="1600" dirty="0">
                <a:solidFill>
                  <a:srgbClr val="C00000"/>
                </a:solidFill>
                <a:latin typeface="+mj-lt"/>
              </a:rPr>
            </a:br>
            <a:r>
              <a:rPr lang="en-US" sz="1600" dirty="0">
                <a:latin typeface="+mj-lt"/>
              </a:rPr>
              <a:t>This is a type of at-rules that allows you to define and load </a:t>
            </a:r>
            <a:r>
              <a:rPr lang="en-US" sz="1600" b="1" dirty="0">
                <a:latin typeface="+mj-lt"/>
              </a:rPr>
              <a:t>custom web fonts</a:t>
            </a:r>
            <a:r>
              <a:rPr lang="en-US" sz="1600" dirty="0">
                <a:latin typeface="+mj-lt"/>
              </a:rPr>
              <a:t> that are not necessarily installed on the user's computer.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72080-8E93-D135-C9D8-0696B12A52C5}"/>
              </a:ext>
            </a:extLst>
          </p:cNvPr>
          <p:cNvSpPr txBox="1"/>
          <p:nvPr/>
        </p:nvSpPr>
        <p:spPr>
          <a:xfrm>
            <a:off x="463825" y="2229122"/>
            <a:ext cx="71387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@font-face {</a:t>
            </a:r>
          </a:p>
          <a:p>
            <a:r>
              <a:rPr lang="en-US" dirty="0"/>
              <a:t>  font-family: '</a:t>
            </a:r>
            <a:r>
              <a:rPr lang="en-US" dirty="0" err="1"/>
              <a:t>MyCustomFont</a:t>
            </a:r>
            <a:r>
              <a:rPr lang="en-US" dirty="0"/>
              <a:t>';</a:t>
            </a:r>
          </a:p>
          <a:p>
            <a:r>
              <a:rPr lang="en-US" dirty="0"/>
              <a:t>  </a:t>
            </a:r>
            <a:r>
              <a:rPr lang="en-US" dirty="0" err="1"/>
              <a:t>src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local</a:t>
            </a:r>
            <a:r>
              <a:rPr lang="en-US" dirty="0"/>
              <a:t>(’custom-font’)  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/>
              <a:t>('fonts/custom-font.woff2') </a:t>
            </a:r>
            <a:r>
              <a:rPr lang="en-US" dirty="0">
                <a:solidFill>
                  <a:srgbClr val="C00000"/>
                </a:solidFill>
              </a:rPr>
              <a:t>format</a:t>
            </a:r>
            <a:r>
              <a:rPr lang="en-US" dirty="0"/>
              <a:t>('woff2');</a:t>
            </a:r>
          </a:p>
          <a:p>
            <a:r>
              <a:rPr lang="en-US" dirty="0"/>
              <a:t>  font-weight: 400;</a:t>
            </a:r>
          </a:p>
          <a:p>
            <a:r>
              <a:rPr lang="en-US" dirty="0"/>
              <a:t>  font-style: normal;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556A7-A8E5-4253-B6E4-98CD352E96A1}"/>
              </a:ext>
            </a:extLst>
          </p:cNvPr>
          <p:cNvSpPr txBox="1"/>
          <p:nvPr/>
        </p:nvSpPr>
        <p:spPr>
          <a:xfrm>
            <a:off x="463825" y="4171320"/>
            <a:ext cx="8937764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Using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local()</a:t>
            </a:r>
            <a:r>
              <a:rPr lang="en-US" sz="1600" dirty="0">
                <a:latin typeface="+mj-lt"/>
              </a:rPr>
              <a:t> and </a:t>
            </a:r>
            <a:r>
              <a:rPr lang="en-US" sz="1600" dirty="0" err="1">
                <a:solidFill>
                  <a:srgbClr val="C00000"/>
                </a:solidFill>
                <a:latin typeface="+mj-lt"/>
              </a:rPr>
              <a:t>url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()</a:t>
            </a:r>
            <a:r>
              <a:rPr lang="en-US" sz="1600" dirty="0">
                <a:latin typeface="+mj-lt"/>
              </a:rPr>
              <a:t> is common. Why?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Because if the font is on the user's system, it uses the installed version, and if it is not, it downloads it using the </a:t>
            </a:r>
            <a:r>
              <a:rPr lang="en-US" sz="1600" dirty="0" err="1">
                <a:latin typeface="+mj-lt"/>
              </a:rPr>
              <a:t>url</a:t>
            </a:r>
            <a:r>
              <a:rPr lang="en-US" sz="16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format()</a:t>
            </a:r>
            <a:r>
              <a:rPr lang="en-US" sz="1600" dirty="0">
                <a:latin typeface="+mj-lt"/>
              </a:rPr>
              <a:t> descriptor within the @font-face rule's </a:t>
            </a:r>
            <a:r>
              <a:rPr lang="en-US" sz="1600" dirty="0" err="1">
                <a:latin typeface="+mj-lt"/>
              </a:rPr>
              <a:t>src</a:t>
            </a:r>
            <a:r>
              <a:rPr lang="en-US" sz="1600" dirty="0">
                <a:latin typeface="+mj-lt"/>
              </a:rPr>
              <a:t> property is a crucial component for loading custom web fonts efficiently and ensuring cross-browser compatibility.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429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E26A19-3F3B-1BED-D1E8-ADA168763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1095"/>
              </p:ext>
            </p:extLst>
          </p:nvPr>
        </p:nvGraphicFramePr>
        <p:xfrm>
          <a:off x="1856961" y="1888435"/>
          <a:ext cx="8478078" cy="393589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239039">
                  <a:extLst>
                    <a:ext uri="{9D8B030D-6E8A-4147-A177-3AD203B41FA5}">
                      <a16:colId xmlns:a16="http://schemas.microsoft.com/office/drawing/2014/main" val="2560768596"/>
                    </a:ext>
                  </a:extLst>
                </a:gridCol>
                <a:gridCol w="4239039">
                  <a:extLst>
                    <a:ext uri="{9D8B030D-6E8A-4147-A177-3AD203B41FA5}">
                      <a16:colId xmlns:a16="http://schemas.microsoft.com/office/drawing/2014/main" val="1723949822"/>
                    </a:ext>
                  </a:extLst>
                </a:gridCol>
              </a:tblGrid>
              <a:tr h="544394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</a:rPr>
                        <a:t>Font Format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</a:rPr>
                        <a:t>format() Value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extLst>
                  <a:ext uri="{0D108BD9-81ED-4DB2-BD59-A6C34878D82A}">
                    <a16:rowId xmlns:a16="http://schemas.microsoft.com/office/drawing/2014/main" val="4251784686"/>
                  </a:ext>
                </a:extLst>
              </a:tr>
              <a:tr h="867610">
                <a:tc>
                  <a:txBody>
                    <a:bodyPr/>
                    <a:lstStyle/>
                    <a:p>
                      <a:pPr rtl="0"/>
                      <a:r>
                        <a:rPr lang="en-US" sz="1100" b="1" dirty="0">
                          <a:solidFill>
                            <a:srgbClr val="1B1C1D"/>
                          </a:solidFill>
                          <a:effectLst/>
                        </a:rPr>
                        <a:t>WOFF2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solidFill>
                            <a:srgbClr val="1B1C1D"/>
                          </a:solidFill>
                          <a:effectLst/>
                        </a:rPr>
                        <a:t>woff2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extLst>
                  <a:ext uri="{0D108BD9-81ED-4DB2-BD59-A6C34878D82A}">
                    <a16:rowId xmlns:a16="http://schemas.microsoft.com/office/drawing/2014/main" val="125190625"/>
                  </a:ext>
                </a:extLst>
              </a:tr>
              <a:tr h="741083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B1C1D"/>
                          </a:solidFill>
                          <a:effectLst/>
                        </a:rPr>
                        <a:t>WOFF</a:t>
                      </a:r>
                      <a:endParaRPr lang="en-US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 err="1">
                          <a:solidFill>
                            <a:srgbClr val="1B1C1D"/>
                          </a:solidFill>
                          <a:effectLst/>
                        </a:rPr>
                        <a:t>woff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extLst>
                  <a:ext uri="{0D108BD9-81ED-4DB2-BD59-A6C34878D82A}">
                    <a16:rowId xmlns:a16="http://schemas.microsoft.com/office/drawing/2014/main" val="3043859349"/>
                  </a:ext>
                </a:extLst>
              </a:tr>
              <a:tr h="850263">
                <a:tc>
                  <a:txBody>
                    <a:bodyPr/>
                    <a:lstStyle/>
                    <a:p>
                      <a:pPr rtl="0"/>
                      <a:r>
                        <a:rPr lang="en-US" sz="1100" b="1" dirty="0">
                          <a:solidFill>
                            <a:srgbClr val="1B1C1D"/>
                          </a:solidFill>
                          <a:effectLst/>
                        </a:rPr>
                        <a:t>TTF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 err="1">
                          <a:solidFill>
                            <a:srgbClr val="1B1C1D"/>
                          </a:solidFill>
                          <a:effectLst/>
                        </a:rPr>
                        <a:t>truetype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extLst>
                  <a:ext uri="{0D108BD9-81ED-4DB2-BD59-A6C34878D82A}">
                    <a16:rowId xmlns:a16="http://schemas.microsoft.com/office/drawing/2014/main" val="2385775100"/>
                  </a:ext>
                </a:extLst>
              </a:tr>
              <a:tr h="932547">
                <a:tc>
                  <a:txBody>
                    <a:bodyPr/>
                    <a:lstStyle/>
                    <a:p>
                      <a:pPr rtl="0"/>
                      <a:r>
                        <a:rPr lang="en-US" sz="1100" b="1">
                          <a:solidFill>
                            <a:srgbClr val="1B1C1D"/>
                          </a:solidFill>
                          <a:effectLst/>
                        </a:rPr>
                        <a:t>OpenType (OTF)</a:t>
                      </a:r>
                      <a:endParaRPr lang="en-US" sz="11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 err="1">
                          <a:solidFill>
                            <a:srgbClr val="1B1C1D"/>
                          </a:solidFill>
                          <a:effectLst/>
                        </a:rPr>
                        <a:t>opentype</a:t>
                      </a:r>
                      <a:endParaRPr lang="en-US" sz="11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0032" marR="70032" marT="46688" marB="46688" anchor="ctr"/>
                </a:tc>
                <a:extLst>
                  <a:ext uri="{0D108BD9-81ED-4DB2-BD59-A6C34878D82A}">
                    <a16:rowId xmlns:a16="http://schemas.microsoft.com/office/drawing/2014/main" val="246949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946FF9-DDB1-DDF0-2DAF-22E963CA627D}"/>
              </a:ext>
            </a:extLst>
          </p:cNvPr>
          <p:cNvSpPr txBox="1"/>
          <p:nvPr/>
        </p:nvSpPr>
        <p:spPr>
          <a:xfrm>
            <a:off x="991428" y="946544"/>
            <a:ext cx="9245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Here are the most common font file formats and the strings you use in the format() descriptor:</a:t>
            </a:r>
          </a:p>
        </p:txBody>
      </p:sp>
    </p:spTree>
    <p:extLst>
      <p:ext uri="{BB962C8B-B14F-4D97-AF65-F5344CB8AC3E}">
        <p14:creationId xmlns:p14="http://schemas.microsoft.com/office/powerpoint/2010/main" val="180030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93034" y="735496"/>
            <a:ext cx="11420144" cy="235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C000"/>
                </a:solidFill>
                <a:latin typeface="+mj-lt"/>
              </a:rPr>
              <a:t>Display:</a:t>
            </a:r>
            <a:endParaRPr lang="en-US" b="1" i="0" dirty="0">
              <a:solidFill>
                <a:srgbClr val="FFC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Display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sz="1600" dirty="0">
                <a:latin typeface="+mj-lt"/>
              </a:rPr>
              <a:t>defines </a:t>
            </a:r>
            <a:r>
              <a:rPr lang="en-US" sz="1600" b="1" dirty="0">
                <a:latin typeface="+mj-lt"/>
              </a:rPr>
              <a:t>how an HTML element is rendered</a:t>
            </a:r>
            <a:r>
              <a:rPr lang="en-US" sz="1600" dirty="0">
                <a:latin typeface="+mj-lt"/>
              </a:rPr>
              <a:t> by the browser and how it interacts with its surrounding elements (its layout behavior).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Every HTML element has a default display value (like block for &lt;div&gt; or inline for &lt;span&gt;), but you can override this with CSS to change its behavior.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A26716-B8E2-9720-4669-890E2D0AC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348"/>
          <a:stretch/>
        </p:blipFill>
        <p:spPr bwMode="auto">
          <a:xfrm>
            <a:off x="3864389" y="2663686"/>
            <a:ext cx="3834535" cy="360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02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550F5-3C86-73C6-0951-BBA0C6D95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18613"/>
              </p:ext>
            </p:extLst>
          </p:nvPr>
        </p:nvGraphicFramePr>
        <p:xfrm>
          <a:off x="721507" y="199547"/>
          <a:ext cx="10211536" cy="616899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552884">
                  <a:extLst>
                    <a:ext uri="{9D8B030D-6E8A-4147-A177-3AD203B41FA5}">
                      <a16:colId xmlns:a16="http://schemas.microsoft.com/office/drawing/2014/main" val="1081634367"/>
                    </a:ext>
                  </a:extLst>
                </a:gridCol>
                <a:gridCol w="2552884">
                  <a:extLst>
                    <a:ext uri="{9D8B030D-6E8A-4147-A177-3AD203B41FA5}">
                      <a16:colId xmlns:a16="http://schemas.microsoft.com/office/drawing/2014/main" val="3320403016"/>
                    </a:ext>
                  </a:extLst>
                </a:gridCol>
                <a:gridCol w="2552884">
                  <a:extLst>
                    <a:ext uri="{9D8B030D-6E8A-4147-A177-3AD203B41FA5}">
                      <a16:colId xmlns:a16="http://schemas.microsoft.com/office/drawing/2014/main" val="777829166"/>
                    </a:ext>
                  </a:extLst>
                </a:gridCol>
                <a:gridCol w="2552884">
                  <a:extLst>
                    <a:ext uri="{9D8B030D-6E8A-4147-A177-3AD203B41FA5}">
                      <a16:colId xmlns:a16="http://schemas.microsoft.com/office/drawing/2014/main" val="3021944183"/>
                    </a:ext>
                  </a:extLst>
                </a:gridCol>
              </a:tblGrid>
              <a:tr h="331178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Value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Behavior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Characteristics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Default Examples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875169"/>
                  </a:ext>
                </a:extLst>
              </a:tr>
              <a:tr h="868892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block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Takes up the full available width, forcing a line break before and after it.</a:t>
                      </a: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Respects all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height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margin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, and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padding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properties. Stacks vertically.</a:t>
                      </a: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&lt;div&gt;, &lt;p&gt;, &lt;h1…6&gt;</a:t>
                      </a:r>
                    </a:p>
                  </a:txBody>
                  <a:tcPr marL="99497" marR="99497" marT="66331" marB="66331" anchor="ctr"/>
                </a:tc>
                <a:extLst>
                  <a:ext uri="{0D108BD9-81ED-4DB2-BD59-A6C34878D82A}">
                    <a16:rowId xmlns:a16="http://schemas.microsoft.com/office/drawing/2014/main" val="1973147115"/>
                  </a:ext>
                </a:extLst>
              </a:tr>
              <a:tr h="1403610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inline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Takes up only the necessary width, flowing with the text.</a:t>
                      </a: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Ignores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set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and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height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.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Vertical margin/padding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is ignored (but horizontal is respected). Flows horizontally.</a:t>
                      </a: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&lt;span&gt;, &lt;a&gt;, &lt;strong&gt;</a:t>
                      </a:r>
                    </a:p>
                  </a:txBody>
                  <a:tcPr marL="99497" marR="99497" marT="66331" marB="66331" anchor="ctr"/>
                </a:tc>
                <a:extLst>
                  <a:ext uri="{0D108BD9-81ED-4DB2-BD59-A6C34878D82A}">
                    <a16:rowId xmlns:a16="http://schemas.microsoft.com/office/drawing/2014/main" val="39940288"/>
                  </a:ext>
                </a:extLst>
              </a:tr>
              <a:tr h="1189124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inline-block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Flows horizontally like an inline element but retains the box model properties of a block element.</a:t>
                      </a: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Respects all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height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margin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, and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padding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properties. Flows horizontally with surrounding content.</a:t>
                      </a:r>
                    </a:p>
                  </a:txBody>
                  <a:tcPr marL="99497" marR="99497" marT="66331" marB="6633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&lt;</a:t>
                      </a: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img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&gt; , &lt;button&gt; , &lt;input&gt;</a:t>
                      </a:r>
                    </a:p>
                  </a:txBody>
                  <a:tcPr marL="99497" marR="99497" marT="66331" marB="66331" anchor="ctr"/>
                </a:tc>
                <a:extLst>
                  <a:ext uri="{0D108BD9-81ED-4DB2-BD59-A6C34878D82A}">
                    <a16:rowId xmlns:a16="http://schemas.microsoft.com/office/drawing/2014/main" val="2613608380"/>
                  </a:ext>
                </a:extLst>
              </a:tr>
              <a:tr h="1060107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flex</a:t>
                      </a:r>
                    </a:p>
                  </a:txBody>
                  <a:tcPr marL="99497" marR="99497" marT="66331" marB="66331" anchor="ctr"/>
                </a:tc>
                <a:tc gridSpan="3"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latin typeface="+mj-lt"/>
                        </a:rPr>
                        <a:t>This activates the Flexbox layout model. The element becomes a flex container, and its direct children become flex items. Flexbox is designed for one-dimensional layouts (arranging items in a row or a column) and is excellent for navigation, aligning items, and distributing space.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extLst>
                  <a:ext uri="{0D108BD9-81ED-4DB2-BD59-A6C34878D82A}">
                    <a16:rowId xmlns:a16="http://schemas.microsoft.com/office/drawing/2014/main" val="3674457465"/>
                  </a:ext>
                </a:extLst>
              </a:tr>
              <a:tr h="1060107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none</a:t>
                      </a:r>
                    </a:p>
                  </a:txBody>
                  <a:tcPr marL="99497" marR="99497" marT="66331" marB="66331" anchor="ctr"/>
                </a:tc>
                <a:tc gridSpan="3">
                  <a:txBody>
                    <a:bodyPr/>
                    <a:lstStyle/>
                    <a:p>
                      <a:pPr rtl="0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This completely removes the element from the document flow. It is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not rendered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, and it does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occupy any space. It's often used in JavaScript to hide/show elements.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99497" marR="99497" marT="66331" marB="66331" anchor="ctr"/>
                </a:tc>
                <a:extLst>
                  <a:ext uri="{0D108BD9-81ED-4DB2-BD59-A6C34878D82A}">
                    <a16:rowId xmlns:a16="http://schemas.microsoft.com/office/drawing/2014/main" val="4135512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61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139148"/>
            <a:ext cx="11420144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box: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Flexbox is a CSS one-dimensional layout model designed to help you efficiently arrange, align, and distribute space among items in a container, even when the size of those items is unknown or dynamic.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Core Concepts: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Flexbox operates on the relationship between a </a:t>
            </a:r>
            <a:r>
              <a:rPr lang="en-US" sz="1600" b="1" dirty="0">
                <a:latin typeface="+mj-lt"/>
              </a:rPr>
              <a:t>container</a:t>
            </a:r>
            <a:r>
              <a:rPr lang="en-US" sz="1600" dirty="0">
                <a:latin typeface="+mj-lt"/>
              </a:rPr>
              <a:t> and its </a:t>
            </a:r>
            <a:r>
              <a:rPr lang="en-US" sz="1600" b="1" dirty="0">
                <a:latin typeface="+mj-lt"/>
              </a:rPr>
              <a:t>items</a:t>
            </a:r>
            <a:r>
              <a:rPr lang="en-US" sz="1600" dirty="0">
                <a:latin typeface="+mj-lt"/>
              </a:rPr>
              <a:t>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Flex Container</a:t>
            </a:r>
            <a:r>
              <a:rPr lang="en-US" sz="1600" b="1" dirty="0">
                <a:latin typeface="+mj-lt"/>
              </a:rPr>
              <a:t>:</a:t>
            </a:r>
            <a:r>
              <a:rPr lang="en-US" sz="1600" dirty="0">
                <a:latin typeface="+mj-lt"/>
              </a:rPr>
              <a:t> The parent element on which you apply </a:t>
            </a:r>
            <a:r>
              <a:rPr lang="en-US" sz="1600" dirty="0">
                <a:solidFill>
                  <a:srgbClr val="7030A0"/>
                </a:solidFill>
                <a:latin typeface="+mj-lt"/>
              </a:rPr>
              <a:t>display: flex</a:t>
            </a:r>
            <a:r>
              <a:rPr lang="en-US" sz="1600" dirty="0">
                <a:latin typeface="+mj-lt"/>
              </a:rPr>
              <a:t>. This element controls the layout behavior of its direct children.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Flex Items: </a:t>
            </a:r>
            <a:r>
              <a:rPr lang="en-US" sz="1600" dirty="0">
                <a:latin typeface="+mj-lt"/>
              </a:rPr>
              <a:t>The direct children of the flex container. Their positioning and sizing are controlled by the container's properties.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Main Axis: </a:t>
            </a:r>
            <a:r>
              <a:rPr lang="en-US" sz="1600" dirty="0">
                <a:latin typeface="+mj-lt"/>
              </a:rPr>
              <a:t>The primary direction in which flex items are laid out (either horizontally as a </a:t>
            </a:r>
            <a:r>
              <a:rPr lang="en-US" sz="1600" b="1" dirty="0">
                <a:latin typeface="+mj-lt"/>
              </a:rPr>
              <a:t>row</a:t>
            </a:r>
            <a:r>
              <a:rPr lang="en-US" sz="1600" dirty="0">
                <a:latin typeface="+mj-lt"/>
              </a:rPr>
              <a:t> or vertically as a </a:t>
            </a:r>
            <a:r>
              <a:rPr lang="en-US" sz="1600" b="1" dirty="0">
                <a:latin typeface="+mj-lt"/>
              </a:rPr>
              <a:t>column</a:t>
            </a:r>
            <a:r>
              <a:rPr lang="en-US" sz="1600" dirty="0">
                <a:latin typeface="+mj-lt"/>
              </a:rPr>
              <a:t>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Cross Axis:</a:t>
            </a:r>
            <a:r>
              <a:rPr lang="en-US" sz="1600" dirty="0">
                <a:solidFill>
                  <a:srgbClr val="7030A0"/>
                </a:solidFill>
                <a:latin typeface="+mj-lt"/>
              </a:rPr>
              <a:t> </a:t>
            </a:r>
            <a:r>
              <a:rPr lang="en-US" sz="1600" dirty="0">
                <a:latin typeface="+mj-lt"/>
              </a:rPr>
              <a:t>The axis perpendicular to the main axis.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146" name="Picture 2" descr="Learn CSS Flexbox: A Beginner's Guide - ProCoder 09">
            <a:extLst>
              <a:ext uri="{FF2B5EF4-FFF2-40B4-BE49-F238E27FC236}">
                <a16:creationId xmlns:a16="http://schemas.microsoft.com/office/drawing/2014/main" id="{66D38287-D401-B785-939F-A78B8B7E9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983" y="3269975"/>
            <a:ext cx="5707268" cy="321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16A767-3E02-F2A3-A78D-D973110AEEE5}"/>
                  </a:ext>
                </a:extLst>
              </p14:cNvPr>
              <p14:cNvContentPartPr/>
              <p14:nvPr/>
            </p14:nvContentPartPr>
            <p14:xfrm>
              <a:off x="9447230" y="3691659"/>
              <a:ext cx="972000" cy="107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16A767-3E02-F2A3-A78D-D973110AEE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11590" y="3655659"/>
                <a:ext cx="104364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5823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326942"/>
            <a:ext cx="11420144" cy="1946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 properties applied to the container control the </a:t>
            </a:r>
            <a:r>
              <a:rPr lang="en-US" sz="1600" b="1" dirty="0">
                <a:latin typeface="+mj-lt"/>
              </a:rPr>
              <a:t>direction</a:t>
            </a:r>
            <a:r>
              <a:rPr lang="en-US" sz="1600" dirty="0">
                <a:latin typeface="+mj-lt"/>
              </a:rPr>
              <a:t>, </a:t>
            </a:r>
            <a:r>
              <a:rPr lang="en-US" sz="1600" b="1" dirty="0">
                <a:latin typeface="+mj-lt"/>
              </a:rPr>
              <a:t>alignment</a:t>
            </a:r>
            <a:r>
              <a:rPr lang="en-US" sz="1600" dirty="0">
                <a:latin typeface="+mj-lt"/>
              </a:rPr>
              <a:t>, and </a:t>
            </a:r>
            <a:r>
              <a:rPr lang="en-US" sz="1600" b="1" dirty="0">
                <a:latin typeface="+mj-lt"/>
              </a:rPr>
              <a:t>wrapping</a:t>
            </a:r>
            <a:r>
              <a:rPr lang="en-US" sz="1600" dirty="0">
                <a:latin typeface="+mj-lt"/>
              </a:rPr>
              <a:t> of the flex items within it.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030A0"/>
                </a:solidFill>
                <a:latin typeface="+mj-lt"/>
              </a:rPr>
              <a:t>1- </a:t>
            </a:r>
            <a:r>
              <a:rPr lang="en-US" sz="1600" b="1" dirty="0">
                <a:solidFill>
                  <a:srgbClr val="7030A0"/>
                </a:solidFill>
                <a:latin typeface="+mj-lt"/>
              </a:rPr>
              <a:t>flex-direction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This defines the primary axis (the </a:t>
            </a:r>
            <a:r>
              <a:rPr lang="en-US" sz="1600" b="1" dirty="0">
                <a:latin typeface="+mj-lt"/>
              </a:rPr>
              <a:t>main axis</a:t>
            </a:r>
            <a:r>
              <a:rPr lang="en-US" sz="1600" dirty="0">
                <a:latin typeface="+mj-lt"/>
              </a:rPr>
              <a:t>) along which flex items are laid out.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1AF219-3591-DB59-8DF4-369FBC1A0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897" y="2774729"/>
            <a:ext cx="4450608" cy="28829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BD23166-DBF4-3FB8-F9B7-A678B1B78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03324"/>
              </p:ext>
            </p:extLst>
          </p:nvPr>
        </p:nvGraphicFramePr>
        <p:xfrm>
          <a:off x="631287" y="2489697"/>
          <a:ext cx="6009862" cy="32308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004931">
                  <a:extLst>
                    <a:ext uri="{9D8B030D-6E8A-4147-A177-3AD203B41FA5}">
                      <a16:colId xmlns:a16="http://schemas.microsoft.com/office/drawing/2014/main" val="4206204793"/>
                    </a:ext>
                  </a:extLst>
                </a:gridCol>
                <a:gridCol w="3004931">
                  <a:extLst>
                    <a:ext uri="{9D8B030D-6E8A-4147-A177-3AD203B41FA5}">
                      <a16:colId xmlns:a16="http://schemas.microsoft.com/office/drawing/2014/main" val="1139041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Main Axis Direction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72130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row (default)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Items are arranged horizontally, from left to right (or right to left, depending on the writing mode).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8718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row-reverse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Items are arranged horizontally, from right to left.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0267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column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Items are arranged vertically, from top to bottom.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9282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column-reverse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Items are arranged vertically, from bottom to top.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0775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14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139148"/>
            <a:ext cx="11420144" cy="157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030A0"/>
                </a:solidFill>
              </a:rPr>
              <a:t>2- flex-wrap</a:t>
            </a:r>
            <a:endParaRPr lang="en-US" sz="1600" b="1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By default, all flex items attempt to fit onto a single line. This property defines whether items should wrap onto multiple lines if they exceed the container's width/height.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2" name="Picture 4" descr="CSS Flexbox Layout Guide | CSS-Tricks">
            <a:extLst>
              <a:ext uri="{FF2B5EF4-FFF2-40B4-BE49-F238E27FC236}">
                <a16:creationId xmlns:a16="http://schemas.microsoft.com/office/drawing/2014/main" id="{88EF9CB0-4EE0-5D65-661F-D2924B3AB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764" y="2839863"/>
            <a:ext cx="4004697" cy="208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FC7050-4FD0-DF8D-1182-D8C98714B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318509"/>
              </p:ext>
            </p:extLst>
          </p:nvPr>
        </p:nvGraphicFramePr>
        <p:xfrm>
          <a:off x="599661" y="2289114"/>
          <a:ext cx="5870714" cy="283464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935357">
                  <a:extLst>
                    <a:ext uri="{9D8B030D-6E8A-4147-A177-3AD203B41FA5}">
                      <a16:colId xmlns:a16="http://schemas.microsoft.com/office/drawing/2014/main" val="716741600"/>
                    </a:ext>
                  </a:extLst>
                </a:gridCol>
                <a:gridCol w="2935357">
                  <a:extLst>
                    <a:ext uri="{9D8B030D-6E8A-4147-A177-3AD203B41FA5}">
                      <a16:colId xmlns:a16="http://schemas.microsoft.com/office/drawing/2014/main" val="1693499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Behavior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85140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nowrap (default)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All items stay on a single line, potentially causing overflow.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1853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wrap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Items wrap onto multiple lines, stacking top-to-bottom if the direction is row.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3645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wrap-reverse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Items wrap onto multiple lines, stacking bottom-to-top if the direction is row.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64010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23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38328" y="432386"/>
            <a:ext cx="5862472" cy="4162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3- flex-flow (Shorthand)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This is a shorthand property that combines flex-direction and flex-wrap.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Syntax:</a:t>
            </a:r>
            <a:r>
              <a:rPr lang="en-US" sz="1600" dirty="0">
                <a:latin typeface="+mj-lt"/>
              </a:rPr>
              <a:t> flex-flow: &lt;flex-direction&gt; &lt;flex-wrap&gt;;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Example:</a:t>
            </a:r>
            <a:r>
              <a:rPr lang="en-US" sz="1600" dirty="0">
                <a:latin typeface="+mj-lt"/>
              </a:rPr>
              <a:t> flex-flow: row wrap;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4-justify-content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This property controls the alignment of items along the </a:t>
            </a:r>
            <a:r>
              <a:rPr lang="en-US" sz="1600" b="1" dirty="0">
                <a:latin typeface="+mj-lt"/>
              </a:rPr>
              <a:t>Main Axis</a:t>
            </a:r>
            <a:r>
              <a:rPr lang="en-US" sz="1600" dirty="0">
                <a:latin typeface="+mj-lt"/>
              </a:rPr>
              <a:t> (the direction set by flex-direction). It's used when there is </a:t>
            </a:r>
            <a:r>
              <a:rPr lang="en-US" sz="1600" b="1" dirty="0">
                <a:latin typeface="+mj-lt"/>
              </a:rPr>
              <a:t>extra space</a:t>
            </a:r>
            <a:r>
              <a:rPr lang="en-US" sz="1600" dirty="0">
                <a:latin typeface="+mj-lt"/>
              </a:rPr>
              <a:t> in the container.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6665E8-9DDA-2CC7-B499-8E2A3B3F2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852" y="389781"/>
            <a:ext cx="4249020" cy="617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40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477756"/>
            <a:ext cx="11420144" cy="83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4-justify-content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3AA3E4-E5D2-D486-5197-FD1FD12E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626291"/>
              </p:ext>
            </p:extLst>
          </p:nvPr>
        </p:nvGraphicFramePr>
        <p:xfrm>
          <a:off x="569844" y="1621504"/>
          <a:ext cx="10515600" cy="422459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32574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3825181"/>
                    </a:ext>
                  </a:extLst>
                </a:gridCol>
              </a:tblGrid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7541294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flex-start (default)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packed toward the start of the main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72197805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flex-end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packed toward the end of the main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8629044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center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centered along the main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31331828"/>
                  </a:ext>
                </a:extLst>
              </a:tr>
              <a:tr h="745516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space-between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evenly distributed; the first item is at the start, and the last is at the end.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21580935"/>
                  </a:ext>
                </a:extLst>
              </a:tr>
              <a:tr h="745516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space-around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evenly distributed with equal space around them (the space at the ends is half the space between items).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88065637"/>
                  </a:ext>
                </a:extLst>
              </a:tr>
              <a:tr h="745516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space-evenly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evenly distributed with equal space both between items and at the ends.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7777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95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38328" y="432386"/>
            <a:ext cx="5862472" cy="1946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5- </a:t>
            </a:r>
            <a:r>
              <a:rPr lang="en-US" sz="1600" b="1" dirty="0">
                <a:solidFill>
                  <a:srgbClr val="7030A0"/>
                </a:solidFill>
              </a:rPr>
              <a:t>align-items: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This property controls the alignment of items along the </a:t>
            </a:r>
            <a:r>
              <a:rPr lang="en-US" sz="1600" b="1" dirty="0">
                <a:latin typeface="+mj-lt"/>
              </a:rPr>
              <a:t>Cross Axis</a:t>
            </a:r>
            <a:r>
              <a:rPr lang="en-US" sz="1600" dirty="0">
                <a:latin typeface="+mj-lt"/>
              </a:rPr>
              <a:t> (perpendicular to the main axis).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4D9657-558C-29B4-F7A8-24D21FA9E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971675"/>
              </p:ext>
            </p:extLst>
          </p:nvPr>
        </p:nvGraphicFramePr>
        <p:xfrm>
          <a:off x="583903" y="2310814"/>
          <a:ext cx="5771322" cy="4114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885661">
                  <a:extLst>
                    <a:ext uri="{9D8B030D-6E8A-4147-A177-3AD203B41FA5}">
                      <a16:colId xmlns:a16="http://schemas.microsoft.com/office/drawing/2014/main" val="1154449220"/>
                    </a:ext>
                  </a:extLst>
                </a:gridCol>
                <a:gridCol w="2885661">
                  <a:extLst>
                    <a:ext uri="{9D8B030D-6E8A-4147-A177-3AD203B41FA5}">
                      <a16:colId xmlns:a16="http://schemas.microsoft.com/office/drawing/2014/main" val="3070499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2591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stretch (default)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stretched to fill the container along the cross axis (respecting min/max-width/height).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3947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flex-start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packed toward the start of the cross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4936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flex-end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packed toward the end of the cross axis.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62419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center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centered along the cross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51281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baseline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aligned based on their contents' baselines.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0163593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4C67AE2-5ED0-11EF-BE63-127CDB02F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942" y="359465"/>
            <a:ext cx="4809555" cy="644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2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63825" y="477756"/>
            <a:ext cx="11420144" cy="83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5- </a:t>
            </a:r>
            <a:r>
              <a:rPr lang="en-US" sz="1600" b="1" dirty="0">
                <a:solidFill>
                  <a:srgbClr val="7030A0"/>
                </a:solidFill>
              </a:rPr>
              <a:t>align-items: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3AA3E4-E5D2-D486-5197-FD1FD12E59FC}"/>
              </a:ext>
            </a:extLst>
          </p:cNvPr>
          <p:cNvGraphicFramePr>
            <a:graphicFrameLocks noGrp="1"/>
          </p:cNvGraphicFramePr>
          <p:nvPr/>
        </p:nvGraphicFramePr>
        <p:xfrm>
          <a:off x="569844" y="1621504"/>
          <a:ext cx="10515600" cy="422459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32574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3825181"/>
                    </a:ext>
                  </a:extLst>
                </a:gridCol>
              </a:tblGrid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7541294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flex-start (default)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packed toward the start of the main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72197805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flex-end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packed toward the end of the main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8629044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center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centered along the main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31331828"/>
                  </a:ext>
                </a:extLst>
              </a:tr>
              <a:tr h="745516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space-between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Items are evenly distributed; the first item is at the start, and the last is at the end.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21580935"/>
                  </a:ext>
                </a:extLst>
              </a:tr>
              <a:tr h="745516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space-around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evenly distributed with equal space around them (the space at the ends is half the space between items).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88065637"/>
                  </a:ext>
                </a:extLst>
              </a:tr>
              <a:tr h="745516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</a:rPr>
                        <a:t>space-evenly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Items are evenly distributed with equal space both between items and at the ends.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77770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490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38328" y="432386"/>
            <a:ext cx="5862472" cy="2685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6- align-content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This property is similar to justify-content but works for the </a:t>
            </a:r>
            <a:r>
              <a:rPr lang="en-US" sz="1600" b="1" dirty="0">
                <a:latin typeface="+mj-lt"/>
              </a:rPr>
              <a:t>Cross Axis</a:t>
            </a:r>
            <a:r>
              <a:rPr lang="en-US" sz="1600" dirty="0">
                <a:latin typeface="+mj-lt"/>
              </a:rPr>
              <a:t> and is </a:t>
            </a:r>
            <a:r>
              <a:rPr lang="en-US" sz="1600" b="1" dirty="0">
                <a:latin typeface="+mj-lt"/>
              </a:rPr>
              <a:t>only effective when items wrap</a:t>
            </a:r>
            <a:r>
              <a:rPr lang="en-US" sz="1600" dirty="0">
                <a:latin typeface="+mj-lt"/>
              </a:rPr>
              <a:t> (flex-wrap: wrap) onto multiple lines. It controls how those wrapped lines are distributed when there is extra space.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5FA08-4632-3876-B85F-DB35188A5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402" y="295612"/>
            <a:ext cx="4779270" cy="640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58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385928" y="718469"/>
            <a:ext cx="11420144" cy="83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  <a:latin typeface="+mj-lt"/>
              </a:rPr>
              <a:t>Flex container:</a:t>
            </a:r>
            <a:endParaRPr lang="en-US" b="1" i="0" dirty="0">
              <a:solidFill>
                <a:srgbClr val="7030A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6- align-content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14:cNvPr>
              <p14:cNvContentPartPr/>
              <p14:nvPr/>
            </p14:nvContentPartPr>
            <p14:xfrm>
              <a:off x="9378470" y="3474939"/>
              <a:ext cx="5194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BFB9E2-90AA-03CE-BA86-BE95FF7285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88830" y="3294939"/>
                <a:ext cx="699120" cy="381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AutoShape 8">
            <a:extLst>
              <a:ext uri="{FF2B5EF4-FFF2-40B4-BE49-F238E27FC236}">
                <a16:creationId xmlns:a16="http://schemas.microsoft.com/office/drawing/2014/main" id="{9730CB75-4BDF-47BC-E642-74FE45951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75534DA-2BC7-2089-90DE-CB52D86D2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2" descr="two rows of boxes, the first wrapping down onto the second">
            <a:extLst>
              <a:ext uri="{FF2B5EF4-FFF2-40B4-BE49-F238E27FC236}">
                <a16:creationId xmlns:a16="http://schemas.microsoft.com/office/drawing/2014/main" id="{ACABEDA8-2546-7F7E-26A3-17DE792A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920548-5F83-C67E-0B18-604775F8A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455777"/>
              </p:ext>
            </p:extLst>
          </p:nvPr>
        </p:nvGraphicFramePr>
        <p:xfrm>
          <a:off x="463825" y="1922691"/>
          <a:ext cx="10515600" cy="38404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3119478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24548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Value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157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stretch (default)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Lines stretch to take up the remaining space.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14435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flex-start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Lines are packed toward the start of the cross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1984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flex-end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Lines are packed toward the end of the cross axis.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38512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center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Lines are centered in the container.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92939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space-between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Lines are evenly distributed; the first line is at the start, and the last is at the end.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4934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space-around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Lines are evenly distributed with equal space around them.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85208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</a:rPr>
                        <a:t>space-evenly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Lines are evenly distributed with equal space both between lines and at the ends.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5589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22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7467</TotalTime>
  <Words>1752</Words>
  <Application>Microsoft Macintosh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MS Gothic</vt:lpstr>
      <vt:lpstr>Arial</vt:lpstr>
      <vt:lpstr>Calibri</vt:lpstr>
      <vt:lpstr>Calibri Light</vt:lpstr>
      <vt:lpstr>Google Sans Text</vt:lpstr>
      <vt:lpstr>Office Theme</vt:lpstr>
      <vt:lpstr>Special topics  Session 4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 zim</cp:lastModifiedBy>
  <cp:revision>41</cp:revision>
  <dcterms:created xsi:type="dcterms:W3CDTF">2025-10-04T12:24:50Z</dcterms:created>
  <dcterms:modified xsi:type="dcterms:W3CDTF">2025-11-13T12:38:49Z</dcterms:modified>
</cp:coreProperties>
</file>