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344" r:id="rId3"/>
    <p:sldId id="343" r:id="rId4"/>
    <p:sldId id="345" r:id="rId5"/>
    <p:sldId id="346" r:id="rId6"/>
    <p:sldId id="347" r:id="rId7"/>
    <p:sldId id="348" r:id="rId8"/>
    <p:sldId id="349" r:id="rId9"/>
    <p:sldId id="350" r:id="rId10"/>
    <p:sldId id="351"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a:srgbClr val="FF99CC"/>
    <a:srgbClr val="9D2F23"/>
    <a:srgbClr val="993366"/>
    <a:srgbClr val="6666FF"/>
    <a:srgbClr val="456328"/>
    <a:srgbClr val="0099CC"/>
    <a:srgbClr val="AC14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113" d="100"/>
          <a:sy n="11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21A7-1297-4B3D-AA39-F5C0DF1593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F210B9-4796-4874-9BB8-15F35183EC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B7682-B92C-4941-BF14-1CC126B0A813}"/>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E394EDB1-FFF8-4366-8956-44B1F0399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50CC4-F01F-49B0-B16E-FB8D42E76007}"/>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13080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765F-E9B9-4ED1-9E9E-EBBE0338D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A57D5-DD8D-4939-A68C-92AF9510B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36BAA-6F97-4E6F-B61B-7E4CF543618E}"/>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39EA5917-50CC-4C33-A243-F3EC0293F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1BB40-3BBA-4F2F-BF06-08662F15231B}"/>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9718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94DA-872A-4221-BA19-E07B6B95A3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027956-B24A-4F79-A497-786703A03A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01D3C-2A54-43A4-B4AA-E3578A5F02D2}"/>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23ABF451-B11A-429E-AE89-A29A040D4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9344F-0B35-47EF-B676-F7D6EFD51B7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62070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B749-E171-424D-95A4-107569D20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AE049-633C-4EE9-9C60-6E549F603B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85B50-1331-4886-879E-3B49F8407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6F5FF1-B6E1-4969-8EA6-3540B5C095BE}"/>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6" name="Footer Placeholder 5">
            <a:extLst>
              <a:ext uri="{FF2B5EF4-FFF2-40B4-BE49-F238E27FC236}">
                <a16:creationId xmlns:a16="http://schemas.microsoft.com/office/drawing/2014/main" id="{6FE9DCB5-B792-438D-BC09-99FA3302A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1F8EF-9BA1-4D3A-8856-9E1F28F9F09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71409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523B0-D53A-4FB3-A0FA-3AA650170B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861986-7E35-4BFD-AE5C-731845CE2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B44A9-6B54-44C0-B2D5-AB7D848EF5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CF03A4-F8A4-4A2B-B519-1F7A15433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FA89C-42F2-4E57-9927-53867109D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C8D43E-DE9B-4462-9805-C8D17DE09B3F}"/>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8" name="Footer Placeholder 7">
            <a:extLst>
              <a:ext uri="{FF2B5EF4-FFF2-40B4-BE49-F238E27FC236}">
                <a16:creationId xmlns:a16="http://schemas.microsoft.com/office/drawing/2014/main" id="{508FD1DA-4390-4E8E-9A61-060979A91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0717FB-EF17-43FB-8605-E12CCEEDECA6}"/>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88410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E3E59-9915-476C-B0F8-EB3A25E6D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460F27-09EE-485F-A74C-6A6BD7FDD323}"/>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4" name="Footer Placeholder 3">
            <a:extLst>
              <a:ext uri="{FF2B5EF4-FFF2-40B4-BE49-F238E27FC236}">
                <a16:creationId xmlns:a16="http://schemas.microsoft.com/office/drawing/2014/main" id="{A9765843-65D3-4667-B615-FD1F6B5C2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C674E2-122C-48F8-9EF8-E6146682F3A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146930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7D829-74FC-4444-AFD6-536A86FD1D7F}"/>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3" name="Footer Placeholder 2">
            <a:extLst>
              <a:ext uri="{FF2B5EF4-FFF2-40B4-BE49-F238E27FC236}">
                <a16:creationId xmlns:a16="http://schemas.microsoft.com/office/drawing/2014/main" id="{8A9E63DD-C7A8-44E9-9536-DA1E14996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F2B870-EF9E-4D10-9908-985BE1401045}"/>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4548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F71-5FE8-47EF-BAE7-4E48FB03CC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04D18-94CC-4C61-8AA2-0F0BA6A0E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63AB8-9CB2-4DC0-8619-82C66AB04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9CBA3-20B9-4D09-ACA4-F5CEF556311D}"/>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6" name="Footer Placeholder 5">
            <a:extLst>
              <a:ext uri="{FF2B5EF4-FFF2-40B4-BE49-F238E27FC236}">
                <a16:creationId xmlns:a16="http://schemas.microsoft.com/office/drawing/2014/main" id="{4E4BCDAA-722B-42B1-AB5B-4104181CB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DEFB-4003-4080-A9E6-42AD178C9EF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1568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A2CF-E225-4AA2-9996-E97E5DA06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5EB8C8-2BA5-4DF3-A3A3-873EAA04F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D1B52-B572-4655-9E7F-D7EA05728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1BB40-94C9-4CB5-A0F8-6A46E661BEEE}"/>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6" name="Footer Placeholder 5">
            <a:extLst>
              <a:ext uri="{FF2B5EF4-FFF2-40B4-BE49-F238E27FC236}">
                <a16:creationId xmlns:a16="http://schemas.microsoft.com/office/drawing/2014/main" id="{CF83C2F9-22D4-46CF-B08D-134F301D0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59A7B-D3AF-42CC-BAE5-CDA0DD8EE9E3}"/>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173746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281F0-3D68-4BF4-B5AB-CFC8A80A33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C818F2-79A6-4F9C-8E66-E20F9B5DF0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898E-CF68-4BA9-953F-8142C596F48B}"/>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DC90293A-8B19-473E-BCA1-11F92655F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4F1BF-9DEB-49A9-A123-D6CD830287B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24936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B366D-8EC1-428A-85D4-129DE2C092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9E9B1A-AB28-446F-BB0F-3C4EE0113F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51CD6-A1AE-4BB4-98F6-1EEA62944D0A}"/>
              </a:ext>
            </a:extLst>
          </p:cNvPr>
          <p:cNvSpPr>
            <a:spLocks noGrp="1"/>
          </p:cNvSpPr>
          <p:nvPr>
            <p:ph type="dt" sz="half" idx="10"/>
          </p:nvPr>
        </p:nvSpPr>
        <p:spPr/>
        <p:txBody>
          <a:body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5ACB7E9E-4950-4891-8590-A9FC4063C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D1937-6B22-45E0-8722-8BCFDA6AD66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22595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6A79B-B1C2-4FC9-8C3A-F43EC7D4F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C36324-1315-477A-9FFD-ECA6522C7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AE13F-AC62-445F-A16D-ED4215451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B2B08-B017-4EEC-B17F-079F487C2A94}" type="datetimeFigureOut">
              <a:rPr lang="en-US" smtClean="0"/>
              <a:t>12/31/2025</a:t>
            </a:fld>
            <a:endParaRPr lang="en-US"/>
          </a:p>
        </p:txBody>
      </p:sp>
      <p:sp>
        <p:nvSpPr>
          <p:cNvPr id="5" name="Footer Placeholder 4">
            <a:extLst>
              <a:ext uri="{FF2B5EF4-FFF2-40B4-BE49-F238E27FC236}">
                <a16:creationId xmlns:a16="http://schemas.microsoft.com/office/drawing/2014/main" id="{F84B1C2D-8020-42C2-998D-4313F62E3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C0E827-9FF1-43A7-A9E2-B0C00B12F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4CCB9-2627-4E8D-81FB-E1D3575DD0F9}" type="slidenum">
              <a:rPr lang="en-US" smtClean="0"/>
              <a:t>‹#›</a:t>
            </a:fld>
            <a:endParaRPr lang="en-US"/>
          </a:p>
        </p:txBody>
      </p:sp>
    </p:spTree>
    <p:extLst>
      <p:ext uri="{BB962C8B-B14F-4D97-AF65-F5344CB8AC3E}">
        <p14:creationId xmlns:p14="http://schemas.microsoft.com/office/powerpoint/2010/main" val="28432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C456-2368-04EF-CB18-5B4BA1953C93}"/>
              </a:ext>
            </a:extLst>
          </p:cNvPr>
          <p:cNvSpPr>
            <a:spLocks noGrp="1"/>
          </p:cNvSpPr>
          <p:nvPr>
            <p:ph type="ctrTitle"/>
          </p:nvPr>
        </p:nvSpPr>
        <p:spPr>
          <a:xfrm>
            <a:off x="1079864" y="240060"/>
            <a:ext cx="9144000" cy="5786006"/>
          </a:xfrm>
        </p:spPr>
        <p:txBody>
          <a:bodyPr>
            <a:normAutofit/>
          </a:bodyPr>
          <a:lstStyle/>
          <a:p>
            <a:r>
              <a:rPr lang="en-US" b="1" dirty="0"/>
              <a:t>Special topics</a:t>
            </a:r>
            <a:br>
              <a:rPr lang="en-US" dirty="0"/>
            </a:br>
            <a:br>
              <a:rPr lang="en-US" dirty="0"/>
            </a:br>
            <a:r>
              <a:rPr lang="en-US" sz="3200" b="1" dirty="0"/>
              <a:t>Session 13</a:t>
            </a:r>
            <a:br>
              <a:rPr lang="en-US" sz="3200" b="1" dirty="0"/>
            </a:br>
            <a:br>
              <a:rPr lang="en-US" dirty="0"/>
            </a:br>
            <a:br>
              <a:rPr lang="en-US" dirty="0"/>
            </a:br>
            <a:br>
              <a:rPr lang="en-US" dirty="0"/>
            </a:br>
            <a:r>
              <a:rPr lang="en-US" sz="2000" dirty="0"/>
              <a:t>Al-Zahra university </a:t>
            </a:r>
            <a:br>
              <a:rPr lang="en-US" sz="2000" dirty="0"/>
            </a:br>
            <a:r>
              <a:rPr lang="en-US" sz="2000" dirty="0"/>
              <a:t>Maryam </a:t>
            </a:r>
            <a:r>
              <a:rPr lang="en-US" sz="2000" dirty="0" err="1"/>
              <a:t>zim</a:t>
            </a:r>
            <a:r>
              <a:rPr lang="en-US" sz="2000" dirty="0"/>
              <a:t> </a:t>
            </a:r>
          </a:p>
        </p:txBody>
      </p:sp>
      <p:sp>
        <p:nvSpPr>
          <p:cNvPr id="3" name="TextBox 2">
            <a:extLst>
              <a:ext uri="{FF2B5EF4-FFF2-40B4-BE49-F238E27FC236}">
                <a16:creationId xmlns:a16="http://schemas.microsoft.com/office/drawing/2014/main" id="{64A49644-702C-104B-A3C2-E81A66E02B10}"/>
              </a:ext>
            </a:extLst>
          </p:cNvPr>
          <p:cNvSpPr txBox="1"/>
          <p:nvPr/>
        </p:nvSpPr>
        <p:spPr>
          <a:xfrm>
            <a:off x="333555" y="6331012"/>
            <a:ext cx="2179608" cy="430887"/>
          </a:xfrm>
          <a:prstGeom prst="rect">
            <a:avLst/>
          </a:prstGeom>
          <a:noFill/>
        </p:spPr>
        <p:txBody>
          <a:bodyPr wrap="square" rtlCol="0">
            <a:spAutoFit/>
          </a:bodyPr>
          <a:lstStyle/>
          <a:p>
            <a:r>
              <a:rPr lang="en-US" sz="1100" dirty="0">
                <a:latin typeface="+mj-lt"/>
              </a:rPr>
              <a:t>@</a:t>
            </a:r>
            <a:r>
              <a:rPr lang="en-US" sz="1100" dirty="0" err="1">
                <a:latin typeface="+mj-lt"/>
              </a:rPr>
              <a:t>maryamzim</a:t>
            </a:r>
            <a:r>
              <a:rPr lang="en-US" sz="1100" dirty="0">
                <a:latin typeface="+mj-lt"/>
              </a:rPr>
              <a:t> </a:t>
            </a:r>
            <a:r>
              <a:rPr lang="en-US" sz="1100" dirty="0" err="1">
                <a:latin typeface="+mj-lt"/>
              </a:rPr>
              <a:t>maryamxiim@gmail.com</a:t>
            </a:r>
            <a:endParaRPr lang="en-US" sz="1100" dirty="0">
              <a:latin typeface="+mj-lt"/>
            </a:endParaRPr>
          </a:p>
        </p:txBody>
      </p:sp>
      <p:cxnSp>
        <p:nvCxnSpPr>
          <p:cNvPr id="5" name="Straight Connector 4">
            <a:extLst>
              <a:ext uri="{FF2B5EF4-FFF2-40B4-BE49-F238E27FC236}">
                <a16:creationId xmlns:a16="http://schemas.microsoft.com/office/drawing/2014/main" id="{9139A4A4-6725-59CF-7099-1F9127951243}"/>
              </a:ext>
            </a:extLst>
          </p:cNvPr>
          <p:cNvCxnSpPr>
            <a:cxnSpLocks/>
          </p:cNvCxnSpPr>
          <p:nvPr/>
        </p:nvCxnSpPr>
        <p:spPr>
          <a:xfrm>
            <a:off x="0" y="6239774"/>
            <a:ext cx="12192000" cy="0"/>
          </a:xfrm>
          <a:prstGeom prst="line">
            <a:avLst/>
          </a:prstGeom>
        </p:spPr>
        <p:style>
          <a:lnRef idx="1">
            <a:schemeClr val="dk1"/>
          </a:lnRef>
          <a:fillRef idx="0">
            <a:schemeClr val="dk1"/>
          </a:fillRef>
          <a:effectRef idx="0">
            <a:schemeClr val="dk1"/>
          </a:effectRef>
          <a:fontRef idx="minor">
            <a:schemeClr val="tx1"/>
          </a:fontRef>
        </p:style>
      </p:cxnSp>
      <p:pic>
        <p:nvPicPr>
          <p:cNvPr id="20482" name="Picture 2">
            <a:extLst>
              <a:ext uri="{FF2B5EF4-FFF2-40B4-BE49-F238E27FC236}">
                <a16:creationId xmlns:a16="http://schemas.microsoft.com/office/drawing/2014/main" id="{C0C7CD75-3CDC-8F39-FAB2-BC9933D5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80" y="6406516"/>
            <a:ext cx="139939" cy="13993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897B446E-8E4A-1444-0B25-280230FC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36" y="6593099"/>
            <a:ext cx="138983" cy="9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62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83662" y="433554"/>
            <a:ext cx="10615076" cy="2639441"/>
          </a:xfrm>
          <a:prstGeom prst="rect">
            <a:avLst/>
          </a:prstGeom>
          <a:noFill/>
        </p:spPr>
        <p:txBody>
          <a:bodyPr wrap="square" rtlCol="0">
            <a:spAutoFit/>
          </a:bodyPr>
          <a:lstStyle/>
          <a:p>
            <a:pPr>
              <a:lnSpc>
                <a:spcPct val="150000"/>
              </a:lnSpc>
            </a:pPr>
            <a:r>
              <a:rPr lang="en-US" sz="1600" b="1" dirty="0">
                <a:solidFill>
                  <a:srgbClr val="002060"/>
                </a:solidFill>
              </a:rPr>
              <a:t>What is Single-threaded  ?</a:t>
            </a:r>
          </a:p>
          <a:p>
            <a:pPr>
              <a:lnSpc>
                <a:spcPct val="150000"/>
              </a:lnSpc>
            </a:pPr>
            <a:r>
              <a:rPr lang="en-US" sz="1600" dirty="0">
                <a:solidFill>
                  <a:schemeClr val="tx1">
                    <a:lumMod val="95000"/>
                    <a:lumOff val="5000"/>
                  </a:schemeClr>
                </a:solidFill>
              </a:rPr>
              <a:t>JavaScript is normally single-threaded, meaning it only does one thing at a time.</a:t>
            </a:r>
          </a:p>
          <a:p>
            <a:pPr>
              <a:lnSpc>
                <a:spcPct val="150000"/>
              </a:lnSpc>
            </a:pPr>
            <a:r>
              <a:rPr lang="en-US" sz="1600" dirty="0"/>
              <a:t>Imagine you have a kitchen where only one cook works. This cook has only two hands and can only focus on one knife or one pot at a time. He can't chop onions and wash dishes at the same time. He does things one at a time.</a:t>
            </a:r>
          </a:p>
          <a:p>
            <a:pPr>
              <a:lnSpc>
                <a:spcPct val="150000"/>
              </a:lnSpc>
            </a:pPr>
            <a:r>
              <a:rPr lang="en-US" sz="1600" dirty="0"/>
              <a:t>In the computer world:</a:t>
            </a:r>
          </a:p>
          <a:p>
            <a:pPr>
              <a:lnSpc>
                <a:spcPct val="150000"/>
              </a:lnSpc>
            </a:pPr>
            <a:r>
              <a:rPr lang="en-US" sz="1600" b="1" dirty="0">
                <a:solidFill>
                  <a:schemeClr val="bg1">
                    <a:lumMod val="95000"/>
                  </a:schemeClr>
                </a:solidFill>
                <a:highlight>
                  <a:srgbClr val="000080"/>
                </a:highlight>
              </a:rPr>
              <a:t>Thread</a:t>
            </a:r>
            <a:r>
              <a:rPr lang="en-US" sz="1600" b="1" dirty="0">
                <a:solidFill>
                  <a:srgbClr val="002060"/>
                </a:solidFill>
              </a:rPr>
              <a:t>:</a:t>
            </a:r>
            <a:r>
              <a:rPr lang="en-US" sz="1600" b="1" dirty="0"/>
              <a:t> </a:t>
            </a:r>
            <a:r>
              <a:rPr lang="en-US" sz="1600" dirty="0"/>
              <a:t>It's like the cook who executes the commands.</a:t>
            </a:r>
          </a:p>
          <a:p>
            <a:pPr>
              <a:lnSpc>
                <a:spcPct val="150000"/>
              </a:lnSpc>
            </a:pPr>
            <a:r>
              <a:rPr lang="en-US" sz="1600" b="1" dirty="0">
                <a:solidFill>
                  <a:schemeClr val="bg1">
                    <a:lumMod val="95000"/>
                  </a:schemeClr>
                </a:solidFill>
                <a:highlight>
                  <a:srgbClr val="000080"/>
                </a:highlight>
              </a:rPr>
              <a:t>Single-threaded</a:t>
            </a:r>
            <a:r>
              <a:rPr lang="en-US" sz="1600" b="1" dirty="0">
                <a:solidFill>
                  <a:srgbClr val="002060"/>
                </a:solidFill>
                <a:highlight>
                  <a:srgbClr val="000080"/>
                </a:highlight>
              </a:rPr>
              <a:t>:</a:t>
            </a:r>
            <a:r>
              <a:rPr lang="en-US" sz="1600" b="1" dirty="0">
                <a:solidFill>
                  <a:srgbClr val="002060"/>
                </a:solidFill>
              </a:rPr>
              <a:t>: </a:t>
            </a:r>
            <a:r>
              <a:rPr lang="en-US" sz="1600" dirty="0"/>
              <a:t>This means that JavaScript executes only one line of code at a time.</a:t>
            </a:r>
          </a:p>
        </p:txBody>
      </p:sp>
      <p:sp>
        <p:nvSpPr>
          <p:cNvPr id="2" name="AutoShape 2" descr="Single Thread">
            <a:extLst>
              <a:ext uri="{FF2B5EF4-FFF2-40B4-BE49-F238E27FC236}">
                <a16:creationId xmlns:a16="http://schemas.microsoft.com/office/drawing/2014/main" id="{E9DD45EA-2973-4382-8100-F35E9FD2E0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2A2797F0-5D78-47AD-B2D7-D9E3358506A5}"/>
              </a:ext>
            </a:extLst>
          </p:cNvPr>
          <p:cNvPicPr>
            <a:picLocks noChangeAspect="1"/>
          </p:cNvPicPr>
          <p:nvPr/>
        </p:nvPicPr>
        <p:blipFill>
          <a:blip r:embed="rId2"/>
          <a:stretch>
            <a:fillRect/>
          </a:stretch>
        </p:blipFill>
        <p:spPr>
          <a:xfrm>
            <a:off x="2133600" y="3664479"/>
            <a:ext cx="7620000" cy="2238375"/>
          </a:xfrm>
          <a:prstGeom prst="rect">
            <a:avLst/>
          </a:prstGeom>
        </p:spPr>
      </p:pic>
    </p:spTree>
    <p:extLst>
      <p:ext uri="{BB962C8B-B14F-4D97-AF65-F5344CB8AC3E}">
        <p14:creationId xmlns:p14="http://schemas.microsoft.com/office/powerpoint/2010/main" val="3310838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5594096"/>
          </a:xfrm>
          <a:prstGeom prst="rect">
            <a:avLst/>
          </a:prstGeom>
          <a:noFill/>
        </p:spPr>
        <p:txBody>
          <a:bodyPr wrap="square" rtlCol="0">
            <a:spAutoFit/>
          </a:bodyPr>
          <a:lstStyle/>
          <a:p>
            <a:pPr>
              <a:lnSpc>
                <a:spcPct val="150000"/>
              </a:lnSpc>
            </a:pPr>
            <a:r>
              <a:rPr lang="en-US" sz="1600" b="1" dirty="0">
                <a:solidFill>
                  <a:schemeClr val="accent6">
                    <a:lumMod val="75000"/>
                  </a:schemeClr>
                </a:solidFill>
              </a:rPr>
              <a:t>Blocking:</a:t>
            </a:r>
          </a:p>
          <a:p>
            <a:pPr>
              <a:lnSpc>
                <a:spcPct val="150000"/>
              </a:lnSpc>
            </a:pPr>
            <a:r>
              <a:rPr lang="en-US" sz="1600" dirty="0"/>
              <a:t>Imagine you walk into a restaurant. There is only one waiter.</a:t>
            </a:r>
          </a:p>
          <a:p>
            <a:pPr>
              <a:lnSpc>
                <a:spcPct val="150000"/>
              </a:lnSpc>
            </a:pPr>
            <a:r>
              <a:rPr lang="en-US" sz="1600" dirty="0"/>
              <a:t>The waiter takes your order.</a:t>
            </a:r>
          </a:p>
          <a:p>
            <a:pPr>
              <a:lnSpc>
                <a:spcPct val="150000"/>
              </a:lnSpc>
            </a:pPr>
            <a:r>
              <a:rPr lang="en-US" sz="1600" dirty="0"/>
              <a:t>He goes to the kitchen and waits there until the food is ready.</a:t>
            </a:r>
          </a:p>
          <a:p>
            <a:pPr>
              <a:lnSpc>
                <a:spcPct val="150000"/>
              </a:lnSpc>
            </a:pPr>
            <a:r>
              <a:rPr lang="en-US" sz="1600" dirty="0"/>
              <a:t>During this time, he doesn't take any other orders. Other customers wait in line.</a:t>
            </a:r>
          </a:p>
          <a:p>
            <a:pPr>
              <a:lnSpc>
                <a:spcPct val="150000"/>
              </a:lnSpc>
            </a:pPr>
            <a:r>
              <a:rPr lang="en-US" sz="1600" dirty="0"/>
              <a:t>When the food is ready, he gives it to you and then moves on to the next person.</a:t>
            </a:r>
          </a:p>
          <a:p>
            <a:pPr>
              <a:lnSpc>
                <a:spcPct val="150000"/>
              </a:lnSpc>
            </a:pPr>
            <a:r>
              <a:rPr lang="en-US" sz="1600" dirty="0"/>
              <a:t>Result: The entire system is "locked" or blocked because one dish is being prepared.</a:t>
            </a:r>
          </a:p>
          <a:p>
            <a:pPr>
              <a:lnSpc>
                <a:spcPct val="150000"/>
              </a:lnSpc>
            </a:pPr>
            <a:r>
              <a:rPr lang="en-US" sz="1600" b="1" dirty="0">
                <a:solidFill>
                  <a:schemeClr val="accent6">
                    <a:lumMod val="75000"/>
                  </a:schemeClr>
                </a:solidFill>
              </a:rPr>
              <a:t>Non-blocking:</a:t>
            </a:r>
          </a:p>
          <a:p>
            <a:pPr>
              <a:lnSpc>
                <a:spcPct val="150000"/>
              </a:lnSpc>
            </a:pPr>
            <a:r>
              <a:rPr lang="en-US" sz="1600" dirty="0"/>
              <a:t>The waiter takes your order.</a:t>
            </a:r>
          </a:p>
          <a:p>
            <a:pPr>
              <a:lnSpc>
                <a:spcPct val="150000"/>
              </a:lnSpc>
            </a:pPr>
            <a:r>
              <a:rPr lang="en-US" sz="1600" dirty="0"/>
              <a:t>He delivers the order to the kitchen, gives you a receipt (or a shaker), and immediately moves on to the next customer.</a:t>
            </a:r>
          </a:p>
          <a:p>
            <a:pPr>
              <a:lnSpc>
                <a:spcPct val="150000"/>
              </a:lnSpc>
            </a:pPr>
            <a:r>
              <a:rPr lang="en-US" sz="1600" dirty="0"/>
              <a:t>The kitchen (in the background) is busy cooking. The waiter is taking new orders.</a:t>
            </a:r>
          </a:p>
          <a:p>
            <a:pPr>
              <a:lnSpc>
                <a:spcPct val="150000"/>
              </a:lnSpc>
            </a:pPr>
            <a:r>
              <a:rPr lang="en-US" sz="1600" dirty="0"/>
              <a:t>When your food is ready, a bell rings and you collect your food.</a:t>
            </a:r>
          </a:p>
          <a:p>
            <a:pPr>
              <a:lnSpc>
                <a:spcPct val="150000"/>
              </a:lnSpc>
            </a:pPr>
            <a:r>
              <a:rPr lang="en-US" sz="1600" dirty="0"/>
              <a:t>Result: no one is kept waiting. It is a non-blocking system.</a:t>
            </a:r>
            <a:endParaRPr lang="en-US" sz="1600" dirty="0">
              <a:latin typeface="+mj-lt"/>
            </a:endParaRPr>
          </a:p>
          <a:p>
            <a:pPr>
              <a:lnSpc>
                <a:spcPct val="150000"/>
              </a:lnSpc>
            </a:pPr>
            <a:r>
              <a:rPr lang="en-US" sz="1600" dirty="0"/>
              <a:t>In the world of JavaScript (code), JavaScript is essentially like a waiter. It has only one arm (single-threaded). If you give it too much work, it can lock up the entire page.</a:t>
            </a:r>
          </a:p>
        </p:txBody>
      </p:sp>
    </p:spTree>
    <p:extLst>
      <p:ext uri="{BB962C8B-B14F-4D97-AF65-F5344CB8AC3E}">
        <p14:creationId xmlns:p14="http://schemas.microsoft.com/office/powerpoint/2010/main" val="2926807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5963427"/>
          </a:xfrm>
          <a:prstGeom prst="rect">
            <a:avLst/>
          </a:prstGeom>
          <a:noFill/>
        </p:spPr>
        <p:txBody>
          <a:bodyPr wrap="square" rtlCol="0">
            <a:spAutoFit/>
          </a:bodyPr>
          <a:lstStyle/>
          <a:p>
            <a:pPr>
              <a:lnSpc>
                <a:spcPct val="150000"/>
              </a:lnSpc>
            </a:pPr>
            <a:r>
              <a:rPr lang="en-US" sz="1600" b="1" dirty="0">
                <a:solidFill>
                  <a:schemeClr val="accent6">
                    <a:lumMod val="75000"/>
                  </a:schemeClr>
                </a:solidFill>
              </a:rPr>
              <a:t>Blocking Example:</a:t>
            </a:r>
          </a:p>
          <a:p>
            <a:pPr>
              <a:lnSpc>
                <a:spcPct val="150000"/>
              </a:lnSpc>
            </a:pPr>
            <a:r>
              <a:rPr lang="en-US" sz="1600" dirty="0">
                <a:solidFill>
                  <a:schemeClr val="tx1">
                    <a:lumMod val="95000"/>
                    <a:lumOff val="5000"/>
                  </a:schemeClr>
                </a:solidFill>
              </a:rPr>
              <a:t>Suppose you have a very large loop that is time consuming.</a:t>
            </a: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r>
              <a:rPr lang="en-US" sz="1600" dirty="0">
                <a:solidFill>
                  <a:schemeClr val="tx1">
                    <a:lumMod val="95000"/>
                    <a:lumOff val="5000"/>
                  </a:schemeClr>
                </a:solidFill>
              </a:rPr>
              <a:t>Output:</a:t>
            </a:r>
          </a:p>
          <a:p>
            <a:pPr>
              <a:lnSpc>
                <a:spcPct val="150000"/>
              </a:lnSpc>
            </a:pPr>
            <a:r>
              <a:rPr lang="en-US" sz="1600" dirty="0">
                <a:solidFill>
                  <a:schemeClr val="tx1">
                    <a:lumMod val="95000"/>
                    <a:lumOff val="5000"/>
                  </a:schemeClr>
                </a:solidFill>
              </a:rPr>
              <a:t>1. Starting the program</a:t>
            </a:r>
          </a:p>
          <a:p>
            <a:pPr>
              <a:lnSpc>
                <a:spcPct val="150000"/>
              </a:lnSpc>
            </a:pPr>
            <a:r>
              <a:rPr lang="en-US" sz="1600" dirty="0">
                <a:solidFill>
                  <a:schemeClr val="tx1">
                    <a:lumMod val="95000"/>
                    <a:lumOff val="5000"/>
                  </a:schemeClr>
                </a:solidFill>
              </a:rPr>
              <a:t>2. (3 seconds pause - user cannot click any button)</a:t>
            </a:r>
          </a:p>
          <a:p>
            <a:pPr>
              <a:lnSpc>
                <a:spcPct val="150000"/>
              </a:lnSpc>
            </a:pPr>
            <a:r>
              <a:rPr lang="en-US" sz="1600" dirty="0">
                <a:solidFill>
                  <a:schemeClr val="tx1">
                    <a:lumMod val="95000"/>
                    <a:lumOff val="5000"/>
                  </a:schemeClr>
                </a:solidFill>
              </a:rPr>
              <a:t>3. The hard work is done!</a:t>
            </a:r>
          </a:p>
          <a:p>
            <a:pPr>
              <a:lnSpc>
                <a:spcPct val="150000"/>
              </a:lnSpc>
            </a:pPr>
            <a:r>
              <a:rPr lang="en-US" sz="1600" dirty="0">
                <a:solidFill>
                  <a:schemeClr val="tx1">
                    <a:lumMod val="95000"/>
                    <a:lumOff val="5000"/>
                  </a:schemeClr>
                </a:solidFill>
              </a:rPr>
              <a:t>4. Ending the program</a:t>
            </a:r>
          </a:p>
        </p:txBody>
      </p:sp>
      <p:pic>
        <p:nvPicPr>
          <p:cNvPr id="3" name="Picture 2">
            <a:extLst>
              <a:ext uri="{FF2B5EF4-FFF2-40B4-BE49-F238E27FC236}">
                <a16:creationId xmlns:a16="http://schemas.microsoft.com/office/drawing/2014/main" id="{3CCA0F19-EEE0-4C46-ACCC-434E2FEC0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796" y="1363133"/>
            <a:ext cx="4782982" cy="3011199"/>
          </a:xfrm>
          <a:prstGeom prst="rect">
            <a:avLst/>
          </a:prstGeom>
        </p:spPr>
      </p:pic>
    </p:spTree>
    <p:extLst>
      <p:ext uri="{BB962C8B-B14F-4D97-AF65-F5344CB8AC3E}">
        <p14:creationId xmlns:p14="http://schemas.microsoft.com/office/powerpoint/2010/main" val="294322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6332759"/>
          </a:xfrm>
          <a:prstGeom prst="rect">
            <a:avLst/>
          </a:prstGeom>
          <a:noFill/>
        </p:spPr>
        <p:txBody>
          <a:bodyPr wrap="square" rtlCol="0">
            <a:spAutoFit/>
          </a:bodyPr>
          <a:lstStyle/>
          <a:p>
            <a:pPr>
              <a:lnSpc>
                <a:spcPct val="150000"/>
              </a:lnSpc>
            </a:pPr>
            <a:r>
              <a:rPr lang="en-US" sz="1600" b="1" dirty="0">
                <a:solidFill>
                  <a:schemeClr val="accent6">
                    <a:lumMod val="75000"/>
                  </a:schemeClr>
                </a:solidFill>
              </a:rPr>
              <a:t>Non-blocking example:</a:t>
            </a:r>
          </a:p>
          <a:p>
            <a:pPr>
              <a:lnSpc>
                <a:spcPct val="150000"/>
              </a:lnSpc>
            </a:pPr>
            <a:r>
              <a:rPr lang="en-US" sz="1600" dirty="0">
                <a:solidFill>
                  <a:schemeClr val="tx1">
                    <a:lumMod val="95000"/>
                    <a:lumOff val="5000"/>
                  </a:schemeClr>
                </a:solidFill>
              </a:rPr>
              <a:t>Now we do the same thing with a non-blocking method like fetch.</a:t>
            </a:r>
          </a:p>
          <a:p>
            <a:pPr>
              <a:lnSpc>
                <a:spcPct val="150000"/>
              </a:lnSpc>
            </a:pPr>
            <a:r>
              <a:rPr lang="en-US" sz="1600" dirty="0">
                <a:solidFill>
                  <a:schemeClr val="tx1">
                    <a:lumMod val="95000"/>
                    <a:lumOff val="5000"/>
                  </a:schemeClr>
                </a:solidFill>
              </a:rPr>
              <a:t>Suppose you have a very large loop that is time consuming.</a:t>
            </a: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a:p>
            <a:pPr>
              <a:lnSpc>
                <a:spcPct val="150000"/>
              </a:lnSpc>
            </a:pPr>
            <a:r>
              <a:rPr lang="en-US" sz="1600" dirty="0">
                <a:solidFill>
                  <a:schemeClr val="tx1">
                    <a:lumMod val="95000"/>
                    <a:lumOff val="5000"/>
                  </a:schemeClr>
                </a:solidFill>
              </a:rPr>
              <a:t>Output :</a:t>
            </a:r>
          </a:p>
          <a:p>
            <a:pPr>
              <a:lnSpc>
                <a:spcPct val="150000"/>
              </a:lnSpc>
            </a:pPr>
            <a:r>
              <a:rPr lang="en-US" sz="1600" dirty="0">
                <a:solidFill>
                  <a:schemeClr val="tx1">
                    <a:lumMod val="95000"/>
                    <a:lumOff val="5000"/>
                  </a:schemeClr>
                </a:solidFill>
              </a:rPr>
              <a:t>The order in which the messages will be printed in the console will be as follows:</a:t>
            </a:r>
          </a:p>
          <a:p>
            <a:pPr>
              <a:lnSpc>
                <a:spcPct val="150000"/>
              </a:lnSpc>
            </a:pPr>
            <a:r>
              <a:rPr lang="en-US" sz="1600" dirty="0">
                <a:solidFill>
                  <a:schemeClr val="tx1">
                    <a:lumMod val="95000"/>
                    <a:lumOff val="5000"/>
                  </a:schemeClr>
                </a:solidFill>
              </a:rPr>
              <a:t>1. Program start</a:t>
            </a:r>
          </a:p>
          <a:p>
            <a:pPr>
              <a:lnSpc>
                <a:spcPct val="150000"/>
              </a:lnSpc>
            </a:pPr>
            <a:r>
              <a:rPr lang="en-US" sz="1600" dirty="0">
                <a:solidFill>
                  <a:schemeClr val="tx1">
                    <a:lumMod val="95000"/>
                    <a:lumOff val="5000"/>
                  </a:schemeClr>
                </a:solidFill>
              </a:rPr>
              <a:t>2. This line will be executed immediately... (because the fetch has not blocked the path)</a:t>
            </a:r>
          </a:p>
          <a:p>
            <a:pPr>
              <a:lnSpc>
                <a:spcPct val="150000"/>
              </a:lnSpc>
            </a:pPr>
            <a:r>
              <a:rPr lang="en-US" sz="1600" dirty="0">
                <a:solidFill>
                  <a:schemeClr val="tx1">
                    <a:lumMod val="95000"/>
                    <a:lumOff val="5000"/>
                  </a:schemeClr>
                </a:solidFill>
              </a:rPr>
              <a:t>3. Data received: (This message appears when the response arrives from the server, which usually takes a few milliseconds or seconds)</a:t>
            </a:r>
          </a:p>
        </p:txBody>
      </p:sp>
      <p:pic>
        <p:nvPicPr>
          <p:cNvPr id="7" name="Picture 6">
            <a:extLst>
              <a:ext uri="{FF2B5EF4-FFF2-40B4-BE49-F238E27FC236}">
                <a16:creationId xmlns:a16="http://schemas.microsoft.com/office/drawing/2014/main" id="{4171EA18-29FC-4A28-A541-373852C98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394" y="1846087"/>
            <a:ext cx="5877745" cy="2505425"/>
          </a:xfrm>
          <a:prstGeom prst="rect">
            <a:avLst/>
          </a:prstGeom>
        </p:spPr>
      </p:pic>
    </p:spTree>
    <p:extLst>
      <p:ext uri="{BB962C8B-B14F-4D97-AF65-F5344CB8AC3E}">
        <p14:creationId xmlns:p14="http://schemas.microsoft.com/office/powerpoint/2010/main" val="342687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4116768"/>
          </a:xfrm>
          <a:prstGeom prst="rect">
            <a:avLst/>
          </a:prstGeom>
          <a:noFill/>
        </p:spPr>
        <p:txBody>
          <a:bodyPr wrap="square" rtlCol="0">
            <a:spAutoFit/>
          </a:bodyPr>
          <a:lstStyle/>
          <a:p>
            <a:pPr>
              <a:lnSpc>
                <a:spcPct val="150000"/>
              </a:lnSpc>
            </a:pPr>
            <a:r>
              <a:rPr lang="en-US" sz="1600" b="1" dirty="0">
                <a:solidFill>
                  <a:srgbClr val="6666FF"/>
                </a:solidFill>
              </a:rPr>
              <a:t>Synchronous:</a:t>
            </a:r>
          </a:p>
          <a:p>
            <a:pPr>
              <a:lnSpc>
                <a:spcPct val="150000"/>
              </a:lnSpc>
            </a:pPr>
            <a:r>
              <a:rPr lang="en-US" sz="1600" dirty="0">
                <a:solidFill>
                  <a:schemeClr val="bg2">
                    <a:lumMod val="10000"/>
                  </a:schemeClr>
                </a:solidFill>
              </a:rPr>
              <a:t>Like a bakery queue. The second person doesn't get their turn until the first person gets their bread. If the baker goes on a break for half an hour, the whole queue stops.</a:t>
            </a:r>
          </a:p>
          <a:p>
            <a:pPr>
              <a:lnSpc>
                <a:spcPct val="150000"/>
              </a:lnSpc>
            </a:pPr>
            <a:endParaRPr lang="en-US" sz="1600" dirty="0">
              <a:solidFill>
                <a:schemeClr val="bg2">
                  <a:lumMod val="10000"/>
                </a:schemeClr>
              </a:solidFill>
            </a:endParaRPr>
          </a:p>
          <a:p>
            <a:pPr>
              <a:lnSpc>
                <a:spcPct val="150000"/>
              </a:lnSpc>
            </a:pPr>
            <a:r>
              <a:rPr lang="en-US" sz="1600" b="1" dirty="0">
                <a:solidFill>
                  <a:srgbClr val="6666FF"/>
                </a:solidFill>
              </a:rPr>
              <a:t>Asynchronous:</a:t>
            </a:r>
          </a:p>
          <a:p>
            <a:pPr>
              <a:lnSpc>
                <a:spcPct val="150000"/>
              </a:lnSpc>
            </a:pPr>
            <a:r>
              <a:rPr lang="en-US" sz="1600" dirty="0">
                <a:solidFill>
                  <a:schemeClr val="bg2">
                    <a:lumMod val="10000"/>
                  </a:schemeClr>
                </a:solidFill>
              </a:rPr>
              <a:t>Like a restaurant. You order and get a receipt. The chef starts cooking, but the waiter can also take the next person's order. When your food is ready, you get a call.</a:t>
            </a:r>
          </a:p>
          <a:p>
            <a:pPr>
              <a:lnSpc>
                <a:spcPct val="150000"/>
              </a:lnSpc>
            </a:pPr>
            <a:endParaRPr lang="en-US" sz="1600" dirty="0">
              <a:solidFill>
                <a:schemeClr val="bg2">
                  <a:lumMod val="10000"/>
                </a:schemeClr>
              </a:solidFill>
            </a:endParaRPr>
          </a:p>
          <a:p>
            <a:pPr>
              <a:lnSpc>
                <a:spcPct val="150000"/>
              </a:lnSpc>
            </a:pPr>
            <a:r>
              <a:rPr lang="en-US" sz="1600" dirty="0">
                <a:solidFill>
                  <a:schemeClr val="bg2">
                    <a:lumMod val="10000"/>
                  </a:schemeClr>
                </a:solidFill>
              </a:rPr>
              <a:t>Why do we need Async on the web?</a:t>
            </a:r>
          </a:p>
          <a:p>
            <a:pPr>
              <a:lnSpc>
                <a:spcPct val="150000"/>
              </a:lnSpc>
            </a:pPr>
            <a:r>
              <a:rPr lang="en-US" sz="1600" dirty="0">
                <a:solidFill>
                  <a:schemeClr val="bg2">
                    <a:lumMod val="10000"/>
                  </a:schemeClr>
                </a:solidFill>
              </a:rPr>
              <a:t>Because it takes time to get information from the server. If our code waits for the server to respond, the entire site will "freeze" and the user won't be able to click a single button.</a:t>
            </a:r>
          </a:p>
        </p:txBody>
      </p:sp>
    </p:spTree>
    <p:extLst>
      <p:ext uri="{BB962C8B-B14F-4D97-AF65-F5344CB8AC3E}">
        <p14:creationId xmlns:p14="http://schemas.microsoft.com/office/powerpoint/2010/main" val="3783506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3054939"/>
          </a:xfrm>
          <a:prstGeom prst="rect">
            <a:avLst/>
          </a:prstGeom>
          <a:noFill/>
        </p:spPr>
        <p:txBody>
          <a:bodyPr wrap="square" rtlCol="0">
            <a:spAutoFit/>
          </a:bodyPr>
          <a:lstStyle/>
          <a:p>
            <a:pPr>
              <a:lnSpc>
                <a:spcPct val="150000"/>
              </a:lnSpc>
            </a:pPr>
            <a:r>
              <a:rPr lang="en-US" b="1" dirty="0">
                <a:solidFill>
                  <a:srgbClr val="92D050"/>
                </a:solidFill>
              </a:rPr>
              <a:t>What is API?</a:t>
            </a:r>
          </a:p>
          <a:p>
            <a:pPr>
              <a:lnSpc>
                <a:spcPct val="150000"/>
              </a:lnSpc>
            </a:pPr>
            <a:r>
              <a:rPr lang="en-US" sz="1600" dirty="0">
                <a:solidFill>
                  <a:schemeClr val="tx1">
                    <a:lumMod val="95000"/>
                    <a:lumOff val="5000"/>
                  </a:schemeClr>
                </a:solidFill>
              </a:rPr>
              <a:t>API stands for Application Programming Interface. Imagine you are in a restaurant (Frontend), the kitchen is the server (Backend). You can't go directly to the kitchen! The waiter is the API. He gives you the menu, takes the order, takes it to the kitchen and returns the food to you.</a:t>
            </a:r>
          </a:p>
          <a:p>
            <a:pPr>
              <a:lnSpc>
                <a:spcPct val="150000"/>
              </a:lnSpc>
            </a:pPr>
            <a:r>
              <a:rPr lang="en-US" sz="1600" dirty="0">
                <a:solidFill>
                  <a:schemeClr val="tx1">
                    <a:lumMod val="95000"/>
                    <a:lumOff val="5000"/>
                  </a:schemeClr>
                </a:solidFill>
              </a:rPr>
              <a:t>In the web world, an API is an address to which we send a request and it returns data to us (usually in JSON format).</a:t>
            </a:r>
          </a:p>
          <a:p>
            <a:pPr>
              <a:lnSpc>
                <a:spcPct val="150000"/>
              </a:lnSpc>
            </a:pPr>
            <a:r>
              <a:rPr lang="en-US" sz="1600" b="1" dirty="0">
                <a:solidFill>
                  <a:srgbClr val="92D050"/>
                </a:solidFill>
              </a:rPr>
              <a:t>Fetch Method: </a:t>
            </a:r>
          </a:p>
          <a:p>
            <a:pPr>
              <a:lnSpc>
                <a:spcPct val="150000"/>
              </a:lnSpc>
            </a:pPr>
            <a:r>
              <a:rPr lang="en-US" sz="1600" dirty="0">
                <a:solidFill>
                  <a:schemeClr val="tx1">
                    <a:lumMod val="95000"/>
                    <a:lumOff val="5000"/>
                  </a:schemeClr>
                </a:solidFill>
              </a:rPr>
              <a:t>fetch is the standard JavaScript tool for sending a request to the server. This method gives us a Promise. That is, it says: "I'm going to fetch the data now, I promise you either I'll fetch the data or I'll tell you why it didn't work!"</a:t>
            </a:r>
          </a:p>
        </p:txBody>
      </p:sp>
      <p:pic>
        <p:nvPicPr>
          <p:cNvPr id="3" name="Picture 2">
            <a:extLst>
              <a:ext uri="{FF2B5EF4-FFF2-40B4-BE49-F238E27FC236}">
                <a16:creationId xmlns:a16="http://schemas.microsoft.com/office/drawing/2014/main" id="{7B3FE2E6-E3C4-4DED-8ECB-E52D47894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7675" y="3903017"/>
            <a:ext cx="7278116" cy="1676634"/>
          </a:xfrm>
          <a:prstGeom prst="rect">
            <a:avLst/>
          </a:prstGeom>
        </p:spPr>
      </p:pic>
    </p:spTree>
    <p:extLst>
      <p:ext uri="{BB962C8B-B14F-4D97-AF65-F5344CB8AC3E}">
        <p14:creationId xmlns:p14="http://schemas.microsoft.com/office/powerpoint/2010/main" val="267914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76796" y="399687"/>
            <a:ext cx="10615076" cy="3927357"/>
          </a:xfrm>
          <a:prstGeom prst="rect">
            <a:avLst/>
          </a:prstGeom>
          <a:noFill/>
        </p:spPr>
        <p:txBody>
          <a:bodyPr wrap="square" rtlCol="0">
            <a:spAutoFit/>
          </a:bodyPr>
          <a:lstStyle/>
          <a:p>
            <a:pPr>
              <a:lnSpc>
                <a:spcPct val="150000"/>
              </a:lnSpc>
            </a:pPr>
            <a:r>
              <a:rPr lang="en-US" b="1" dirty="0">
                <a:solidFill>
                  <a:srgbClr val="993366"/>
                </a:solidFill>
              </a:rPr>
              <a:t>The concept of Promise:</a:t>
            </a:r>
          </a:p>
          <a:p>
            <a:pPr>
              <a:lnSpc>
                <a:spcPct val="150000"/>
              </a:lnSpc>
            </a:pPr>
            <a:r>
              <a:rPr lang="en-US" sz="1600" dirty="0">
                <a:solidFill>
                  <a:schemeClr val="bg2">
                    <a:lumMod val="10000"/>
                  </a:schemeClr>
                </a:solidFill>
              </a:rPr>
              <a:t>Imagine you order a pizza from a fast food restaurant. The chef gives you a vibrating device (Pager). This device is actually a Promise:</a:t>
            </a:r>
          </a:p>
          <a:p>
            <a:pPr>
              <a:lnSpc>
                <a:spcPct val="150000"/>
              </a:lnSpc>
            </a:pPr>
            <a:r>
              <a:rPr lang="en-US" sz="1600" dirty="0">
                <a:solidFill>
                  <a:schemeClr val="bg2">
                    <a:lumMod val="10000"/>
                  </a:schemeClr>
                </a:solidFill>
              </a:rPr>
              <a:t>1. Pending: The device is currently silent. The pizza is not ready yet (the code is running).</a:t>
            </a:r>
          </a:p>
          <a:p>
            <a:pPr>
              <a:lnSpc>
                <a:spcPct val="150000"/>
              </a:lnSpc>
            </a:pPr>
            <a:r>
              <a:rPr lang="en-US" sz="1600" dirty="0">
                <a:solidFill>
                  <a:schemeClr val="bg2">
                    <a:lumMod val="10000"/>
                  </a:schemeClr>
                </a:solidFill>
              </a:rPr>
              <a:t>2. Fulfilled: The device vibrates! The pizza is ready and you get your food (the data was received successfully).</a:t>
            </a:r>
          </a:p>
          <a:p>
            <a:pPr>
              <a:lnSpc>
                <a:spcPct val="150000"/>
              </a:lnSpc>
            </a:pPr>
            <a:r>
              <a:rPr lang="en-US" sz="1600" dirty="0">
                <a:solidFill>
                  <a:schemeClr val="bg2">
                    <a:lumMod val="10000"/>
                  </a:schemeClr>
                </a:solidFill>
              </a:rPr>
              <a:t>3. Rejected: The chef comes out and says, unfortunately, we are out of cheese and we cannot serve the pizza (an error occurred).</a:t>
            </a:r>
          </a:p>
          <a:p>
            <a:pPr>
              <a:lnSpc>
                <a:spcPct val="150000"/>
              </a:lnSpc>
            </a:pPr>
            <a:r>
              <a:rPr lang="en-US" b="1" dirty="0">
                <a:solidFill>
                  <a:srgbClr val="993366"/>
                </a:solidFill>
              </a:rPr>
              <a:t>Structure of a Promise:</a:t>
            </a:r>
          </a:p>
          <a:p>
            <a:pPr>
              <a:lnSpc>
                <a:spcPct val="150000"/>
              </a:lnSpc>
            </a:pPr>
            <a:r>
              <a:rPr lang="en-US" sz="1600" dirty="0">
                <a:solidFill>
                  <a:schemeClr val="bg2">
                    <a:lumMod val="10000"/>
                  </a:schemeClr>
                </a:solidFill>
              </a:rPr>
              <a:t>A promise is created with the keyword new Promise and takes a function that has two inputs: resolve (for success) and reject (for failure).</a:t>
            </a:r>
          </a:p>
        </p:txBody>
      </p:sp>
      <p:pic>
        <p:nvPicPr>
          <p:cNvPr id="5" name="Picture 4">
            <a:extLst>
              <a:ext uri="{FF2B5EF4-FFF2-40B4-BE49-F238E27FC236}">
                <a16:creationId xmlns:a16="http://schemas.microsoft.com/office/drawing/2014/main" id="{7CDADE46-68CC-4BE0-B6AD-7A5605DC1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978" y="4085846"/>
            <a:ext cx="5375690" cy="2497708"/>
          </a:xfrm>
          <a:prstGeom prst="rect">
            <a:avLst/>
          </a:prstGeom>
        </p:spPr>
      </p:pic>
    </p:spTree>
    <p:extLst>
      <p:ext uri="{BB962C8B-B14F-4D97-AF65-F5344CB8AC3E}">
        <p14:creationId xmlns:p14="http://schemas.microsoft.com/office/powerpoint/2010/main" val="3328673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59862" y="712954"/>
            <a:ext cx="10615076" cy="1900777"/>
          </a:xfrm>
          <a:prstGeom prst="rect">
            <a:avLst/>
          </a:prstGeom>
          <a:noFill/>
        </p:spPr>
        <p:txBody>
          <a:bodyPr wrap="square" rtlCol="0">
            <a:spAutoFit/>
          </a:bodyPr>
          <a:lstStyle/>
          <a:p>
            <a:pPr>
              <a:lnSpc>
                <a:spcPct val="150000"/>
              </a:lnSpc>
            </a:pPr>
            <a:r>
              <a:rPr lang="en-US" sz="1600" b="1" dirty="0">
                <a:solidFill>
                  <a:srgbClr val="993366"/>
                </a:solidFill>
              </a:rPr>
              <a:t>How to use promises?</a:t>
            </a:r>
          </a:p>
          <a:p>
            <a:pPr>
              <a:lnSpc>
                <a:spcPct val="150000"/>
              </a:lnSpc>
            </a:pPr>
            <a:r>
              <a:rPr lang="en-US" sz="1600" dirty="0">
                <a:solidFill>
                  <a:schemeClr val="bg2">
                    <a:lumMod val="10000"/>
                  </a:schemeClr>
                </a:solidFill>
              </a:rPr>
              <a:t>When we have a promise, we need to listen to it to find out what the result was:</a:t>
            </a:r>
          </a:p>
          <a:p>
            <a:pPr>
              <a:lnSpc>
                <a:spcPct val="150000"/>
              </a:lnSpc>
            </a:pPr>
            <a:r>
              <a:rPr lang="en-US" sz="1600" b="1" dirty="0">
                <a:solidFill>
                  <a:schemeClr val="bg1">
                    <a:lumMod val="95000"/>
                  </a:schemeClr>
                </a:solidFill>
                <a:highlight>
                  <a:srgbClr val="993366"/>
                </a:highlight>
              </a:rPr>
              <a:t>.then():</a:t>
            </a:r>
            <a:r>
              <a:rPr lang="en-US" sz="1600" dirty="0">
                <a:solidFill>
                  <a:schemeClr val="bg2">
                    <a:lumMod val="10000"/>
                  </a:schemeClr>
                </a:solidFill>
                <a:highlight>
                  <a:srgbClr val="993366"/>
                </a:highlight>
              </a:rPr>
              <a:t> </a:t>
            </a:r>
            <a:r>
              <a:rPr lang="en-US" sz="1600" dirty="0">
                <a:solidFill>
                  <a:schemeClr val="bg2">
                    <a:lumMod val="10000"/>
                  </a:schemeClr>
                </a:solidFill>
              </a:rPr>
              <a:t>This part is executed when the promise is resolved successfully (resolve).</a:t>
            </a:r>
          </a:p>
          <a:p>
            <a:pPr>
              <a:lnSpc>
                <a:spcPct val="150000"/>
              </a:lnSpc>
            </a:pPr>
            <a:r>
              <a:rPr lang="en-US" sz="1600" b="1" dirty="0">
                <a:solidFill>
                  <a:schemeClr val="bg1">
                    <a:lumMod val="95000"/>
                  </a:schemeClr>
                </a:solidFill>
                <a:highlight>
                  <a:srgbClr val="993366"/>
                </a:highlight>
              </a:rPr>
              <a:t>.catch():</a:t>
            </a:r>
            <a:r>
              <a:rPr lang="en-US" sz="1600" b="1" dirty="0">
                <a:solidFill>
                  <a:schemeClr val="bg2">
                    <a:lumMod val="10000"/>
                  </a:schemeClr>
                </a:solidFill>
                <a:highlight>
                  <a:srgbClr val="993366"/>
                </a:highlight>
              </a:rPr>
              <a:t> </a:t>
            </a:r>
            <a:r>
              <a:rPr lang="en-US" sz="1600" dirty="0">
                <a:solidFill>
                  <a:schemeClr val="bg2">
                    <a:lumMod val="10000"/>
                  </a:schemeClr>
                </a:solidFill>
              </a:rPr>
              <a:t>This part is executed when the promise fails (reject).</a:t>
            </a:r>
          </a:p>
          <a:p>
            <a:pPr>
              <a:lnSpc>
                <a:spcPct val="150000"/>
              </a:lnSpc>
            </a:pPr>
            <a:r>
              <a:rPr lang="en-US" sz="1600" b="1" dirty="0">
                <a:solidFill>
                  <a:schemeClr val="bg1">
                    <a:lumMod val="95000"/>
                  </a:schemeClr>
                </a:solidFill>
                <a:highlight>
                  <a:srgbClr val="993366"/>
                </a:highlight>
              </a:rPr>
              <a:t>.finally(): </a:t>
            </a:r>
            <a:r>
              <a:rPr lang="en-US" sz="1600" dirty="0">
                <a:solidFill>
                  <a:schemeClr val="bg2">
                    <a:lumMod val="10000"/>
                  </a:schemeClr>
                </a:solidFill>
              </a:rPr>
              <a:t>This part is executed in both cases (such as when the restaurant closes).</a:t>
            </a:r>
          </a:p>
        </p:txBody>
      </p:sp>
      <p:pic>
        <p:nvPicPr>
          <p:cNvPr id="5" name="Picture 4">
            <a:extLst>
              <a:ext uri="{FF2B5EF4-FFF2-40B4-BE49-F238E27FC236}">
                <a16:creationId xmlns:a16="http://schemas.microsoft.com/office/drawing/2014/main" id="{7CDADE46-68CC-4BE0-B6AD-7A5605DC1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9555" y="3171446"/>
            <a:ext cx="5375690" cy="2497708"/>
          </a:xfrm>
          <a:prstGeom prst="rect">
            <a:avLst/>
          </a:prstGeom>
        </p:spPr>
      </p:pic>
    </p:spTree>
    <p:extLst>
      <p:ext uri="{BB962C8B-B14F-4D97-AF65-F5344CB8AC3E}">
        <p14:creationId xmlns:p14="http://schemas.microsoft.com/office/powerpoint/2010/main" val="1674591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59862" y="712954"/>
            <a:ext cx="10615076" cy="2270109"/>
          </a:xfrm>
          <a:prstGeom prst="rect">
            <a:avLst/>
          </a:prstGeom>
          <a:noFill/>
        </p:spPr>
        <p:txBody>
          <a:bodyPr wrap="square" rtlCol="0">
            <a:spAutoFit/>
          </a:bodyPr>
          <a:lstStyle/>
          <a:p>
            <a:pPr>
              <a:lnSpc>
                <a:spcPct val="150000"/>
              </a:lnSpc>
            </a:pPr>
            <a:r>
              <a:rPr lang="en-US" sz="1600" b="1" dirty="0">
                <a:solidFill>
                  <a:srgbClr val="FFC000"/>
                </a:solidFill>
              </a:rPr>
              <a:t>Advanced Promise Methods: </a:t>
            </a:r>
          </a:p>
          <a:p>
            <a:pPr>
              <a:lnSpc>
                <a:spcPct val="150000"/>
              </a:lnSpc>
            </a:pPr>
            <a:r>
              <a:rPr lang="en-US" sz="1600" dirty="0">
                <a:solidFill>
                  <a:schemeClr val="bg2">
                    <a:lumMod val="10000"/>
                  </a:schemeClr>
                </a:solidFill>
              </a:rPr>
              <a:t>Sometimes we have multiple promises and we want to manage them together:</a:t>
            </a:r>
          </a:p>
          <a:p>
            <a:pPr>
              <a:lnSpc>
                <a:spcPct val="150000"/>
              </a:lnSpc>
            </a:pPr>
            <a:r>
              <a:rPr lang="en-US" sz="1600" b="1" dirty="0" err="1">
                <a:solidFill>
                  <a:srgbClr val="FFC000"/>
                </a:solidFill>
              </a:rPr>
              <a:t>Promise.all</a:t>
            </a:r>
            <a:r>
              <a:rPr lang="en-US" sz="1600" b="1" dirty="0">
                <a:solidFill>
                  <a:srgbClr val="FFC000"/>
                </a:solidFill>
              </a:rPr>
              <a:t>([p1, p2, p3]):</a:t>
            </a:r>
            <a:r>
              <a:rPr lang="en-US" sz="1600" dirty="0">
                <a:solidFill>
                  <a:schemeClr val="bg2">
                    <a:lumMod val="10000"/>
                  </a:schemeClr>
                </a:solidFill>
              </a:rPr>
              <a:t> Waits for all promises to succeed. If even one fails, all of them fail. (Good for when we need information from multiple sources at the same time).</a:t>
            </a:r>
          </a:p>
          <a:p>
            <a:pPr>
              <a:lnSpc>
                <a:spcPct val="150000"/>
              </a:lnSpc>
            </a:pPr>
            <a:r>
              <a:rPr lang="en-US" sz="1600" b="1" dirty="0" err="1">
                <a:solidFill>
                  <a:srgbClr val="FFC000"/>
                </a:solidFill>
              </a:rPr>
              <a:t>Promise.race</a:t>
            </a:r>
            <a:r>
              <a:rPr lang="en-US" sz="1600" b="1" dirty="0">
                <a:solidFill>
                  <a:srgbClr val="FFC000"/>
                </a:solidFill>
              </a:rPr>
              <a:t>([p1, p2, p3]):</a:t>
            </a:r>
            <a:r>
              <a:rPr lang="en-US" sz="1600" dirty="0">
                <a:solidFill>
                  <a:schemeClr val="bg2">
                    <a:lumMod val="10000"/>
                  </a:schemeClr>
                </a:solidFill>
              </a:rPr>
              <a:t> Whichever one responds first (whether successful or unsuccessful), returns the same. (Like a race).</a:t>
            </a:r>
          </a:p>
          <a:p>
            <a:pPr>
              <a:lnSpc>
                <a:spcPct val="150000"/>
              </a:lnSpc>
            </a:pPr>
            <a:r>
              <a:rPr lang="en-US" sz="1600" b="1" dirty="0" err="1">
                <a:solidFill>
                  <a:srgbClr val="FFC000"/>
                </a:solidFill>
              </a:rPr>
              <a:t>Promise.allSettled</a:t>
            </a:r>
            <a:r>
              <a:rPr lang="en-US" sz="1600" b="1" dirty="0">
                <a:solidFill>
                  <a:srgbClr val="FFC000"/>
                </a:solidFill>
              </a:rPr>
              <a:t>():</a:t>
            </a:r>
            <a:r>
              <a:rPr lang="en-US" sz="1600" dirty="0">
                <a:solidFill>
                  <a:schemeClr val="bg2">
                    <a:lumMod val="10000"/>
                  </a:schemeClr>
                </a:solidFill>
              </a:rPr>
              <a:t> Waits for everyone's task to be clear (it doesn't matter whether they fail or succeed).</a:t>
            </a:r>
          </a:p>
        </p:txBody>
      </p:sp>
    </p:spTree>
    <p:extLst>
      <p:ext uri="{BB962C8B-B14F-4D97-AF65-F5344CB8AC3E}">
        <p14:creationId xmlns:p14="http://schemas.microsoft.com/office/powerpoint/2010/main" val="1822879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59862" y="577488"/>
            <a:ext cx="10615076" cy="2270109"/>
          </a:xfrm>
          <a:prstGeom prst="rect">
            <a:avLst/>
          </a:prstGeom>
          <a:noFill/>
        </p:spPr>
        <p:txBody>
          <a:bodyPr wrap="square" rtlCol="0">
            <a:spAutoFit/>
          </a:bodyPr>
          <a:lstStyle/>
          <a:p>
            <a:pPr>
              <a:lnSpc>
                <a:spcPct val="150000"/>
              </a:lnSpc>
            </a:pPr>
            <a:r>
              <a:rPr lang="en-US" sz="1600" b="1" dirty="0">
                <a:solidFill>
                  <a:srgbClr val="0070C0"/>
                </a:solidFill>
              </a:rPr>
              <a:t>Async / Await:</a:t>
            </a:r>
          </a:p>
          <a:p>
            <a:pPr>
              <a:lnSpc>
                <a:spcPct val="150000"/>
              </a:lnSpc>
            </a:pPr>
            <a:r>
              <a:rPr lang="en-US" sz="1600" dirty="0">
                <a:solidFill>
                  <a:schemeClr val="bg2">
                    <a:lumMod val="10000"/>
                  </a:schemeClr>
                </a:solidFill>
              </a:rPr>
              <a:t>Using .then() sometimes makes the code cluttered. In modern JavaScript, we use the keywords async and await, which make asynchronous code look like synchronous code (line by line).</a:t>
            </a:r>
          </a:p>
          <a:p>
            <a:pPr>
              <a:lnSpc>
                <a:spcPct val="150000"/>
              </a:lnSpc>
            </a:pPr>
            <a:r>
              <a:rPr lang="en-US" sz="1600" b="1" dirty="0">
                <a:solidFill>
                  <a:srgbClr val="0070C0"/>
                </a:solidFill>
              </a:rPr>
              <a:t>async:</a:t>
            </a:r>
            <a:r>
              <a:rPr lang="en-US" sz="1600" dirty="0">
                <a:solidFill>
                  <a:schemeClr val="bg2">
                    <a:lumMod val="10000"/>
                  </a:schemeClr>
                </a:solidFill>
              </a:rPr>
              <a:t> comes before the function definition and says that this function has asynchronous operations.</a:t>
            </a:r>
          </a:p>
          <a:p>
            <a:pPr>
              <a:lnSpc>
                <a:spcPct val="150000"/>
              </a:lnSpc>
            </a:pPr>
            <a:r>
              <a:rPr lang="en-US" sz="1600" b="1" dirty="0">
                <a:solidFill>
                  <a:srgbClr val="0070C0"/>
                </a:solidFill>
              </a:rPr>
              <a:t>await:</a:t>
            </a:r>
            <a:r>
              <a:rPr lang="en-US" sz="1600" dirty="0">
                <a:solidFill>
                  <a:schemeClr val="bg2">
                    <a:lumMod val="10000"/>
                  </a:schemeClr>
                </a:solidFill>
              </a:rPr>
              <a:t> comes before the fetch command and says: "Wait here until the server responds, then go to the next line."</a:t>
            </a:r>
          </a:p>
          <a:p>
            <a:pPr>
              <a:lnSpc>
                <a:spcPct val="150000"/>
              </a:lnSpc>
            </a:pPr>
            <a:r>
              <a:rPr lang="en-US" sz="1600" dirty="0">
                <a:solidFill>
                  <a:schemeClr val="bg2">
                    <a:lumMod val="10000"/>
                  </a:schemeClr>
                </a:solidFill>
              </a:rPr>
              <a:t>Example with Async/Await:</a:t>
            </a:r>
          </a:p>
        </p:txBody>
      </p:sp>
      <p:pic>
        <p:nvPicPr>
          <p:cNvPr id="3" name="Picture 2">
            <a:extLst>
              <a:ext uri="{FF2B5EF4-FFF2-40B4-BE49-F238E27FC236}">
                <a16:creationId xmlns:a16="http://schemas.microsoft.com/office/drawing/2014/main" id="{2C48D7EE-CD08-466D-AC19-0CF55BC40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523" y="3069616"/>
            <a:ext cx="6073754" cy="3501340"/>
          </a:xfrm>
          <a:prstGeom prst="rect">
            <a:avLst/>
          </a:prstGeom>
        </p:spPr>
      </p:pic>
    </p:spTree>
    <p:extLst>
      <p:ext uri="{BB962C8B-B14F-4D97-AF65-F5344CB8AC3E}">
        <p14:creationId xmlns:p14="http://schemas.microsoft.com/office/powerpoint/2010/main" val="753509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59862" y="577488"/>
            <a:ext cx="10615076" cy="4116768"/>
          </a:xfrm>
          <a:prstGeom prst="rect">
            <a:avLst/>
          </a:prstGeom>
          <a:noFill/>
        </p:spPr>
        <p:txBody>
          <a:bodyPr wrap="square" rtlCol="0">
            <a:spAutoFit/>
          </a:bodyPr>
          <a:lstStyle/>
          <a:p>
            <a:pPr>
              <a:lnSpc>
                <a:spcPct val="150000"/>
              </a:lnSpc>
            </a:pPr>
            <a:r>
              <a:rPr lang="en-US" sz="1600" b="1" dirty="0">
                <a:solidFill>
                  <a:schemeClr val="accent2">
                    <a:lumMod val="75000"/>
                  </a:schemeClr>
                </a:solidFill>
              </a:rPr>
              <a:t>POST method in fetch:</a:t>
            </a:r>
          </a:p>
          <a:p>
            <a:pPr>
              <a:lnSpc>
                <a:spcPct val="150000"/>
              </a:lnSpc>
            </a:pPr>
            <a:r>
              <a:rPr lang="en-US" sz="1600" dirty="0">
                <a:solidFill>
                  <a:schemeClr val="tx1">
                    <a:lumMod val="95000"/>
                    <a:lumOff val="5000"/>
                  </a:schemeClr>
                </a:solidFill>
              </a:rPr>
              <a:t>Imagine that you have only read magazines (GET), but now you want to write a letter yourself and post it to the magazine office (POST).</a:t>
            </a:r>
          </a:p>
          <a:p>
            <a:pPr>
              <a:lnSpc>
                <a:spcPct val="150000"/>
              </a:lnSpc>
            </a:pPr>
            <a:r>
              <a:rPr lang="en-US" sz="1600" dirty="0">
                <a:solidFill>
                  <a:schemeClr val="tx1">
                    <a:lumMod val="95000"/>
                    <a:lumOff val="5000"/>
                  </a:schemeClr>
                </a:solidFill>
              </a:rPr>
              <a:t>On the web, when you fill out a registration form or leave a comment, you use the POST method.</a:t>
            </a:r>
          </a:p>
          <a:p>
            <a:pPr>
              <a:lnSpc>
                <a:spcPct val="150000"/>
              </a:lnSpc>
            </a:pPr>
            <a:r>
              <a:rPr lang="en-US" sz="1600" dirty="0">
                <a:solidFill>
                  <a:schemeClr val="tx1">
                    <a:lumMod val="95000"/>
                    <a:lumOff val="5000"/>
                  </a:schemeClr>
                </a:solidFill>
              </a:rPr>
              <a:t>For this, we still use the same fetch function, but we need to tell it that this time it is not just a simple request and that we have "content" with it.</a:t>
            </a:r>
          </a:p>
          <a:p>
            <a:pPr>
              <a:lnSpc>
                <a:spcPct val="150000"/>
              </a:lnSpc>
            </a:pPr>
            <a:r>
              <a:rPr lang="en-US" sz="1600" b="1" dirty="0">
                <a:solidFill>
                  <a:schemeClr val="accent2">
                    <a:lumMod val="75000"/>
                  </a:schemeClr>
                </a:solidFill>
              </a:rPr>
              <a:t>POST request structure in Fetch:</a:t>
            </a:r>
          </a:p>
          <a:p>
            <a:pPr>
              <a:lnSpc>
                <a:spcPct val="150000"/>
              </a:lnSpc>
            </a:pPr>
            <a:r>
              <a:rPr lang="en-US" sz="1600" dirty="0">
                <a:solidFill>
                  <a:schemeClr val="tx1">
                    <a:lumMod val="95000"/>
                    <a:lumOff val="5000"/>
                  </a:schemeClr>
                </a:solidFill>
              </a:rPr>
              <a:t>When we want to send data, the fetch function takes two inputs:</a:t>
            </a:r>
          </a:p>
          <a:p>
            <a:pPr>
              <a:lnSpc>
                <a:spcPct val="150000"/>
              </a:lnSpc>
            </a:pPr>
            <a:r>
              <a:rPr lang="en-US" sz="1600" dirty="0">
                <a:solidFill>
                  <a:schemeClr val="tx1">
                    <a:lumMod val="95000"/>
                    <a:lumOff val="5000"/>
                  </a:schemeClr>
                </a:solidFill>
              </a:rPr>
              <a:t>1. The API address</a:t>
            </a:r>
          </a:p>
          <a:p>
            <a:pPr>
              <a:lnSpc>
                <a:spcPct val="150000"/>
              </a:lnSpc>
            </a:pPr>
            <a:r>
              <a:rPr lang="en-US" sz="1600" dirty="0">
                <a:solidFill>
                  <a:schemeClr val="tx1">
                    <a:lumMod val="95000"/>
                    <a:lumOff val="5000"/>
                  </a:schemeClr>
                </a:solidFill>
              </a:rPr>
              <a:t>2. A settings object (Options) that contains the method, headers, and the data body.</a:t>
            </a:r>
          </a:p>
          <a:p>
            <a:pPr>
              <a:lnSpc>
                <a:spcPct val="150000"/>
              </a:lnSpc>
            </a:pPr>
            <a:r>
              <a:rPr lang="en-US" sz="1600" dirty="0">
                <a:solidFill>
                  <a:schemeClr val="tx1">
                    <a:lumMod val="95000"/>
                    <a:lumOff val="5000"/>
                  </a:schemeClr>
                </a:solidFill>
              </a:rPr>
              <a:t>Example code:</a:t>
            </a:r>
          </a:p>
        </p:txBody>
      </p:sp>
    </p:spTree>
    <p:extLst>
      <p:ext uri="{BB962C8B-B14F-4D97-AF65-F5344CB8AC3E}">
        <p14:creationId xmlns:p14="http://schemas.microsoft.com/office/powerpoint/2010/main" val="1368861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59862" y="577488"/>
            <a:ext cx="10615076" cy="2270109"/>
          </a:xfrm>
          <a:prstGeom prst="rect">
            <a:avLst/>
          </a:prstGeom>
          <a:noFill/>
        </p:spPr>
        <p:txBody>
          <a:bodyPr wrap="square" rtlCol="0">
            <a:spAutoFit/>
          </a:bodyPr>
          <a:lstStyle/>
          <a:p>
            <a:pPr>
              <a:lnSpc>
                <a:spcPct val="150000"/>
              </a:lnSpc>
            </a:pPr>
            <a:r>
              <a:rPr lang="en-US" sz="1600" b="1" dirty="0">
                <a:solidFill>
                  <a:srgbClr val="C00000"/>
                </a:solidFill>
              </a:rPr>
              <a:t>Why do we use </a:t>
            </a:r>
            <a:r>
              <a:rPr lang="en-US" sz="1600" b="1" dirty="0" err="1">
                <a:solidFill>
                  <a:srgbClr val="C00000"/>
                </a:solidFill>
              </a:rPr>
              <a:t>JSON.stringify</a:t>
            </a:r>
            <a:r>
              <a:rPr lang="en-US" sz="1600" b="1" dirty="0">
                <a:solidFill>
                  <a:srgbClr val="C00000"/>
                </a:solidFill>
              </a:rPr>
              <a:t>?</a:t>
            </a:r>
          </a:p>
          <a:p>
            <a:pPr>
              <a:lnSpc>
                <a:spcPct val="150000"/>
              </a:lnSpc>
            </a:pPr>
            <a:r>
              <a:rPr lang="en-US" sz="1600" dirty="0">
                <a:solidFill>
                  <a:schemeClr val="tx1">
                    <a:lumMod val="95000"/>
                    <a:lumOff val="5000"/>
                  </a:schemeClr>
                </a:solidFill>
              </a:rPr>
              <a:t>This is very important for students: the Internet cannot transport "JavaScript objects". The Internet only understands strings or text.</a:t>
            </a:r>
          </a:p>
          <a:p>
            <a:pPr>
              <a:lnSpc>
                <a:spcPct val="150000"/>
              </a:lnSpc>
            </a:pPr>
            <a:r>
              <a:rPr lang="en-US" sz="1600" b="1" dirty="0" err="1">
                <a:solidFill>
                  <a:srgbClr val="C00000"/>
                </a:solidFill>
              </a:rPr>
              <a:t>JSON.stringify</a:t>
            </a:r>
            <a:r>
              <a:rPr lang="en-US" sz="1600" b="1" dirty="0">
                <a:solidFill>
                  <a:srgbClr val="C00000"/>
                </a:solidFill>
              </a:rPr>
              <a:t>(obj):</a:t>
            </a:r>
            <a:r>
              <a:rPr lang="en-US" sz="1600" dirty="0">
                <a:solidFill>
                  <a:srgbClr val="C00000"/>
                </a:solidFill>
              </a:rPr>
              <a:t> </a:t>
            </a:r>
            <a:r>
              <a:rPr lang="en-US" sz="1600" dirty="0">
                <a:solidFill>
                  <a:schemeClr val="tx1">
                    <a:lumMod val="95000"/>
                    <a:lumOff val="5000"/>
                  </a:schemeClr>
                </a:solidFill>
              </a:rPr>
              <a:t>Converts our object into a long string to pass over the network wires.</a:t>
            </a:r>
          </a:p>
          <a:p>
            <a:pPr>
              <a:lnSpc>
                <a:spcPct val="150000"/>
              </a:lnSpc>
            </a:pPr>
            <a:r>
              <a:rPr lang="en-US" sz="1600" b="1" dirty="0">
                <a:solidFill>
                  <a:srgbClr val="C00000"/>
                </a:solidFill>
              </a:rPr>
              <a:t>Content-type:</a:t>
            </a:r>
            <a:r>
              <a:rPr lang="en-US" sz="1600" dirty="0">
                <a:solidFill>
                  <a:schemeClr val="tx1">
                    <a:lumMod val="95000"/>
                    <a:lumOff val="5000"/>
                  </a:schemeClr>
                </a:solidFill>
              </a:rPr>
              <a:t> We tell the server: "Hey server! What I'm sending you is not plain text, it's JSON formatted; so interpret it as such."</a:t>
            </a:r>
          </a:p>
        </p:txBody>
      </p:sp>
      <p:pic>
        <p:nvPicPr>
          <p:cNvPr id="6" name="Picture 5">
            <a:extLst>
              <a:ext uri="{FF2B5EF4-FFF2-40B4-BE49-F238E27FC236}">
                <a16:creationId xmlns:a16="http://schemas.microsoft.com/office/drawing/2014/main" id="{A3F1A533-7313-43C6-8BEC-E3FD3970D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4083" y="2847597"/>
            <a:ext cx="5020184" cy="3617678"/>
          </a:xfrm>
          <a:prstGeom prst="rect">
            <a:avLst/>
          </a:prstGeom>
        </p:spPr>
      </p:pic>
    </p:spTree>
    <p:extLst>
      <p:ext uri="{BB962C8B-B14F-4D97-AF65-F5344CB8AC3E}">
        <p14:creationId xmlns:p14="http://schemas.microsoft.com/office/powerpoint/2010/main" val="175778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34462" y="577488"/>
            <a:ext cx="10615076" cy="3008772"/>
          </a:xfrm>
          <a:prstGeom prst="rect">
            <a:avLst/>
          </a:prstGeom>
          <a:noFill/>
        </p:spPr>
        <p:txBody>
          <a:bodyPr wrap="square" rtlCol="0">
            <a:spAutoFit/>
          </a:bodyPr>
          <a:lstStyle/>
          <a:p>
            <a:pPr>
              <a:lnSpc>
                <a:spcPct val="150000"/>
              </a:lnSpc>
            </a:pPr>
            <a:r>
              <a:rPr lang="en-US" sz="1600" b="1" dirty="0">
                <a:solidFill>
                  <a:srgbClr val="00B050"/>
                </a:solidFill>
              </a:rPr>
              <a:t>Local Storage:</a:t>
            </a:r>
          </a:p>
          <a:p>
            <a:pPr>
              <a:lnSpc>
                <a:spcPct val="150000"/>
              </a:lnSpc>
            </a:pPr>
            <a:r>
              <a:rPr lang="en-US" sz="1600" dirty="0">
                <a:solidFill>
                  <a:schemeClr val="tx1">
                    <a:lumMod val="95000"/>
                    <a:lumOff val="5000"/>
                  </a:schemeClr>
                </a:solidFill>
              </a:rPr>
              <a:t>Local Storage allows us to store data in the user's browser's permanent memory so that the information remains even when the browser is closed and reopened.</a:t>
            </a:r>
          </a:p>
          <a:p>
            <a:pPr>
              <a:lnSpc>
                <a:spcPct val="150000"/>
              </a:lnSpc>
            </a:pPr>
            <a:r>
              <a:rPr lang="en-US" sz="1600" b="1" dirty="0">
                <a:solidFill>
                  <a:srgbClr val="00B050"/>
                </a:solidFill>
              </a:rPr>
              <a:t>Local Storage Features:</a:t>
            </a:r>
          </a:p>
          <a:p>
            <a:pPr>
              <a:lnSpc>
                <a:spcPct val="150000"/>
              </a:lnSpc>
            </a:pPr>
            <a:r>
              <a:rPr lang="en-US" sz="1600" dirty="0">
                <a:solidFill>
                  <a:schemeClr val="tx1">
                    <a:lumMod val="95000"/>
                    <a:lumOff val="5000"/>
                  </a:schemeClr>
                </a:solidFill>
              </a:rPr>
              <a:t>1. Permanence: Data remains until it is manually deleted (by the user or our code).</a:t>
            </a:r>
          </a:p>
          <a:p>
            <a:pPr>
              <a:lnSpc>
                <a:spcPct val="150000"/>
              </a:lnSpc>
            </a:pPr>
            <a:r>
              <a:rPr lang="en-US" sz="1600" dirty="0">
                <a:solidFill>
                  <a:schemeClr val="tx1">
                    <a:lumMod val="95000"/>
                    <a:lumOff val="5000"/>
                  </a:schemeClr>
                </a:solidFill>
              </a:rPr>
              <a:t>2. Capacity: About 5-10 MB (much more than cookies).</a:t>
            </a:r>
          </a:p>
          <a:p>
            <a:pPr>
              <a:lnSpc>
                <a:spcPct val="150000"/>
              </a:lnSpc>
            </a:pPr>
            <a:r>
              <a:rPr lang="en-US" sz="1600" dirty="0">
                <a:solidFill>
                  <a:schemeClr val="tx1">
                    <a:lumMod val="95000"/>
                    <a:lumOff val="5000"/>
                  </a:schemeClr>
                </a:solidFill>
              </a:rPr>
              <a:t>3. Text only: Local Storage can only store Strings. (This is key!) </a:t>
            </a:r>
          </a:p>
          <a:p>
            <a:pPr>
              <a:lnSpc>
                <a:spcPct val="150000"/>
              </a:lnSpc>
            </a:pPr>
            <a:endParaRPr lang="en-US" sz="1600" dirty="0">
              <a:solidFill>
                <a:schemeClr val="tx1">
                  <a:lumMod val="95000"/>
                  <a:lumOff val="5000"/>
                </a:schemeClr>
              </a:solidFill>
            </a:endParaRPr>
          </a:p>
        </p:txBody>
      </p:sp>
    </p:spTree>
    <p:extLst>
      <p:ext uri="{BB962C8B-B14F-4D97-AF65-F5344CB8AC3E}">
        <p14:creationId xmlns:p14="http://schemas.microsoft.com/office/powerpoint/2010/main" val="4068805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087BA83-2DBF-4AA3-A534-6D194C10B11C}"/>
              </a:ext>
            </a:extLst>
          </p:cNvPr>
          <p:cNvGraphicFramePr>
            <a:graphicFrameLocks noGrp="1"/>
          </p:cNvGraphicFramePr>
          <p:nvPr>
            <p:extLst>
              <p:ext uri="{D42A27DB-BD31-4B8C-83A1-F6EECF244321}">
                <p14:modId xmlns:p14="http://schemas.microsoft.com/office/powerpoint/2010/main" val="507186905"/>
              </p:ext>
            </p:extLst>
          </p:nvPr>
        </p:nvGraphicFramePr>
        <p:xfrm>
          <a:off x="736600" y="2020094"/>
          <a:ext cx="10515600" cy="2987040"/>
        </p:xfrm>
        <a:graphic>
          <a:graphicData uri="http://schemas.openxmlformats.org/drawingml/2006/table">
            <a:tbl>
              <a:tblPr>
                <a:tableStyleId>{16D9F66E-5EB9-4882-86FB-DCBF35E3C3E4}</a:tableStyleId>
              </a:tblPr>
              <a:tblGrid>
                <a:gridCol w="2628900">
                  <a:extLst>
                    <a:ext uri="{9D8B030D-6E8A-4147-A177-3AD203B41FA5}">
                      <a16:colId xmlns:a16="http://schemas.microsoft.com/office/drawing/2014/main" val="3402902164"/>
                    </a:ext>
                  </a:extLst>
                </a:gridCol>
                <a:gridCol w="2628900">
                  <a:extLst>
                    <a:ext uri="{9D8B030D-6E8A-4147-A177-3AD203B41FA5}">
                      <a16:colId xmlns:a16="http://schemas.microsoft.com/office/drawing/2014/main" val="851268669"/>
                    </a:ext>
                  </a:extLst>
                </a:gridCol>
                <a:gridCol w="2628900">
                  <a:extLst>
                    <a:ext uri="{9D8B030D-6E8A-4147-A177-3AD203B41FA5}">
                      <a16:colId xmlns:a16="http://schemas.microsoft.com/office/drawing/2014/main" val="2594639408"/>
                    </a:ext>
                  </a:extLst>
                </a:gridCol>
                <a:gridCol w="2628900">
                  <a:extLst>
                    <a:ext uri="{9D8B030D-6E8A-4147-A177-3AD203B41FA5}">
                      <a16:colId xmlns:a16="http://schemas.microsoft.com/office/drawing/2014/main" val="2619779144"/>
                    </a:ext>
                  </a:extLst>
                </a:gridCol>
              </a:tblGrid>
              <a:tr h="0">
                <a:tc>
                  <a:txBody>
                    <a:bodyPr/>
                    <a:lstStyle/>
                    <a:p>
                      <a:pPr rtl="0"/>
                      <a:r>
                        <a:rPr lang="en-US" b="1" dirty="0">
                          <a:solidFill>
                            <a:srgbClr val="1F1F1F"/>
                          </a:solidFill>
                          <a:effectLst/>
                          <a:latin typeface="+mn-lt"/>
                        </a:rPr>
                        <a:t>Operation</a:t>
                      </a:r>
                      <a:endParaRPr lang="en-US" dirty="0">
                        <a:solidFill>
                          <a:srgbClr val="1F1F1F"/>
                        </a:solidFill>
                        <a:effectLst/>
                        <a:latin typeface="+mn-lt"/>
                      </a:endParaRPr>
                    </a:p>
                  </a:txBody>
                  <a:tcPr marL="114300" marR="114300" marT="76200" marB="76200" anchor="ctr"/>
                </a:tc>
                <a:tc>
                  <a:txBody>
                    <a:bodyPr/>
                    <a:lstStyle/>
                    <a:p>
                      <a:pPr rtl="0"/>
                      <a:r>
                        <a:rPr lang="en-US" b="1" dirty="0">
                          <a:solidFill>
                            <a:srgbClr val="1F1F1F"/>
                          </a:solidFill>
                          <a:effectLst/>
                          <a:latin typeface="+mn-lt"/>
                        </a:rPr>
                        <a:t>Method</a:t>
                      </a:r>
                      <a:endParaRPr lang="en-US" dirty="0">
                        <a:solidFill>
                          <a:srgbClr val="1F1F1F"/>
                        </a:solidFill>
                        <a:effectLst/>
                        <a:latin typeface="+mn-lt"/>
                      </a:endParaRPr>
                    </a:p>
                  </a:txBody>
                  <a:tcPr marL="114300" marR="114300" marT="76200" marB="76200" anchor="ctr"/>
                </a:tc>
                <a:tc>
                  <a:txBody>
                    <a:bodyPr/>
                    <a:lstStyle/>
                    <a:p>
                      <a:pPr rtl="0"/>
                      <a:r>
                        <a:rPr lang="en-US" b="1">
                          <a:solidFill>
                            <a:srgbClr val="1F1F1F"/>
                          </a:solidFill>
                          <a:effectLst/>
                          <a:latin typeface="+mn-lt"/>
                        </a:rPr>
                        <a:t>Description</a:t>
                      </a:r>
                      <a:endParaRPr lang="en-US">
                        <a:solidFill>
                          <a:srgbClr val="1F1F1F"/>
                        </a:solidFill>
                        <a:effectLst/>
                        <a:latin typeface="+mn-lt"/>
                      </a:endParaRPr>
                    </a:p>
                  </a:txBody>
                  <a:tcPr marL="114300" marR="114300" marT="76200" marB="76200" anchor="ctr"/>
                </a:tc>
                <a:tc>
                  <a:txBody>
                    <a:bodyPr/>
                    <a:lstStyle/>
                    <a:p>
                      <a:pPr rtl="0"/>
                      <a:r>
                        <a:rPr lang="en-US" b="1" dirty="0">
                          <a:solidFill>
                            <a:srgbClr val="1F1F1F"/>
                          </a:solidFill>
                          <a:effectLst/>
                          <a:latin typeface="+mn-lt"/>
                        </a:rPr>
                        <a:t>Example</a:t>
                      </a:r>
                      <a:endParaRPr lang="en-US" dirty="0">
                        <a:solidFill>
                          <a:srgbClr val="1F1F1F"/>
                        </a:solidFill>
                        <a:effectLst/>
                        <a:latin typeface="+mn-lt"/>
                      </a:endParaRPr>
                    </a:p>
                  </a:txBody>
                  <a:tcPr marL="114300" marR="114300" marT="76200" marB="76200" anchor="ctr"/>
                </a:tc>
                <a:extLst>
                  <a:ext uri="{0D108BD9-81ED-4DB2-BD59-A6C34878D82A}">
                    <a16:rowId xmlns:a16="http://schemas.microsoft.com/office/drawing/2014/main" val="3621697533"/>
                  </a:ext>
                </a:extLst>
              </a:tr>
              <a:tr h="0">
                <a:tc>
                  <a:txBody>
                    <a:bodyPr/>
                    <a:lstStyle/>
                    <a:p>
                      <a:pPr rtl="0"/>
                      <a:r>
                        <a:rPr lang="en-US" sz="1600" b="1">
                          <a:solidFill>
                            <a:srgbClr val="1F1F1F"/>
                          </a:solidFill>
                          <a:effectLst/>
                          <a:latin typeface="+mj-lt"/>
                        </a:rPr>
                        <a:t>Create / Update</a:t>
                      </a:r>
                      <a:endParaRPr lang="en-US" sz="1600">
                        <a:solidFill>
                          <a:srgbClr val="1F1F1F"/>
                        </a:solidFill>
                        <a:effectLst/>
                        <a:latin typeface="+mj-lt"/>
                      </a:endParaRPr>
                    </a:p>
                  </a:txBody>
                  <a:tcPr marL="114300" marR="114300" marT="76200" marB="76200" anchor="ctr"/>
                </a:tc>
                <a:tc>
                  <a:txBody>
                    <a:bodyPr/>
                    <a:lstStyle/>
                    <a:p>
                      <a:pPr rtl="0"/>
                      <a:r>
                        <a:rPr lang="en-US" sz="1600">
                          <a:solidFill>
                            <a:srgbClr val="1F1F1F"/>
                          </a:solidFill>
                          <a:effectLst/>
                          <a:latin typeface="+mj-lt"/>
                        </a:rPr>
                        <a:t>localStorage.setItem('key', 'value')</a:t>
                      </a:r>
                    </a:p>
                  </a:txBody>
                  <a:tcPr marL="114300" marR="114300" marT="76200" marB="76200" anchor="ctr"/>
                </a:tc>
                <a:tc>
                  <a:txBody>
                    <a:bodyPr/>
                    <a:lstStyle/>
                    <a:p>
                      <a:pPr rtl="0"/>
                      <a:r>
                        <a:rPr lang="en-US" sz="1600">
                          <a:solidFill>
                            <a:srgbClr val="1F1F1F"/>
                          </a:solidFill>
                          <a:effectLst/>
                          <a:latin typeface="+mj-lt"/>
                        </a:rPr>
                        <a:t>Stores a data item with a specific key name.</a:t>
                      </a:r>
                    </a:p>
                  </a:txBody>
                  <a:tcPr marL="114300" marR="114300" marT="76200" marB="76200" anchor="ctr"/>
                </a:tc>
                <a:tc>
                  <a:txBody>
                    <a:bodyPr/>
                    <a:lstStyle/>
                    <a:p>
                      <a:pPr rtl="0"/>
                      <a:r>
                        <a:rPr lang="en-US" sz="1600">
                          <a:solidFill>
                            <a:srgbClr val="1F1F1F"/>
                          </a:solidFill>
                          <a:effectLst/>
                          <a:latin typeface="+mj-lt"/>
                        </a:rPr>
                        <a:t>setItem('theme', 'dark')</a:t>
                      </a:r>
                    </a:p>
                  </a:txBody>
                  <a:tcPr marL="114300" marR="114300" marT="76200" marB="76200" anchor="ctr"/>
                </a:tc>
                <a:extLst>
                  <a:ext uri="{0D108BD9-81ED-4DB2-BD59-A6C34878D82A}">
                    <a16:rowId xmlns:a16="http://schemas.microsoft.com/office/drawing/2014/main" val="2352427613"/>
                  </a:ext>
                </a:extLst>
              </a:tr>
              <a:tr h="0">
                <a:tc>
                  <a:txBody>
                    <a:bodyPr/>
                    <a:lstStyle/>
                    <a:p>
                      <a:pPr rtl="0"/>
                      <a:r>
                        <a:rPr lang="en-US" sz="1600" b="1">
                          <a:solidFill>
                            <a:srgbClr val="1F1F1F"/>
                          </a:solidFill>
                          <a:effectLst/>
                          <a:latin typeface="+mj-lt"/>
                        </a:rPr>
                        <a:t>Read</a:t>
                      </a:r>
                      <a:endParaRPr lang="en-US" sz="1600">
                        <a:solidFill>
                          <a:srgbClr val="1F1F1F"/>
                        </a:solidFill>
                        <a:effectLst/>
                        <a:latin typeface="+mj-lt"/>
                      </a:endParaRPr>
                    </a:p>
                  </a:txBody>
                  <a:tcPr marL="114300" marR="114300" marT="76200" marB="76200" anchor="ctr"/>
                </a:tc>
                <a:tc>
                  <a:txBody>
                    <a:bodyPr/>
                    <a:lstStyle/>
                    <a:p>
                      <a:pPr rtl="0"/>
                      <a:r>
                        <a:rPr lang="en-US" sz="1600" dirty="0" err="1">
                          <a:solidFill>
                            <a:srgbClr val="1F1F1F"/>
                          </a:solidFill>
                          <a:effectLst/>
                          <a:latin typeface="+mj-lt"/>
                        </a:rPr>
                        <a:t>localStorage.getItem</a:t>
                      </a:r>
                      <a:r>
                        <a:rPr lang="en-US" sz="1600" dirty="0">
                          <a:solidFill>
                            <a:srgbClr val="1F1F1F"/>
                          </a:solidFill>
                          <a:effectLst/>
                          <a:latin typeface="+mj-lt"/>
                        </a:rPr>
                        <a:t>('key')</a:t>
                      </a:r>
                    </a:p>
                  </a:txBody>
                  <a:tcPr marL="114300" marR="114300" marT="76200" marB="76200" anchor="ctr"/>
                </a:tc>
                <a:tc>
                  <a:txBody>
                    <a:bodyPr/>
                    <a:lstStyle/>
                    <a:p>
                      <a:pPr rtl="0"/>
                      <a:r>
                        <a:rPr lang="en-US" sz="1600">
                          <a:solidFill>
                            <a:srgbClr val="1F1F1F"/>
                          </a:solidFill>
                          <a:effectLst/>
                          <a:latin typeface="+mj-lt"/>
                        </a:rPr>
                        <a:t>Retrieves the data value associated with the key.</a:t>
                      </a:r>
                    </a:p>
                  </a:txBody>
                  <a:tcPr marL="114300" marR="114300" marT="76200" marB="76200" anchor="ctr"/>
                </a:tc>
                <a:tc>
                  <a:txBody>
                    <a:bodyPr/>
                    <a:lstStyle/>
                    <a:p>
                      <a:pPr rtl="0"/>
                      <a:r>
                        <a:rPr lang="en-US" sz="1600">
                          <a:solidFill>
                            <a:srgbClr val="1F1F1F"/>
                          </a:solidFill>
                          <a:effectLst/>
                          <a:latin typeface="+mj-lt"/>
                        </a:rPr>
                        <a:t>getItem('theme')</a:t>
                      </a:r>
                    </a:p>
                  </a:txBody>
                  <a:tcPr marL="114300" marR="114300" marT="76200" marB="76200" anchor="ctr"/>
                </a:tc>
                <a:extLst>
                  <a:ext uri="{0D108BD9-81ED-4DB2-BD59-A6C34878D82A}">
                    <a16:rowId xmlns:a16="http://schemas.microsoft.com/office/drawing/2014/main" val="2271995743"/>
                  </a:ext>
                </a:extLst>
              </a:tr>
              <a:tr h="0">
                <a:tc>
                  <a:txBody>
                    <a:bodyPr/>
                    <a:lstStyle/>
                    <a:p>
                      <a:pPr rtl="0"/>
                      <a:r>
                        <a:rPr lang="en-US" sz="1600" b="1">
                          <a:solidFill>
                            <a:srgbClr val="1F1F1F"/>
                          </a:solidFill>
                          <a:effectLst/>
                          <a:latin typeface="+mj-lt"/>
                        </a:rPr>
                        <a:t>Delete One</a:t>
                      </a:r>
                      <a:endParaRPr lang="en-US" sz="1600">
                        <a:solidFill>
                          <a:srgbClr val="1F1F1F"/>
                        </a:solidFill>
                        <a:effectLst/>
                        <a:latin typeface="+mj-lt"/>
                      </a:endParaRPr>
                    </a:p>
                  </a:txBody>
                  <a:tcPr marL="114300" marR="114300" marT="76200" marB="76200" anchor="ctr"/>
                </a:tc>
                <a:tc>
                  <a:txBody>
                    <a:bodyPr/>
                    <a:lstStyle/>
                    <a:p>
                      <a:pPr rtl="0"/>
                      <a:r>
                        <a:rPr lang="en-US" sz="1600">
                          <a:solidFill>
                            <a:srgbClr val="1F1F1F"/>
                          </a:solidFill>
                          <a:effectLst/>
                          <a:latin typeface="+mj-lt"/>
                        </a:rPr>
                        <a:t>localStorage.removeItem('key')</a:t>
                      </a:r>
                    </a:p>
                  </a:txBody>
                  <a:tcPr marL="114300" marR="114300" marT="76200" marB="76200" anchor="ctr"/>
                </a:tc>
                <a:tc>
                  <a:txBody>
                    <a:bodyPr/>
                    <a:lstStyle/>
                    <a:p>
                      <a:pPr rtl="0"/>
                      <a:r>
                        <a:rPr lang="en-US" sz="1600">
                          <a:solidFill>
                            <a:srgbClr val="1F1F1F"/>
                          </a:solidFill>
                          <a:effectLst/>
                          <a:latin typeface="+mj-lt"/>
                        </a:rPr>
                        <a:t>Removes a specific item from storage by its key.</a:t>
                      </a:r>
                    </a:p>
                  </a:txBody>
                  <a:tcPr marL="114300" marR="114300" marT="76200" marB="76200" anchor="ctr"/>
                </a:tc>
                <a:tc>
                  <a:txBody>
                    <a:bodyPr/>
                    <a:lstStyle/>
                    <a:p>
                      <a:pPr rtl="0"/>
                      <a:r>
                        <a:rPr lang="en-US" sz="1600">
                          <a:solidFill>
                            <a:srgbClr val="1F1F1F"/>
                          </a:solidFill>
                          <a:effectLst/>
                          <a:latin typeface="+mj-lt"/>
                        </a:rPr>
                        <a:t>removeItem('theme')</a:t>
                      </a:r>
                    </a:p>
                  </a:txBody>
                  <a:tcPr marL="114300" marR="114300" marT="76200" marB="76200" anchor="ctr"/>
                </a:tc>
                <a:extLst>
                  <a:ext uri="{0D108BD9-81ED-4DB2-BD59-A6C34878D82A}">
                    <a16:rowId xmlns:a16="http://schemas.microsoft.com/office/drawing/2014/main" val="2817444905"/>
                  </a:ext>
                </a:extLst>
              </a:tr>
              <a:tr h="0">
                <a:tc>
                  <a:txBody>
                    <a:bodyPr/>
                    <a:lstStyle/>
                    <a:p>
                      <a:pPr rtl="0"/>
                      <a:r>
                        <a:rPr lang="en-US" sz="1600" b="1">
                          <a:solidFill>
                            <a:srgbClr val="1F1F1F"/>
                          </a:solidFill>
                          <a:effectLst/>
                          <a:latin typeface="+mj-lt"/>
                        </a:rPr>
                        <a:t>Delete All</a:t>
                      </a:r>
                      <a:endParaRPr lang="en-US" sz="1600">
                        <a:solidFill>
                          <a:srgbClr val="1F1F1F"/>
                        </a:solidFill>
                        <a:effectLst/>
                        <a:latin typeface="+mj-lt"/>
                      </a:endParaRPr>
                    </a:p>
                  </a:txBody>
                  <a:tcPr marL="114300" marR="114300" marT="76200" marB="76200" anchor="ctr"/>
                </a:tc>
                <a:tc>
                  <a:txBody>
                    <a:bodyPr/>
                    <a:lstStyle/>
                    <a:p>
                      <a:pPr rtl="0"/>
                      <a:r>
                        <a:rPr lang="en-US" sz="1600">
                          <a:solidFill>
                            <a:srgbClr val="1F1F1F"/>
                          </a:solidFill>
                          <a:effectLst/>
                          <a:latin typeface="+mj-lt"/>
                        </a:rPr>
                        <a:t>localStorage.clear()</a:t>
                      </a:r>
                    </a:p>
                  </a:txBody>
                  <a:tcPr marL="114300" marR="114300" marT="76200" marB="76200" anchor="ctr"/>
                </a:tc>
                <a:tc>
                  <a:txBody>
                    <a:bodyPr/>
                    <a:lstStyle/>
                    <a:p>
                      <a:pPr rtl="0"/>
                      <a:r>
                        <a:rPr lang="en-US" sz="1600">
                          <a:solidFill>
                            <a:srgbClr val="1F1F1F"/>
                          </a:solidFill>
                          <a:effectLst/>
                          <a:latin typeface="+mj-lt"/>
                        </a:rPr>
                        <a:t>Wipes all local storage data for the current domain.</a:t>
                      </a:r>
                    </a:p>
                  </a:txBody>
                  <a:tcPr marL="114300" marR="114300" marT="76200" marB="76200" anchor="ctr"/>
                </a:tc>
                <a:tc>
                  <a:txBody>
                    <a:bodyPr/>
                    <a:lstStyle/>
                    <a:p>
                      <a:pPr rtl="0"/>
                      <a:r>
                        <a:rPr lang="en-US" sz="1600" dirty="0">
                          <a:solidFill>
                            <a:srgbClr val="1F1F1F"/>
                          </a:solidFill>
                          <a:effectLst/>
                          <a:latin typeface="+mj-lt"/>
                        </a:rPr>
                        <a:t>clear()</a:t>
                      </a:r>
                    </a:p>
                  </a:txBody>
                  <a:tcPr marL="114300" marR="114300" marT="76200" marB="76200" anchor="ctr"/>
                </a:tc>
                <a:extLst>
                  <a:ext uri="{0D108BD9-81ED-4DB2-BD59-A6C34878D82A}">
                    <a16:rowId xmlns:a16="http://schemas.microsoft.com/office/drawing/2014/main" val="4251160784"/>
                  </a:ext>
                </a:extLst>
              </a:tr>
            </a:tbl>
          </a:graphicData>
        </a:graphic>
      </p:graphicFrame>
      <p:sp>
        <p:nvSpPr>
          <p:cNvPr id="5" name="TextBox 4">
            <a:extLst>
              <a:ext uri="{FF2B5EF4-FFF2-40B4-BE49-F238E27FC236}">
                <a16:creationId xmlns:a16="http://schemas.microsoft.com/office/drawing/2014/main" id="{D6D52C8F-8DF4-4A0B-A2CF-B63852844ED4}"/>
              </a:ext>
            </a:extLst>
          </p:cNvPr>
          <p:cNvSpPr txBox="1"/>
          <p:nvPr/>
        </p:nvSpPr>
        <p:spPr>
          <a:xfrm>
            <a:off x="534462" y="577488"/>
            <a:ext cx="10615076" cy="1162113"/>
          </a:xfrm>
          <a:prstGeom prst="rect">
            <a:avLst/>
          </a:prstGeom>
          <a:noFill/>
        </p:spPr>
        <p:txBody>
          <a:bodyPr wrap="square" rtlCol="0">
            <a:spAutoFit/>
          </a:bodyPr>
          <a:lstStyle/>
          <a:p>
            <a:pPr>
              <a:lnSpc>
                <a:spcPct val="150000"/>
              </a:lnSpc>
            </a:pPr>
            <a:r>
              <a:rPr lang="en-US" sz="1600" b="1" dirty="0">
                <a:solidFill>
                  <a:srgbClr val="00B050"/>
                </a:solidFill>
              </a:rPr>
              <a:t>Four main commands:</a:t>
            </a:r>
          </a:p>
          <a:p>
            <a:pPr>
              <a:lnSpc>
                <a:spcPct val="150000"/>
              </a:lnSpc>
            </a:pPr>
            <a:r>
              <a:rPr lang="en-US" sz="1600" dirty="0">
                <a:solidFill>
                  <a:schemeClr val="tx1">
                    <a:lumMod val="95000"/>
                    <a:lumOff val="5000"/>
                  </a:schemeClr>
                </a:solidFill>
              </a:rPr>
              <a:t>Working with Local Storage is very simple and has a total of 4 main methods:</a:t>
            </a:r>
            <a:endParaRPr lang="fa-IR" sz="1600" dirty="0">
              <a:solidFill>
                <a:schemeClr val="tx1">
                  <a:lumMod val="95000"/>
                  <a:lumOff val="5000"/>
                </a:schemeClr>
              </a:solidFill>
            </a:endParaRPr>
          </a:p>
          <a:p>
            <a:pPr>
              <a:lnSpc>
                <a:spcPct val="150000"/>
              </a:lnSpc>
            </a:pPr>
            <a:endParaRPr lang="en-US" sz="1600" dirty="0">
              <a:solidFill>
                <a:schemeClr val="tx1">
                  <a:lumMod val="95000"/>
                  <a:lumOff val="5000"/>
                </a:schemeClr>
              </a:solidFill>
            </a:endParaRPr>
          </a:p>
        </p:txBody>
      </p:sp>
    </p:spTree>
    <p:extLst>
      <p:ext uri="{BB962C8B-B14F-4D97-AF65-F5344CB8AC3E}">
        <p14:creationId xmlns:p14="http://schemas.microsoft.com/office/powerpoint/2010/main" val="2119869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34462" y="577488"/>
            <a:ext cx="10615076" cy="1531445"/>
          </a:xfrm>
          <a:prstGeom prst="rect">
            <a:avLst/>
          </a:prstGeom>
          <a:noFill/>
        </p:spPr>
        <p:txBody>
          <a:bodyPr wrap="square" rtlCol="0">
            <a:spAutoFit/>
          </a:bodyPr>
          <a:lstStyle/>
          <a:p>
            <a:pPr>
              <a:lnSpc>
                <a:spcPct val="150000"/>
              </a:lnSpc>
            </a:pPr>
            <a:r>
              <a:rPr lang="en-US" sz="1600" b="1" dirty="0">
                <a:solidFill>
                  <a:srgbClr val="00B0F0"/>
                </a:solidFill>
              </a:rPr>
              <a:t>The Challenge of Storing Objects and Arrays :</a:t>
            </a:r>
          </a:p>
          <a:p>
            <a:pPr>
              <a:lnSpc>
                <a:spcPct val="150000"/>
              </a:lnSpc>
            </a:pPr>
            <a:r>
              <a:rPr lang="en-US" sz="1600" dirty="0">
                <a:solidFill>
                  <a:schemeClr val="bg2">
                    <a:lumMod val="10000"/>
                  </a:schemeClr>
                </a:solidFill>
              </a:rPr>
              <a:t>As I said, Local Storage only understands text. So what if we want to store an object? Again, we turn to our old friend JSON.</a:t>
            </a:r>
          </a:p>
          <a:p>
            <a:pPr>
              <a:lnSpc>
                <a:spcPct val="150000"/>
              </a:lnSpc>
            </a:pPr>
            <a:r>
              <a:rPr lang="en-US" sz="1600" dirty="0">
                <a:solidFill>
                  <a:schemeClr val="bg2">
                    <a:lumMod val="10000"/>
                  </a:schemeClr>
                </a:solidFill>
              </a:rPr>
              <a:t>When storing: we convert the object to a string: </a:t>
            </a:r>
            <a:r>
              <a:rPr lang="en-US" sz="1600" dirty="0" err="1">
                <a:solidFill>
                  <a:schemeClr val="bg2">
                    <a:lumMod val="10000"/>
                  </a:schemeClr>
                </a:solidFill>
              </a:rPr>
              <a:t>JSON.stringify</a:t>
            </a:r>
            <a:r>
              <a:rPr lang="en-US" sz="1600" dirty="0">
                <a:solidFill>
                  <a:schemeClr val="bg2">
                    <a:lumMod val="10000"/>
                  </a:schemeClr>
                </a:solidFill>
              </a:rPr>
              <a:t>()</a:t>
            </a:r>
          </a:p>
          <a:p>
            <a:pPr>
              <a:lnSpc>
                <a:spcPct val="150000"/>
              </a:lnSpc>
            </a:pPr>
            <a:r>
              <a:rPr lang="en-US" sz="1600" dirty="0">
                <a:solidFill>
                  <a:schemeClr val="bg2">
                    <a:lumMod val="10000"/>
                  </a:schemeClr>
                </a:solidFill>
              </a:rPr>
              <a:t>When reading: we convert the string back to an object: </a:t>
            </a:r>
            <a:r>
              <a:rPr lang="en-US" sz="1600" dirty="0" err="1">
                <a:solidFill>
                  <a:schemeClr val="bg2">
                    <a:lumMod val="10000"/>
                  </a:schemeClr>
                </a:solidFill>
              </a:rPr>
              <a:t>JSON.parse</a:t>
            </a:r>
            <a:r>
              <a:rPr lang="en-US" sz="1600" dirty="0">
                <a:solidFill>
                  <a:schemeClr val="bg2">
                    <a:lumMod val="10000"/>
                  </a:schemeClr>
                </a:solidFill>
              </a:rPr>
              <a:t>()</a:t>
            </a:r>
          </a:p>
        </p:txBody>
      </p:sp>
      <p:pic>
        <p:nvPicPr>
          <p:cNvPr id="3" name="Picture 2">
            <a:extLst>
              <a:ext uri="{FF2B5EF4-FFF2-40B4-BE49-F238E27FC236}">
                <a16:creationId xmlns:a16="http://schemas.microsoft.com/office/drawing/2014/main" id="{AEFAE2C8-AD7C-43E0-B5A2-8AA30D250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985" y="2737335"/>
            <a:ext cx="6974760" cy="2549686"/>
          </a:xfrm>
          <a:prstGeom prst="rect">
            <a:avLst/>
          </a:prstGeom>
        </p:spPr>
      </p:pic>
    </p:spTree>
    <p:extLst>
      <p:ext uri="{BB962C8B-B14F-4D97-AF65-F5344CB8AC3E}">
        <p14:creationId xmlns:p14="http://schemas.microsoft.com/office/powerpoint/2010/main" val="4129663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34462" y="577488"/>
            <a:ext cx="10615076" cy="1900777"/>
          </a:xfrm>
          <a:prstGeom prst="rect">
            <a:avLst/>
          </a:prstGeom>
          <a:noFill/>
        </p:spPr>
        <p:txBody>
          <a:bodyPr wrap="square" rtlCol="0">
            <a:spAutoFit/>
          </a:bodyPr>
          <a:lstStyle/>
          <a:p>
            <a:pPr>
              <a:lnSpc>
                <a:spcPct val="150000"/>
              </a:lnSpc>
            </a:pPr>
            <a:r>
              <a:rPr lang="en-US" sz="1600" b="1" dirty="0">
                <a:solidFill>
                  <a:srgbClr val="7030A0"/>
                </a:solidFill>
              </a:rPr>
              <a:t>Try/Catch/Finally:</a:t>
            </a:r>
            <a:endParaRPr lang="en-US" sz="1600" dirty="0">
              <a:solidFill>
                <a:srgbClr val="7030A0"/>
              </a:solidFill>
            </a:endParaRPr>
          </a:p>
          <a:p>
            <a:pPr>
              <a:lnSpc>
                <a:spcPct val="150000"/>
              </a:lnSpc>
            </a:pPr>
            <a:r>
              <a:rPr lang="en-US" sz="1600" dirty="0">
                <a:solidFill>
                  <a:schemeClr val="tx1">
                    <a:lumMod val="95000"/>
                    <a:lumOff val="5000"/>
                  </a:schemeClr>
                </a:solidFill>
              </a:rPr>
              <a:t>try/catch is like a “safety net” in tightrope walking. In programming, errors are inevitable (for example, the internet goes down, the server doesn’t respond, or the user enters incorrect input). If you don’t handle these errors, your entire application will “crash” and stop working.</a:t>
            </a:r>
          </a:p>
          <a:p>
            <a:pPr>
              <a:lnSpc>
                <a:spcPct val="150000"/>
              </a:lnSpc>
            </a:pPr>
            <a:r>
              <a:rPr lang="en-US" sz="1600" dirty="0">
                <a:solidFill>
                  <a:schemeClr val="tx1">
                    <a:lumMod val="95000"/>
                    <a:lumOff val="5000"/>
                  </a:schemeClr>
                </a:solidFill>
              </a:rPr>
              <a:t>The try/catch/finally construct allows you to anticipate and handle errors without stopping the program.</a:t>
            </a:r>
          </a:p>
        </p:txBody>
      </p:sp>
      <p:pic>
        <p:nvPicPr>
          <p:cNvPr id="3" name="Picture 2">
            <a:extLst>
              <a:ext uri="{FF2B5EF4-FFF2-40B4-BE49-F238E27FC236}">
                <a16:creationId xmlns:a16="http://schemas.microsoft.com/office/drawing/2014/main" id="{2683422A-5366-4F12-9646-877C8E9F7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824" y="3130387"/>
            <a:ext cx="6890351" cy="2626946"/>
          </a:xfrm>
          <a:prstGeom prst="rect">
            <a:avLst/>
          </a:prstGeom>
        </p:spPr>
      </p:pic>
    </p:spTree>
    <p:extLst>
      <p:ext uri="{BB962C8B-B14F-4D97-AF65-F5344CB8AC3E}">
        <p14:creationId xmlns:p14="http://schemas.microsoft.com/office/powerpoint/2010/main" val="1748694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34462" y="577488"/>
            <a:ext cx="10615076" cy="1162113"/>
          </a:xfrm>
          <a:prstGeom prst="rect">
            <a:avLst/>
          </a:prstGeom>
          <a:noFill/>
        </p:spPr>
        <p:txBody>
          <a:bodyPr wrap="square" rtlCol="0">
            <a:spAutoFit/>
          </a:bodyPr>
          <a:lstStyle/>
          <a:p>
            <a:pPr>
              <a:lnSpc>
                <a:spcPct val="150000"/>
              </a:lnSpc>
            </a:pPr>
            <a:r>
              <a:rPr lang="en-US" sz="1600" b="1" dirty="0">
                <a:solidFill>
                  <a:srgbClr val="92D050"/>
                </a:solidFill>
              </a:rPr>
              <a:t>Throwing an error manually:</a:t>
            </a:r>
          </a:p>
          <a:p>
            <a:pPr>
              <a:lnSpc>
                <a:spcPct val="150000"/>
              </a:lnSpc>
            </a:pPr>
            <a:r>
              <a:rPr lang="en-US" sz="1600" dirty="0">
                <a:solidFill>
                  <a:schemeClr val="tx1">
                    <a:lumMod val="95000"/>
                    <a:lumOff val="5000"/>
                  </a:schemeClr>
                </a:solidFill>
              </a:rPr>
              <a:t> (throw) Sometimes, from the JavaScript perspective, there is no error, but from the logic of our program, there is an error condition (for example, the user's age is negative). In this case, we use the throw keyword.</a:t>
            </a:r>
          </a:p>
        </p:txBody>
      </p:sp>
      <p:pic>
        <p:nvPicPr>
          <p:cNvPr id="5" name="Picture 4">
            <a:extLst>
              <a:ext uri="{FF2B5EF4-FFF2-40B4-BE49-F238E27FC236}">
                <a16:creationId xmlns:a16="http://schemas.microsoft.com/office/drawing/2014/main" id="{DF890884-37B6-4A9D-8BA7-578FB2CC0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047" y="2314377"/>
            <a:ext cx="7895051" cy="3459890"/>
          </a:xfrm>
          <a:prstGeom prst="rect">
            <a:avLst/>
          </a:prstGeom>
        </p:spPr>
      </p:pic>
    </p:spTree>
    <p:extLst>
      <p:ext uri="{BB962C8B-B14F-4D97-AF65-F5344CB8AC3E}">
        <p14:creationId xmlns:p14="http://schemas.microsoft.com/office/powerpoint/2010/main" val="3238934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5996" y="230354"/>
            <a:ext cx="10615076" cy="6332759"/>
          </a:xfrm>
          <a:prstGeom prst="rect">
            <a:avLst/>
          </a:prstGeom>
          <a:noFill/>
        </p:spPr>
        <p:txBody>
          <a:bodyPr wrap="square" rtlCol="0">
            <a:spAutoFit/>
          </a:bodyPr>
          <a:lstStyle/>
          <a:p>
            <a:pPr>
              <a:lnSpc>
                <a:spcPct val="150000"/>
              </a:lnSpc>
            </a:pPr>
            <a:r>
              <a:rPr lang="en-US" sz="1600" b="1" dirty="0">
                <a:solidFill>
                  <a:srgbClr val="9D2F23"/>
                </a:solidFill>
              </a:rPr>
              <a:t>Use in asynchronous operations (Async/Await):</a:t>
            </a:r>
          </a:p>
          <a:p>
            <a:pPr>
              <a:lnSpc>
                <a:spcPct val="150000"/>
              </a:lnSpc>
            </a:pPr>
            <a:r>
              <a:rPr lang="en-US" sz="1600" dirty="0">
                <a:solidFill>
                  <a:schemeClr val="bg2">
                    <a:lumMod val="10000"/>
                  </a:schemeClr>
                </a:solidFill>
              </a:rPr>
              <a:t>This is the most commonly used case. When working with fetch, we must use try/catch because the internet may be down.</a:t>
            </a: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endParaRPr lang="en-US" sz="1600" dirty="0">
              <a:solidFill>
                <a:schemeClr val="bg2">
                  <a:lumMod val="10000"/>
                </a:schemeClr>
              </a:solidFill>
            </a:endParaRPr>
          </a:p>
          <a:p>
            <a:pPr>
              <a:lnSpc>
                <a:spcPct val="150000"/>
              </a:lnSpc>
            </a:pPr>
            <a:r>
              <a:rPr lang="en-US" sz="1600" b="1" dirty="0">
                <a:solidFill>
                  <a:srgbClr val="9D2F23"/>
                </a:solidFill>
              </a:rPr>
              <a:t>What does the error object contain?</a:t>
            </a:r>
          </a:p>
          <a:p>
            <a:pPr>
              <a:lnSpc>
                <a:spcPct val="150000"/>
              </a:lnSpc>
            </a:pPr>
            <a:r>
              <a:rPr lang="en-US" sz="1600" dirty="0">
                <a:solidFill>
                  <a:schemeClr val="bg2">
                    <a:lumMod val="10000"/>
                  </a:schemeClr>
                </a:solidFill>
              </a:rPr>
              <a:t>When an error is caught in catch(error), the object usually has two important properties:</a:t>
            </a:r>
          </a:p>
          <a:p>
            <a:pPr>
              <a:lnSpc>
                <a:spcPct val="150000"/>
              </a:lnSpc>
            </a:pPr>
            <a:r>
              <a:rPr lang="en-US" sz="1600" dirty="0">
                <a:solidFill>
                  <a:schemeClr val="bg2">
                    <a:lumMod val="10000"/>
                  </a:schemeClr>
                </a:solidFill>
              </a:rPr>
              <a:t>1. error.name: The type of error (e.g. </a:t>
            </a:r>
            <a:r>
              <a:rPr lang="en-US" sz="1600" dirty="0" err="1">
                <a:solidFill>
                  <a:schemeClr val="bg2">
                    <a:lumMod val="10000"/>
                  </a:schemeClr>
                </a:solidFill>
              </a:rPr>
              <a:t>ReferenceError</a:t>
            </a:r>
            <a:r>
              <a:rPr lang="en-US" sz="1600" dirty="0">
                <a:solidFill>
                  <a:schemeClr val="bg2">
                    <a:lumMod val="10000"/>
                  </a:schemeClr>
                </a:solidFill>
              </a:rPr>
              <a:t> or </a:t>
            </a:r>
            <a:r>
              <a:rPr lang="en-US" sz="1600" dirty="0" err="1">
                <a:solidFill>
                  <a:schemeClr val="bg2">
                    <a:lumMod val="10000"/>
                  </a:schemeClr>
                </a:solidFill>
              </a:rPr>
              <a:t>SyntaxError</a:t>
            </a:r>
            <a:r>
              <a:rPr lang="en-US" sz="1600" dirty="0">
                <a:solidFill>
                  <a:schemeClr val="bg2">
                    <a:lumMod val="10000"/>
                  </a:schemeClr>
                </a:solidFill>
              </a:rPr>
              <a:t>).</a:t>
            </a:r>
          </a:p>
          <a:p>
            <a:pPr>
              <a:lnSpc>
                <a:spcPct val="150000"/>
              </a:lnSpc>
            </a:pPr>
            <a:r>
              <a:rPr lang="en-US" sz="1600" dirty="0">
                <a:solidFill>
                  <a:schemeClr val="bg2">
                    <a:lumMod val="10000"/>
                  </a:schemeClr>
                </a:solidFill>
              </a:rPr>
              <a:t>2. </a:t>
            </a:r>
            <a:r>
              <a:rPr lang="en-US" sz="1600" dirty="0" err="1">
                <a:solidFill>
                  <a:schemeClr val="bg2">
                    <a:lumMod val="10000"/>
                  </a:schemeClr>
                </a:solidFill>
              </a:rPr>
              <a:t>error.message</a:t>
            </a:r>
            <a:r>
              <a:rPr lang="en-US" sz="1600" dirty="0">
                <a:solidFill>
                  <a:schemeClr val="bg2">
                    <a:lumMod val="10000"/>
                  </a:schemeClr>
                </a:solidFill>
              </a:rPr>
              <a:t>: The text of the error message that explains what happened.</a:t>
            </a:r>
          </a:p>
          <a:p>
            <a:pPr>
              <a:lnSpc>
                <a:spcPct val="150000"/>
              </a:lnSpc>
            </a:pPr>
            <a:r>
              <a:rPr lang="en-US" sz="1600" dirty="0">
                <a:solidFill>
                  <a:schemeClr val="bg2">
                    <a:lumMod val="10000"/>
                  </a:schemeClr>
                </a:solidFill>
              </a:rPr>
              <a:t>3. </a:t>
            </a:r>
            <a:r>
              <a:rPr lang="en-US" sz="1600" dirty="0" err="1">
                <a:solidFill>
                  <a:schemeClr val="bg2">
                    <a:lumMod val="10000"/>
                  </a:schemeClr>
                </a:solidFill>
              </a:rPr>
              <a:t>error.stack</a:t>
            </a:r>
            <a:r>
              <a:rPr lang="en-US" sz="1600" dirty="0">
                <a:solidFill>
                  <a:schemeClr val="bg2">
                    <a:lumMod val="10000"/>
                  </a:schemeClr>
                </a:solidFill>
              </a:rPr>
              <a:t>: (for debugging) tells you on which line and in which file the error occurred. </a:t>
            </a:r>
          </a:p>
        </p:txBody>
      </p:sp>
      <p:pic>
        <p:nvPicPr>
          <p:cNvPr id="3" name="Picture 2">
            <a:extLst>
              <a:ext uri="{FF2B5EF4-FFF2-40B4-BE49-F238E27FC236}">
                <a16:creationId xmlns:a16="http://schemas.microsoft.com/office/drawing/2014/main" id="{67629D42-AC13-42AD-8B56-DC0629D59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995" y="1141729"/>
            <a:ext cx="5129737" cy="3456854"/>
          </a:xfrm>
          <a:prstGeom prst="rect">
            <a:avLst/>
          </a:prstGeom>
        </p:spPr>
      </p:pic>
    </p:spTree>
    <p:extLst>
      <p:ext uri="{BB962C8B-B14F-4D97-AF65-F5344CB8AC3E}">
        <p14:creationId xmlns:p14="http://schemas.microsoft.com/office/powerpoint/2010/main" val="265695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5996" y="230354"/>
            <a:ext cx="10615076" cy="4486100"/>
          </a:xfrm>
          <a:prstGeom prst="rect">
            <a:avLst/>
          </a:prstGeom>
          <a:noFill/>
        </p:spPr>
        <p:txBody>
          <a:bodyPr wrap="square" rtlCol="0">
            <a:spAutoFit/>
          </a:bodyPr>
          <a:lstStyle/>
          <a:p>
            <a:pPr>
              <a:lnSpc>
                <a:spcPct val="150000"/>
              </a:lnSpc>
            </a:pPr>
            <a:r>
              <a:rPr lang="en-US" sz="1600" b="1" dirty="0">
                <a:solidFill>
                  <a:srgbClr val="FF99CC"/>
                </a:solidFill>
              </a:rPr>
              <a:t>Types of errors:</a:t>
            </a:r>
          </a:p>
          <a:p>
            <a:pPr>
              <a:lnSpc>
                <a:spcPct val="150000"/>
              </a:lnSpc>
            </a:pPr>
            <a:r>
              <a:rPr lang="en-US" sz="1600" dirty="0">
                <a:solidFill>
                  <a:schemeClr val="bg2">
                    <a:lumMod val="10000"/>
                  </a:schemeClr>
                </a:solidFill>
              </a:rPr>
              <a:t>We have 3 types of errors in </a:t>
            </a:r>
            <a:r>
              <a:rPr lang="en-US" sz="1600" dirty="0" err="1">
                <a:solidFill>
                  <a:schemeClr val="bg2">
                    <a:lumMod val="10000"/>
                  </a:schemeClr>
                </a:solidFill>
              </a:rPr>
              <a:t>javascript</a:t>
            </a:r>
            <a:r>
              <a:rPr lang="en-US" sz="1600" dirty="0">
                <a:solidFill>
                  <a:schemeClr val="bg2">
                    <a:lumMod val="10000"/>
                  </a:schemeClr>
                </a:solidFill>
              </a:rPr>
              <a:t>: </a:t>
            </a:r>
          </a:p>
          <a:p>
            <a:pPr>
              <a:lnSpc>
                <a:spcPct val="150000"/>
              </a:lnSpc>
            </a:pPr>
            <a:endParaRPr lang="en-US" sz="1600" dirty="0">
              <a:solidFill>
                <a:schemeClr val="bg2">
                  <a:lumMod val="10000"/>
                </a:schemeClr>
              </a:solidFill>
            </a:endParaRPr>
          </a:p>
          <a:p>
            <a:pPr>
              <a:lnSpc>
                <a:spcPct val="150000"/>
              </a:lnSpc>
            </a:pPr>
            <a:r>
              <a:rPr lang="en-US" sz="1600" b="1" dirty="0">
                <a:solidFill>
                  <a:srgbClr val="FF6699"/>
                </a:solidFill>
              </a:rPr>
              <a:t>1. </a:t>
            </a:r>
            <a:r>
              <a:rPr lang="en-US" sz="1600" b="1" dirty="0" err="1">
                <a:solidFill>
                  <a:srgbClr val="FF6699"/>
                </a:solidFill>
              </a:rPr>
              <a:t>SyntaxError</a:t>
            </a:r>
            <a:r>
              <a:rPr lang="en-US" sz="1600" b="1" dirty="0">
                <a:solidFill>
                  <a:srgbClr val="FF6699"/>
                </a:solidFill>
              </a:rPr>
              <a:t> - "Granny error“: </a:t>
            </a:r>
          </a:p>
          <a:p>
            <a:pPr>
              <a:lnSpc>
                <a:spcPct val="150000"/>
              </a:lnSpc>
            </a:pPr>
            <a:r>
              <a:rPr lang="en-US" sz="1600" dirty="0">
                <a:solidFill>
                  <a:schemeClr val="bg2">
                    <a:lumMod val="10000"/>
                  </a:schemeClr>
                </a:solidFill>
              </a:rPr>
              <a:t>This error occurs when you have not followed the rules of JavaScript syntax. The JavaScript engine cannot understand or translate the code that is written incorrectly at all.</a:t>
            </a:r>
          </a:p>
          <a:p>
            <a:pPr>
              <a:lnSpc>
                <a:spcPct val="150000"/>
              </a:lnSpc>
            </a:pPr>
            <a:r>
              <a:rPr lang="en-US" sz="1600" dirty="0">
                <a:solidFill>
                  <a:schemeClr val="bg2">
                    <a:lumMod val="10000"/>
                  </a:schemeClr>
                </a:solidFill>
              </a:rPr>
              <a:t>When does it occur?</a:t>
            </a:r>
          </a:p>
          <a:p>
            <a:pPr>
              <a:lnSpc>
                <a:spcPct val="150000"/>
              </a:lnSpc>
            </a:pPr>
            <a:r>
              <a:rPr lang="en-US" sz="1600" dirty="0">
                <a:solidFill>
                  <a:schemeClr val="bg2">
                    <a:lumMod val="10000"/>
                  </a:schemeClr>
                </a:solidFill>
              </a:rPr>
              <a:t>Before the code starts executing.</a:t>
            </a:r>
          </a:p>
          <a:p>
            <a:pPr>
              <a:lnSpc>
                <a:spcPct val="150000"/>
              </a:lnSpc>
            </a:pPr>
            <a:r>
              <a:rPr lang="en-US" sz="1600" dirty="0">
                <a:solidFill>
                  <a:schemeClr val="bg2">
                    <a:lumMod val="10000"/>
                  </a:schemeClr>
                </a:solidFill>
              </a:rPr>
              <a:t>Example: You have not closed the parentheses, you have a typo in the keywords (such as </a:t>
            </a:r>
            <a:r>
              <a:rPr lang="en-US" sz="1600" dirty="0" err="1">
                <a:solidFill>
                  <a:schemeClr val="bg2">
                    <a:lumMod val="10000"/>
                  </a:schemeClr>
                </a:solidFill>
              </a:rPr>
              <a:t>funtion</a:t>
            </a:r>
            <a:r>
              <a:rPr lang="en-US" sz="1600" dirty="0">
                <a:solidFill>
                  <a:schemeClr val="bg2">
                    <a:lumMod val="10000"/>
                  </a:schemeClr>
                </a:solidFill>
              </a:rPr>
              <a:t> instead of function), or you have not included a comma.</a:t>
            </a:r>
          </a:p>
          <a:p>
            <a:pPr>
              <a:lnSpc>
                <a:spcPct val="150000"/>
              </a:lnSpc>
            </a:pPr>
            <a:r>
              <a:rPr lang="en-US" sz="1600" dirty="0">
                <a:solidFill>
                  <a:schemeClr val="bg2">
                    <a:lumMod val="10000"/>
                  </a:schemeClr>
                </a:solidFill>
              </a:rPr>
              <a:t>Example code:</a:t>
            </a:r>
          </a:p>
          <a:p>
            <a:pPr>
              <a:lnSpc>
                <a:spcPct val="150000"/>
              </a:lnSpc>
            </a:pPr>
            <a:endParaRPr lang="en-US" sz="1600" dirty="0">
              <a:solidFill>
                <a:schemeClr val="bg2">
                  <a:lumMod val="10000"/>
                </a:schemeClr>
              </a:solidFill>
            </a:endParaRPr>
          </a:p>
        </p:txBody>
      </p:sp>
      <p:pic>
        <p:nvPicPr>
          <p:cNvPr id="5" name="Picture 4">
            <a:extLst>
              <a:ext uri="{FF2B5EF4-FFF2-40B4-BE49-F238E27FC236}">
                <a16:creationId xmlns:a16="http://schemas.microsoft.com/office/drawing/2014/main" id="{8E593CF8-7250-4850-B081-DC8392471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62" y="3979334"/>
            <a:ext cx="7418810" cy="2441182"/>
          </a:xfrm>
          <a:prstGeom prst="rect">
            <a:avLst/>
          </a:prstGeom>
        </p:spPr>
      </p:pic>
    </p:spTree>
    <p:extLst>
      <p:ext uri="{BB962C8B-B14F-4D97-AF65-F5344CB8AC3E}">
        <p14:creationId xmlns:p14="http://schemas.microsoft.com/office/powerpoint/2010/main" val="4044007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5996" y="230354"/>
            <a:ext cx="10615076" cy="3378104"/>
          </a:xfrm>
          <a:prstGeom prst="rect">
            <a:avLst/>
          </a:prstGeom>
          <a:noFill/>
        </p:spPr>
        <p:txBody>
          <a:bodyPr wrap="square" rtlCol="0">
            <a:spAutoFit/>
          </a:bodyPr>
          <a:lstStyle/>
          <a:p>
            <a:pPr>
              <a:lnSpc>
                <a:spcPct val="150000"/>
              </a:lnSpc>
            </a:pPr>
            <a:r>
              <a:rPr lang="en-US" sz="1600" b="1" dirty="0">
                <a:solidFill>
                  <a:srgbClr val="FF99CC"/>
                </a:solidFill>
              </a:rPr>
              <a:t>Types of errors:</a:t>
            </a:r>
          </a:p>
          <a:p>
            <a:pPr>
              <a:lnSpc>
                <a:spcPct val="150000"/>
              </a:lnSpc>
            </a:pPr>
            <a:endParaRPr lang="en-US" sz="1600" b="1" dirty="0">
              <a:solidFill>
                <a:srgbClr val="FF99CC"/>
              </a:solidFill>
            </a:endParaRPr>
          </a:p>
          <a:p>
            <a:pPr>
              <a:lnSpc>
                <a:spcPct val="150000"/>
              </a:lnSpc>
            </a:pPr>
            <a:r>
              <a:rPr lang="en-US" sz="1600" b="1" dirty="0">
                <a:solidFill>
                  <a:srgbClr val="FF6699"/>
                </a:solidFill>
              </a:rPr>
              <a:t>2. </a:t>
            </a:r>
            <a:r>
              <a:rPr lang="en-US" sz="1600" b="1" dirty="0" err="1">
                <a:solidFill>
                  <a:srgbClr val="FF6699"/>
                </a:solidFill>
              </a:rPr>
              <a:t>ReferenceError</a:t>
            </a:r>
            <a:r>
              <a:rPr lang="en-US" sz="1600" b="1" dirty="0">
                <a:solidFill>
                  <a:srgbClr val="FF6699"/>
                </a:solidFill>
              </a:rPr>
              <a:t> - "Wrong address"</a:t>
            </a:r>
          </a:p>
          <a:p>
            <a:pPr>
              <a:lnSpc>
                <a:spcPct val="150000"/>
              </a:lnSpc>
            </a:pPr>
            <a:r>
              <a:rPr lang="en-US" sz="1600" dirty="0">
                <a:solidFill>
                  <a:schemeClr val="bg2">
                    <a:lumMod val="10000"/>
                  </a:schemeClr>
                </a:solidFill>
              </a:rPr>
              <a:t>In this case, your syntax is perfectly correct, but you are referring to something that does not exist or is not available. This means that the JavaScript engine understands the code, but when it tries to execute it, it finds that the variable or function cannot be found in memory.</a:t>
            </a:r>
          </a:p>
          <a:p>
            <a:pPr>
              <a:lnSpc>
                <a:spcPct val="150000"/>
              </a:lnSpc>
            </a:pPr>
            <a:r>
              <a:rPr lang="en-US" sz="1600" dirty="0">
                <a:solidFill>
                  <a:schemeClr val="bg2">
                    <a:lumMod val="10000"/>
                  </a:schemeClr>
                </a:solidFill>
              </a:rPr>
              <a:t>When does it happen? At runtime.</a:t>
            </a:r>
          </a:p>
          <a:p>
            <a:pPr>
              <a:lnSpc>
                <a:spcPct val="150000"/>
              </a:lnSpc>
            </a:pPr>
            <a:r>
              <a:rPr lang="en-US" sz="1600" dirty="0">
                <a:solidFill>
                  <a:schemeClr val="bg2">
                    <a:lumMod val="10000"/>
                  </a:schemeClr>
                </a:solidFill>
              </a:rPr>
              <a:t>Example: Calling a variable that is not defined, or using a variable that is in another scope.</a:t>
            </a:r>
          </a:p>
          <a:p>
            <a:pPr>
              <a:lnSpc>
                <a:spcPct val="150000"/>
              </a:lnSpc>
            </a:pPr>
            <a:r>
              <a:rPr lang="en-US" sz="1600" dirty="0">
                <a:solidFill>
                  <a:schemeClr val="bg2">
                    <a:lumMod val="10000"/>
                  </a:schemeClr>
                </a:solidFill>
              </a:rPr>
              <a:t>Example code:</a:t>
            </a:r>
          </a:p>
        </p:txBody>
      </p:sp>
      <p:pic>
        <p:nvPicPr>
          <p:cNvPr id="3" name="Picture 2">
            <a:extLst>
              <a:ext uri="{FF2B5EF4-FFF2-40B4-BE49-F238E27FC236}">
                <a16:creationId xmlns:a16="http://schemas.microsoft.com/office/drawing/2014/main" id="{72154116-73CB-4174-AD2C-D16F76AD6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415" y="3767666"/>
            <a:ext cx="7959704" cy="2717948"/>
          </a:xfrm>
          <a:prstGeom prst="rect">
            <a:avLst/>
          </a:prstGeom>
        </p:spPr>
      </p:pic>
    </p:spTree>
    <p:extLst>
      <p:ext uri="{BB962C8B-B14F-4D97-AF65-F5344CB8AC3E}">
        <p14:creationId xmlns:p14="http://schemas.microsoft.com/office/powerpoint/2010/main" val="3175156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594421"/>
            <a:ext cx="10615076" cy="1531445"/>
          </a:xfrm>
          <a:prstGeom prst="rect">
            <a:avLst/>
          </a:prstGeom>
          <a:noFill/>
        </p:spPr>
        <p:txBody>
          <a:bodyPr wrap="square" rtlCol="0">
            <a:spAutoFit/>
          </a:bodyPr>
          <a:lstStyle/>
          <a:p>
            <a:pPr>
              <a:lnSpc>
                <a:spcPct val="150000"/>
              </a:lnSpc>
            </a:pPr>
            <a:r>
              <a:rPr lang="en-US" sz="1600" b="1" dirty="0">
                <a:solidFill>
                  <a:srgbClr val="FF99CC"/>
                </a:solidFill>
              </a:rPr>
              <a:t>Types of errors:</a:t>
            </a:r>
          </a:p>
          <a:p>
            <a:pPr>
              <a:lnSpc>
                <a:spcPct val="150000"/>
              </a:lnSpc>
            </a:pPr>
            <a:endParaRPr lang="en-US" sz="1600" b="1" dirty="0">
              <a:solidFill>
                <a:srgbClr val="FF99CC"/>
              </a:solidFill>
            </a:endParaRPr>
          </a:p>
          <a:p>
            <a:pPr>
              <a:lnSpc>
                <a:spcPct val="150000"/>
              </a:lnSpc>
            </a:pPr>
            <a:r>
              <a:rPr lang="en-US" sz="1600" b="1" dirty="0">
                <a:solidFill>
                  <a:srgbClr val="FF6699"/>
                </a:solidFill>
              </a:rPr>
              <a:t>3. </a:t>
            </a:r>
            <a:r>
              <a:rPr lang="en-US" sz="1600" b="1" dirty="0" err="1">
                <a:solidFill>
                  <a:srgbClr val="FF6699"/>
                </a:solidFill>
              </a:rPr>
              <a:t>TypeError</a:t>
            </a:r>
            <a:r>
              <a:rPr lang="en-US" sz="1600" b="1" dirty="0">
                <a:solidFill>
                  <a:srgbClr val="FF6699"/>
                </a:solidFill>
              </a:rPr>
              <a:t>:</a:t>
            </a:r>
          </a:p>
          <a:p>
            <a:pPr>
              <a:lnSpc>
                <a:spcPct val="150000"/>
              </a:lnSpc>
            </a:pPr>
            <a:r>
              <a:rPr lang="en-US" sz="1600" dirty="0">
                <a:solidFill>
                  <a:schemeClr val="tx1">
                    <a:lumMod val="95000"/>
                    <a:lumOff val="5000"/>
                  </a:schemeClr>
                </a:solidFill>
              </a:rPr>
              <a:t>This is when a "reference" exists, but you're doing something with it that it doesn't know how to do. For example:</a:t>
            </a:r>
          </a:p>
        </p:txBody>
      </p:sp>
      <p:pic>
        <p:nvPicPr>
          <p:cNvPr id="5" name="Picture 4">
            <a:extLst>
              <a:ext uri="{FF2B5EF4-FFF2-40B4-BE49-F238E27FC236}">
                <a16:creationId xmlns:a16="http://schemas.microsoft.com/office/drawing/2014/main" id="{57C7C310-DF15-4591-982B-FF49355C9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329" y="2657367"/>
            <a:ext cx="7240010" cy="771633"/>
          </a:xfrm>
          <a:prstGeom prst="rect">
            <a:avLst/>
          </a:prstGeom>
        </p:spPr>
      </p:pic>
    </p:spTree>
    <p:extLst>
      <p:ext uri="{BB962C8B-B14F-4D97-AF65-F5344CB8AC3E}">
        <p14:creationId xmlns:p14="http://schemas.microsoft.com/office/powerpoint/2010/main" val="1412006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8307</TotalTime>
  <Words>2136</Words>
  <Application>Microsoft Office PowerPoint</Application>
  <PresentationFormat>Widescreen</PresentationFormat>
  <Paragraphs>176</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Special topics  Session 13    Al-Zahra university  Maryam zim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maryam.zim@PART.LOCAL</dc:creator>
  <cp:lastModifiedBy>maryam.zim@PART.LOCAL</cp:lastModifiedBy>
  <cp:revision>141</cp:revision>
  <dcterms:created xsi:type="dcterms:W3CDTF">2025-10-04T12:24:50Z</dcterms:created>
  <dcterms:modified xsi:type="dcterms:W3CDTF">2025-12-31T08:16:44Z</dcterms:modified>
</cp:coreProperties>
</file>