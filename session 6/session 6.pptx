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95" r:id="rId3"/>
    <p:sldId id="256" r:id="rId4"/>
    <p:sldId id="298" r:id="rId5"/>
    <p:sldId id="296" r:id="rId6"/>
    <p:sldId id="299" r:id="rId7"/>
    <p:sldId id="297" r:id="rId8"/>
    <p:sldId id="300" r:id="rId9"/>
    <p:sldId id="301" r:id="rId10"/>
    <p:sldId id="302" r:id="rId11"/>
    <p:sldId id="303" r:id="rId12"/>
    <p:sldId id="307" r:id="rId13"/>
    <p:sldId id="308" r:id="rId14"/>
    <p:sldId id="309" r:id="rId15"/>
    <p:sldId id="310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6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83" autoAdjust="0"/>
    <p:restoredTop sz="94660"/>
  </p:normalViewPr>
  <p:slideViewPr>
    <p:cSldViewPr snapToGrid="0">
      <p:cViewPr varScale="1">
        <p:scale>
          <a:sx n="208" d="100"/>
          <a:sy n="208" d="100"/>
        </p:scale>
        <p:origin x="2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21A7-1297-4B3D-AA39-F5C0DF159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10B9-4796-4874-9BB8-15F35183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7682-B92C-4941-BF14-1CC126B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EDB1-FFF8-4366-8956-44B1F03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0CC4-F01F-49B0-B16E-FB8D42E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5F-E9B9-4ED1-9E9E-EBBE0338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57D5-DD8D-4939-A68C-92AF9510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6BAA-6F97-4E6F-B61B-7E4CF54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917-50CC-4C33-A243-F3EC029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BB40-3BBA-4F2F-BF06-08662F15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4DA-872A-4221-BA19-E07B6B95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27956-B24A-4F79-A497-786703A0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1D3C-2A54-43A4-B4AA-E3578A5F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F451-B11A-429E-AE89-A29A040D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344F-0B35-47EF-B676-F7D6EFD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749-E171-424D-95A4-107569D2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E049-633C-4EE9-9C60-6E549F60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85B50-1331-4886-879E-3B49F840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5FF1-B6E1-4969-8EA6-3540B5C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DCB5-B792-438D-BC09-99FA3302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F8EF-9BA1-4D3A-8856-9E1F28F9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3B0-D53A-4FB3-A0FA-3AA65017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986-7E35-4BFD-AE5C-731845CE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B44A9-6B54-44C0-B2D5-AB7D848E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03A4-F8A4-4A2B-B519-1F7A15433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A89C-42F2-4E57-9927-53867109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D43E-DE9B-4462-9805-C8D17DE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D1DA-4390-4E8E-9A61-060979A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717FB-EF17-43FB-8605-E12CCEE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E59-9915-476C-B0F8-EB3A25E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60F27-09EE-485F-A74C-6A6BD7F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65843-65D3-4667-B615-FD1F6B5C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674E2-122C-48F8-9EF8-E6146682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7D829-74FC-4444-AFD6-536A86FD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E63DD-C7A8-44E9-9536-DA1E149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2B870-EF9E-4D10-9908-985BE14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8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AF71-5FE8-47EF-BAE7-4E48FB0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4D18-94CC-4C61-8AA2-0F0BA6A0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63AB8-9CB2-4DC0-8619-82C66AB0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9CBA3-20B9-4D09-ACA4-F5CEF55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CDAA-722B-42B1-AB5B-4104181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DEFB-4003-4080-A9E6-42AD178C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A2CF-E225-4AA2-9996-E97E5DA0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EB8C8-2BA5-4DF3-A3A3-873EAA04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D1B52-B572-4655-9E7F-D7EA0572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BB40-94C9-4CB5-A0F8-6A46E661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C2F9-22D4-46CF-B08D-134F301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59A7B-D3AF-42CC-BAE5-CDA0DD8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1F0-3D68-4BF4-B5AB-CFC8A80A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818F2-79A6-4F9C-8E66-E20F9B5D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898E-CF68-4BA9-953F-8142C59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293A-8B19-473E-BCA1-11F9265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1BF-9DEB-49A9-A123-D6CD8302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B366D-8EC1-428A-85D4-129DE2C0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E9B1A-AB28-446F-BB0F-3C4EE011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1CD6-A1AE-4BB4-98F6-1EEA629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7E9E-4950-4891-8590-A9FC4063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1937-6B22-45E0-8722-8BCFDA6A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6A79B-B1C2-4FC9-8C3A-F43EC7D4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6324-1315-477A-9FFD-ECA6522C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E13F-AC62-445F-A16D-ED421545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1C2D-8020-42C2-998D-4313F62E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827-9FF1-43A7-A9E2-B0C00B12F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C456-2368-04EF-CB18-5B4BA19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864" y="240060"/>
            <a:ext cx="9144000" cy="5786006"/>
          </a:xfrm>
        </p:spPr>
        <p:txBody>
          <a:bodyPr>
            <a:normAutofit/>
          </a:bodyPr>
          <a:lstStyle/>
          <a:p>
            <a:r>
              <a:rPr lang="en-US" b="1" dirty="0"/>
              <a:t>Special topics</a:t>
            </a:r>
            <a:br>
              <a:rPr lang="en-US" dirty="0"/>
            </a:br>
            <a:br>
              <a:rPr lang="en-US" dirty="0"/>
            </a:br>
            <a:r>
              <a:rPr lang="en-US" sz="3200" b="1" dirty="0"/>
              <a:t>Session 6</a:t>
            </a:r>
            <a:br>
              <a:rPr lang="en-US" sz="3200" b="1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Al-Zahra university </a:t>
            </a:r>
            <a:br>
              <a:rPr lang="en-US" sz="2000" dirty="0"/>
            </a:br>
            <a:r>
              <a:rPr lang="en-US" sz="2000" dirty="0"/>
              <a:t>Maryam </a:t>
            </a:r>
            <a:r>
              <a:rPr lang="en-US" sz="2000" dirty="0" err="1"/>
              <a:t>zim</a:t>
            </a: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49644-702C-104B-A3C2-E81A66E02B10}"/>
              </a:ext>
            </a:extLst>
          </p:cNvPr>
          <p:cNvSpPr txBox="1"/>
          <p:nvPr/>
        </p:nvSpPr>
        <p:spPr>
          <a:xfrm>
            <a:off x="333555" y="6331012"/>
            <a:ext cx="217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j-lt"/>
              </a:rPr>
              <a:t>@</a:t>
            </a:r>
            <a:r>
              <a:rPr lang="en-US" sz="1100" dirty="0" err="1">
                <a:latin typeface="+mj-lt"/>
              </a:rPr>
              <a:t>maryamzim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maryamxiim@gmail.com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9A4A4-6725-59CF-7099-1F9127951243}"/>
              </a:ext>
            </a:extLst>
          </p:cNvPr>
          <p:cNvCxnSpPr>
            <a:cxnSpLocks/>
          </p:cNvCxnSpPr>
          <p:nvPr/>
        </p:nvCxnSpPr>
        <p:spPr>
          <a:xfrm>
            <a:off x="0" y="62397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C7CD75-3CDC-8F39-FAB2-BC9933D5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0" y="6406516"/>
            <a:ext cx="139939" cy="13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897B446E-8E4A-1444-0B25-280230FC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6" y="6593099"/>
            <a:ext cx="138983" cy="9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62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26690" y="394488"/>
            <a:ext cx="10615076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</a:rPr>
              <a:t>Transform: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</a:t>
            </a:r>
            <a:r>
              <a:rPr lang="en-US" b="1" dirty="0">
                <a:latin typeface="+mj-lt"/>
              </a:rPr>
              <a:t>transform</a:t>
            </a:r>
            <a:r>
              <a:rPr lang="en-US" dirty="0">
                <a:latin typeface="+mj-lt"/>
              </a:rPr>
              <a:t> CSS property lets you apply two-dimensional (2D) or three-dimensional (3D) transformations to an element. It's used to visually manipulate an element without affecting the layout or position of its surrounding content.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transform property takes one or more </a:t>
            </a:r>
            <a:r>
              <a:rPr lang="en-US" b="1" dirty="0">
                <a:latin typeface="+mj-lt"/>
              </a:rPr>
              <a:t>transform functions</a:t>
            </a:r>
            <a:r>
              <a:rPr lang="en-US" dirty="0">
                <a:latin typeface="+mj-lt"/>
              </a:rPr>
              <a:t> as its value.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3074" name="Picture 2" descr="2D Transformation in CSS - Scaler Topics">
            <a:extLst>
              <a:ext uri="{FF2B5EF4-FFF2-40B4-BE49-F238E27FC236}">
                <a16:creationId xmlns:a16="http://schemas.microsoft.com/office/drawing/2014/main" id="{FF4FD549-39A3-0EC6-9619-10A237E233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46" t="8551" r="29392" b="25218"/>
          <a:stretch/>
        </p:blipFill>
        <p:spPr bwMode="auto">
          <a:xfrm>
            <a:off x="3955775" y="2623930"/>
            <a:ext cx="4116758" cy="393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83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26690" y="394488"/>
            <a:ext cx="10615076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</a:rPr>
              <a:t>Transform Functions: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primary use of transform is to apply one of the following geometric operations:</a:t>
            </a:r>
            <a:endParaRPr lang="en-US" dirty="0">
              <a:solidFill>
                <a:srgbClr val="0070C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+mj-lt"/>
              </a:rPr>
              <a:t>1-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translate():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Moves (shifts) the element from its original position without changing its size or rotation.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DF4C30-302C-170E-0643-0AC57F503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494573"/>
              </p:ext>
            </p:extLst>
          </p:nvPr>
        </p:nvGraphicFramePr>
        <p:xfrm>
          <a:off x="626166" y="2576686"/>
          <a:ext cx="10515600" cy="3505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450633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81142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94793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Function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Example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04368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translate(x, y)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Moves the element horizontally by x and vertically by y.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</a:rPr>
                        <a:t>transform: translate(50px, 10px);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6188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translateX(x)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Moves the element only along the X-axis (horizontally).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transform: translateX(-50%);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63514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translateY(y)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Moves the element only along the Y-axis (vertically).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transform: translateY(20px);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13080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translateZ(z)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Moves the element along the Z-axis (forward or backward in 3D space).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</a:rPr>
                        <a:t>transform: </a:t>
                      </a:r>
                      <a:r>
                        <a:rPr lang="en-US" dirty="0" err="1">
                          <a:solidFill>
                            <a:srgbClr val="1B1C1D"/>
                          </a:solidFill>
                          <a:effectLst/>
                        </a:rPr>
                        <a:t>translateZ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</a:rPr>
                        <a:t>(100px);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7425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93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SS transform: translateX()">
            <a:extLst>
              <a:ext uri="{FF2B5EF4-FFF2-40B4-BE49-F238E27FC236}">
                <a16:creationId xmlns:a16="http://schemas.microsoft.com/office/drawing/2014/main" id="{4836EC7C-BFA1-C130-AB06-E6969789F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556" y="1524000"/>
            <a:ext cx="43180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SS】transformプロパティ translate を使用した中央配置の方法 ...">
            <a:extLst>
              <a:ext uri="{FF2B5EF4-FFF2-40B4-BE49-F238E27FC236}">
                <a16:creationId xmlns:a16="http://schemas.microsoft.com/office/drawing/2014/main" id="{2ED1B29E-29F5-4555-A8C5-B1B450671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808" y="13843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18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26690" y="394488"/>
            <a:ext cx="10615076" cy="240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</a:rPr>
              <a:t>Transform Functions: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+mj-lt"/>
              </a:rPr>
              <a:t>2-rotate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():</a:t>
            </a:r>
            <a:endParaRPr lang="en-US" b="1" dirty="0"/>
          </a:p>
          <a:p>
            <a:r>
              <a:rPr lang="en-US" dirty="0"/>
              <a:t>Rotates the element around a fixed point (by default, the center of the element).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C94525-2E45-9390-C4FC-C2203AE47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012978"/>
              </p:ext>
            </p:extLst>
          </p:nvPr>
        </p:nvGraphicFramePr>
        <p:xfrm>
          <a:off x="838200" y="2248694"/>
          <a:ext cx="10515600" cy="3505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831185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34779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4771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Function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Example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88636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rotate(angle)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Rotates the element in 2D space (around the Z-axis).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transform: rotate(45deg);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88873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rotateX(angle)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Rotates the element around the X-axis (tilts it away/toward the viewer).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transform: rotateX(60deg);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7360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rotateY(angle)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Rotates the element around the Y-axis (spins it left/right).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transform: rotateY(180deg);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31984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rotateZ(angle)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Rotates the element around the Z-axis (same as rotate()).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6582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0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SS transform - Master CSS transform ? Learn to rotate, scale and ...">
            <a:extLst>
              <a:ext uri="{FF2B5EF4-FFF2-40B4-BE49-F238E27FC236}">
                <a16:creationId xmlns:a16="http://schemas.microsoft.com/office/drawing/2014/main" id="{45E73CE3-A3D2-29EC-243B-175B318F3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146" y="1798983"/>
            <a:ext cx="5521738" cy="310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ngle&gt; | Codrops">
            <a:extLst>
              <a:ext uri="{FF2B5EF4-FFF2-40B4-BE49-F238E27FC236}">
                <a16:creationId xmlns:a16="http://schemas.microsoft.com/office/drawing/2014/main" id="{2E46CBA0-8B5C-434C-4CC1-8D45ED019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16" y="1595230"/>
            <a:ext cx="5538144" cy="392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43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26690" y="394488"/>
            <a:ext cx="10615076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</a:rPr>
              <a:t>Transform Functions: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+mj-lt"/>
              </a:rPr>
              <a:t>1-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scale():</a:t>
            </a:r>
          </a:p>
          <a:p>
            <a:pPr>
              <a:lnSpc>
                <a:spcPct val="150000"/>
              </a:lnSpc>
            </a:pPr>
            <a:r>
              <a:rPr lang="en-US" dirty="0"/>
              <a:t>Increases or decreases the size of the element.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641C07-116C-5DF1-025B-0DA221BDE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0571"/>
              </p:ext>
            </p:extLst>
          </p:nvPr>
        </p:nvGraphicFramePr>
        <p:xfrm>
          <a:off x="838200" y="2385854"/>
          <a:ext cx="10515600" cy="2529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053015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470364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8361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Function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Example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38524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scale(sx, sy)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Changes the size by the horizontal factor sx and vertical factor sy.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transform: scale(1.5, 0.5);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440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scaleX(sx)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Scales the element only along the X-axis.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transform: scaleX(2);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13162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scaleY(sy)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B1C1D"/>
                          </a:solidFill>
                          <a:effectLst/>
                        </a:rPr>
                        <a:t>Scales the element only along the Y-axis.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</a:rPr>
                        <a:t>transform: </a:t>
                      </a:r>
                      <a:r>
                        <a:rPr lang="en-US" dirty="0" err="1">
                          <a:solidFill>
                            <a:srgbClr val="1B1C1D"/>
                          </a:solidFill>
                          <a:effectLst/>
                        </a:rPr>
                        <a:t>scaleY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</a:rPr>
                        <a:t>(0.8);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62959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36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aster CSS Scale() Function: Resize Elements Easily - Topic">
            <a:extLst>
              <a:ext uri="{FF2B5EF4-FFF2-40B4-BE49-F238E27FC236}">
                <a16:creationId xmlns:a16="http://schemas.microsoft.com/office/drawing/2014/main" id="{53AB6AC7-B275-D89F-A00A-DC384C82CC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66"/>
          <a:stretch/>
        </p:blipFill>
        <p:spPr bwMode="auto">
          <a:xfrm>
            <a:off x="1345096" y="1381539"/>
            <a:ext cx="91440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13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37238" y="474001"/>
            <a:ext cx="10615076" cy="7112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transition: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</a:t>
            </a:r>
            <a:r>
              <a:rPr lang="en-US" b="1" dirty="0">
                <a:latin typeface="+mj-lt"/>
              </a:rPr>
              <a:t>transition</a:t>
            </a:r>
            <a:r>
              <a:rPr lang="en-US" dirty="0">
                <a:latin typeface="+mj-lt"/>
              </a:rPr>
              <a:t> CSS property provides a way to control </a:t>
            </a:r>
            <a:r>
              <a:rPr lang="en-US" b="1" dirty="0">
                <a:latin typeface="+mj-lt"/>
              </a:rPr>
              <a:t>animation speed</a:t>
            </a:r>
            <a:r>
              <a:rPr lang="en-US" dirty="0">
                <a:latin typeface="+mj-lt"/>
              </a:rPr>
              <a:t> when changing CSS property values. Instead of having a property change instantly from one state to another (e.g., a button instantly changing color on hover), transition allows the change to occur smoothly over a specified duration.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This property is a shorthand for four separate transition properties, making it easy to define a smooth effect in one line of code.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Example Syntax</a:t>
            </a:r>
          </a:p>
          <a:p>
            <a:pPr>
              <a:lnSpc>
                <a:spcPct val="150000"/>
              </a:lnSpc>
            </a:pPr>
            <a:r>
              <a:rPr lang="en-US" dirty="0"/>
              <a:t>To transition the background-color and transform properties over half a second with a smooth speed curve: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/>
              </a:rPr>
              <a:t>CSS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effectLst/>
              </a:rPr>
              <a:t>.button {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effectLst/>
              </a:rPr>
              <a:t>background-color: blue;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effectLst/>
              </a:rPr>
              <a:t>transition: background-color 0.5s ease-in-out, transform 0.3s ease;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  <a:effectLst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.</a:t>
            </a:r>
            <a:r>
              <a:rPr lang="en-US" dirty="0" err="1">
                <a:solidFill>
                  <a:srgbClr val="00B050"/>
                </a:solidFill>
              </a:rPr>
              <a:t>button:</a:t>
            </a:r>
            <a:r>
              <a:rPr lang="en-US" dirty="0" err="1">
                <a:solidFill>
                  <a:srgbClr val="456328"/>
                </a:solidFill>
              </a:rPr>
              <a:t>hover</a:t>
            </a:r>
            <a:r>
              <a:rPr lang="en-US" dirty="0">
                <a:solidFill>
                  <a:srgbClr val="00B050"/>
                </a:solidFill>
              </a:rPr>
              <a:t> { background-color: red; transform: scale(1.1); }</a:t>
            </a:r>
            <a:endParaRPr lang="en-US" dirty="0">
              <a:solidFill>
                <a:srgbClr val="00B050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22778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D625BC-5BD4-1B3A-BF58-4EA5A1EE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698082"/>
              </p:ext>
            </p:extLst>
          </p:nvPr>
        </p:nvGraphicFramePr>
        <p:xfrm>
          <a:off x="1258956" y="1125690"/>
          <a:ext cx="9415671" cy="46066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38557">
                  <a:extLst>
                    <a:ext uri="{9D8B030D-6E8A-4147-A177-3AD203B41FA5}">
                      <a16:colId xmlns:a16="http://schemas.microsoft.com/office/drawing/2014/main" val="2033393740"/>
                    </a:ext>
                  </a:extLst>
                </a:gridCol>
                <a:gridCol w="3138557">
                  <a:extLst>
                    <a:ext uri="{9D8B030D-6E8A-4147-A177-3AD203B41FA5}">
                      <a16:colId xmlns:a16="http://schemas.microsoft.com/office/drawing/2014/main" val="2350580490"/>
                    </a:ext>
                  </a:extLst>
                </a:gridCol>
                <a:gridCol w="3138557">
                  <a:extLst>
                    <a:ext uri="{9D8B030D-6E8A-4147-A177-3AD203B41FA5}">
                      <a16:colId xmlns:a16="http://schemas.microsoft.com/office/drawing/2014/main" val="1123792140"/>
                    </a:ext>
                  </a:extLst>
                </a:gridCol>
              </a:tblGrid>
              <a:tr h="334500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Property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Example Value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extLst>
                  <a:ext uri="{0D108BD9-81ED-4DB2-BD59-A6C34878D82A}">
                    <a16:rowId xmlns:a16="http://schemas.microsoft.com/office/drawing/2014/main" val="1961221107"/>
                  </a:ext>
                </a:extLst>
              </a:tr>
              <a:tr h="979365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transition-property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</a:rPr>
                        <a:t>Specifies </a:t>
                      </a:r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which CSS property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</a:rPr>
                        <a:t> to apply the transition to (e.g., background-color, opacity, transform).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</a:rPr>
                        <a:t>opacity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extLst>
                  <a:ext uri="{0D108BD9-81ED-4DB2-BD59-A6C34878D82A}">
                    <a16:rowId xmlns:a16="http://schemas.microsoft.com/office/drawing/2014/main" val="712308391"/>
                  </a:ext>
                </a:extLst>
              </a:tr>
              <a:tr h="764410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transition-duration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</a:rPr>
                        <a:t>Specifies </a:t>
                      </a:r>
                      <a:r>
                        <a:rPr lang="en-US" sz="1700" b="1" dirty="0">
                          <a:solidFill>
                            <a:srgbClr val="1B1C1D"/>
                          </a:solidFill>
                          <a:effectLst/>
                        </a:rPr>
                        <a:t>how long</a:t>
                      </a: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</a:rPr>
                        <a:t> the transition should take to complete. This is the only required component.</a:t>
                      </a:r>
                      <a:endParaRPr lang="en-US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</a:rPr>
                        <a:t>0.5s (0.5 seconds)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extLst>
                  <a:ext uri="{0D108BD9-81ED-4DB2-BD59-A6C34878D82A}">
                    <a16:rowId xmlns:a16="http://schemas.microsoft.com/office/drawing/2014/main" val="1756104414"/>
                  </a:ext>
                </a:extLst>
              </a:tr>
              <a:tr h="1194321">
                <a:tc>
                  <a:txBody>
                    <a:bodyPr/>
                    <a:lstStyle/>
                    <a:p>
                      <a:pPr rtl="0"/>
                      <a:r>
                        <a:rPr lang="en-US" sz="1700" b="1" dirty="0">
                          <a:solidFill>
                            <a:srgbClr val="1B1C1D"/>
                          </a:solidFill>
                          <a:effectLst/>
                        </a:rPr>
                        <a:t>transition-timing-function</a:t>
                      </a:r>
                      <a:endParaRPr lang="en-US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</a:rPr>
                        <a:t>Specifies the </a:t>
                      </a:r>
                      <a:r>
                        <a:rPr lang="en-US" sz="1700" b="1" dirty="0">
                          <a:solidFill>
                            <a:srgbClr val="1B1C1D"/>
                          </a:solidFill>
                          <a:effectLst/>
                        </a:rPr>
                        <a:t>speed curve</a:t>
                      </a: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</a:rPr>
                        <a:t> of the transition, defining how the speed changes over the duration (e.g., starting slowly, ending fast).</a:t>
                      </a:r>
                      <a:endParaRPr lang="en-US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</a:rPr>
                        <a:t>ease-in-out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extLst>
                  <a:ext uri="{0D108BD9-81ED-4DB2-BD59-A6C34878D82A}">
                    <a16:rowId xmlns:a16="http://schemas.microsoft.com/office/drawing/2014/main" val="2832220009"/>
                  </a:ext>
                </a:extLst>
              </a:tr>
              <a:tr h="549455">
                <a:tc>
                  <a:txBody>
                    <a:bodyPr/>
                    <a:lstStyle/>
                    <a:p>
                      <a:pPr rtl="0"/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transition-delay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</a:rPr>
                        <a:t>Specifies a </a:t>
                      </a:r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</a:rPr>
                        <a:t>delay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</a:rPr>
                        <a:t> before the transition actually starts.</a:t>
                      </a:r>
                      <a:endParaRPr lang="en-US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</a:rPr>
                        <a:t>0.2s</a:t>
                      </a:r>
                      <a:endParaRPr lang="en-US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/>
                </a:tc>
                <a:extLst>
                  <a:ext uri="{0D108BD9-81ED-4DB2-BD59-A6C34878D82A}">
                    <a16:rowId xmlns:a16="http://schemas.microsoft.com/office/drawing/2014/main" val="22286790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395498-7858-A725-AAA2-A0EB964748FE}"/>
              </a:ext>
            </a:extLst>
          </p:cNvPr>
          <p:cNvSpPr txBox="1"/>
          <p:nvPr/>
        </p:nvSpPr>
        <p:spPr>
          <a:xfrm>
            <a:off x="1170333" y="51431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Properties of transition:</a:t>
            </a:r>
          </a:p>
        </p:txBody>
      </p:sp>
    </p:spTree>
    <p:extLst>
      <p:ext uri="{BB962C8B-B14F-4D97-AF65-F5344CB8AC3E}">
        <p14:creationId xmlns:p14="http://schemas.microsoft.com/office/powerpoint/2010/main" val="148516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ow to make custom CSS animation/transition timing function ...">
            <a:extLst>
              <a:ext uri="{FF2B5EF4-FFF2-40B4-BE49-F238E27FC236}">
                <a16:creationId xmlns:a16="http://schemas.microsoft.com/office/drawing/2014/main" id="{35B6C817-7A3F-8661-86D9-F7009604C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13" y="1228275"/>
            <a:ext cx="101600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AEE698-0526-A928-DD7F-1B1FAAD6AAEA}"/>
              </a:ext>
            </a:extLst>
          </p:cNvPr>
          <p:cNvSpPr txBox="1"/>
          <p:nvPr/>
        </p:nvSpPr>
        <p:spPr>
          <a:xfrm>
            <a:off x="787400" y="85894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800" b="1" dirty="0">
                <a:solidFill>
                  <a:srgbClr val="00B050"/>
                </a:solidFill>
                <a:effectLst/>
              </a:rPr>
              <a:t>transition-timing-function values:</a:t>
            </a:r>
            <a:endParaRPr lang="en-US" sz="1800" dirty="0">
              <a:solidFill>
                <a:srgbClr val="00B050"/>
              </a:solidFill>
              <a:effectLst/>
              <a:latin typeface="Google Sans Tex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A57DA-E6BB-448E-F4FB-2AA037D0686E}"/>
              </a:ext>
            </a:extLst>
          </p:cNvPr>
          <p:cNvSpPr txBox="1"/>
          <p:nvPr/>
        </p:nvSpPr>
        <p:spPr>
          <a:xfrm>
            <a:off x="787400" y="3932079"/>
            <a:ext cx="844605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B050"/>
                </a:solidFill>
                <a:effectLst/>
              </a:rPr>
              <a:t>transition-property values:</a:t>
            </a:r>
            <a:endParaRPr lang="en-US" sz="1800" dirty="0">
              <a:solidFill>
                <a:srgbClr val="00B050"/>
              </a:solidFill>
              <a:effectLst/>
              <a:latin typeface="Google Sans Text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all (default):</a:t>
            </a:r>
            <a:r>
              <a:rPr lang="en-US" dirty="0"/>
              <a:t> Applies the transition to every animatable CSS property that changes.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Specific Property Name(s):</a:t>
            </a:r>
            <a:r>
              <a:rPr lang="en-US" dirty="0"/>
              <a:t> Apply the transition only to the listed properties, separated by commas (e.g., width, opacity).</a:t>
            </a:r>
          </a:p>
        </p:txBody>
      </p:sp>
    </p:spTree>
    <p:extLst>
      <p:ext uri="{BB962C8B-B14F-4D97-AF65-F5344CB8AC3E}">
        <p14:creationId xmlns:p14="http://schemas.microsoft.com/office/powerpoint/2010/main" val="3131717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43375" y="400358"/>
            <a:ext cx="10615076" cy="499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animation: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effectLst/>
                <a:latin typeface="+mj-lt"/>
              </a:rPr>
              <a:t>In CSS, </a:t>
            </a:r>
            <a:r>
              <a:rPr lang="en-US" sz="1400" b="1" dirty="0">
                <a:effectLst/>
                <a:latin typeface="+mj-lt"/>
              </a:rPr>
              <a:t>animation</a:t>
            </a:r>
            <a:r>
              <a:rPr lang="en-US" sz="1400" dirty="0">
                <a:effectLst/>
                <a:latin typeface="+mj-lt"/>
              </a:rPr>
              <a:t> is a module that allows you to gradually change an element's style over a specified duration. Unlike transition, which only animates changes between two states (e.g., hover on and hover off), CSS animations allow you to define </a:t>
            </a:r>
            <a:r>
              <a:rPr lang="en-US" sz="1400" b="1" dirty="0">
                <a:effectLst/>
                <a:latin typeface="+mj-lt"/>
              </a:rPr>
              <a:t>multiple intermediate states</a:t>
            </a:r>
            <a:r>
              <a:rPr lang="en-US" sz="1400" dirty="0">
                <a:effectLst/>
                <a:latin typeface="+mj-lt"/>
              </a:rPr>
              <a:t> (keyframes) to create complex, continuous, and repeatable effects without needing JavaScript.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effectLst/>
              </a:rPr>
              <a:t>How CSS Animations Work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effectLst/>
                <a:latin typeface="+mj-lt"/>
              </a:rPr>
              <a:t>Creating a CSS animation requires two main steps: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effectLst/>
                <a:latin typeface="+mj-lt"/>
              </a:rPr>
              <a:t>1. Defining the Animation States (@keyframes)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effectLst/>
                <a:latin typeface="+mj-lt"/>
              </a:rPr>
              <a:t>The </a:t>
            </a:r>
            <a:r>
              <a:rPr lang="en-US" sz="1400" b="1" dirty="0">
                <a:solidFill>
                  <a:srgbClr val="C00000"/>
                </a:solidFill>
                <a:effectLst/>
                <a:latin typeface="+mj-lt"/>
              </a:rPr>
              <a:t>@keyframes</a:t>
            </a:r>
            <a:r>
              <a:rPr lang="en-US" sz="1400" dirty="0">
                <a:solidFill>
                  <a:srgbClr val="C00000"/>
                </a:solidFill>
                <a:effectLst/>
                <a:latin typeface="+mj-lt"/>
              </a:rPr>
              <a:t> </a:t>
            </a:r>
            <a:r>
              <a:rPr lang="en-US" sz="1400" dirty="0">
                <a:effectLst/>
                <a:latin typeface="+mj-lt"/>
              </a:rPr>
              <a:t>at-rule defines the various stages and style changes of the animation.</a:t>
            </a:r>
            <a:r>
              <a:rPr lang="en-US" sz="1400" baseline="30000" dirty="0">
                <a:effectLst/>
                <a:latin typeface="+mj-lt"/>
              </a:rPr>
              <a:t>2</a:t>
            </a:r>
            <a:r>
              <a:rPr lang="en-US" sz="1400" dirty="0">
                <a:effectLst/>
                <a:latin typeface="+mj-lt"/>
              </a:rPr>
              <a:t> You specify the styles the element should have at specific points during the animation cycle using percentages or the keywords from and to.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  <a:latin typeface="+mj-lt"/>
              </a:rPr>
              <a:t>from and to:</a:t>
            </a:r>
            <a:r>
              <a:rPr lang="en-US" sz="1400" dirty="0">
                <a:effectLst/>
                <a:latin typeface="+mj-lt"/>
              </a:rPr>
              <a:t> These are equivalent to $0\%$ and $100\%$, defining the start and end states of the animation.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  <a:latin typeface="+mj-lt"/>
              </a:rPr>
              <a:t>Percentages:</a:t>
            </a:r>
            <a:r>
              <a:rPr lang="en-US" sz="1400" dirty="0">
                <a:effectLst/>
                <a:latin typeface="+mj-lt"/>
              </a:rPr>
              <a:t> You can define styles at any point between $0\%$ and $100\%$ of the animation duration.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E80D9B-7CB2-7E0A-ACA1-C8CFA728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216" y="4387567"/>
            <a:ext cx="3060521" cy="22320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3E2F10-5AD1-B48C-34AF-12BD19863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616" y="4387567"/>
            <a:ext cx="4719384" cy="223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84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43375" y="400358"/>
            <a:ext cx="10615076" cy="277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Animation Property Values 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+mj-lt"/>
              </a:rPr>
              <a:t>1. </a:t>
            </a:r>
            <a:r>
              <a:rPr lang="en-US" sz="1400" b="1" dirty="0">
                <a:solidFill>
                  <a:srgbClr val="C00000"/>
                </a:solidFill>
                <a:latin typeface="+mj-lt"/>
              </a:rPr>
              <a:t>animation-name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This specifies the name of the @keyframes rule that defines the animation's sequence.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+mj-lt"/>
              </a:rPr>
              <a:t>2-</a:t>
            </a:r>
            <a:r>
              <a:rPr lang="en-US" sz="1400" b="1" dirty="0">
                <a:solidFill>
                  <a:srgbClr val="C00000"/>
                </a:solidFill>
                <a:latin typeface="+mj-lt"/>
              </a:rPr>
              <a:t>animation-duration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This defines how long one cycle of the animation should take to complete.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00000"/>
                </a:solidFill>
                <a:latin typeface="+mj-lt"/>
              </a:rPr>
              <a:t>3-animation-timing-function: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This defines the speed curve of the animation, specifying how the animation's speed changes over its duration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6D73F5-3FF8-95D6-ADCA-B9EBE673A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745700"/>
              </p:ext>
            </p:extLst>
          </p:nvPr>
        </p:nvGraphicFramePr>
        <p:xfrm>
          <a:off x="1454447" y="3429000"/>
          <a:ext cx="7585226" cy="2382651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792613">
                  <a:extLst>
                    <a:ext uri="{9D8B030D-6E8A-4147-A177-3AD203B41FA5}">
                      <a16:colId xmlns:a16="http://schemas.microsoft.com/office/drawing/2014/main" val="2210888397"/>
                    </a:ext>
                  </a:extLst>
                </a:gridCol>
                <a:gridCol w="3792613">
                  <a:extLst>
                    <a:ext uri="{9D8B030D-6E8A-4147-A177-3AD203B41FA5}">
                      <a16:colId xmlns:a16="http://schemas.microsoft.com/office/drawing/2014/main" val="898499476"/>
                    </a:ext>
                  </a:extLst>
                </a:gridCol>
              </a:tblGrid>
              <a:tr h="354598">
                <a:tc>
                  <a:txBody>
                    <a:bodyPr/>
                    <a:lstStyle/>
                    <a:p>
                      <a:pPr rtl="0"/>
                      <a:r>
                        <a:rPr lang="en-US" sz="1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animation-timing-function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</a:rPr>
                        <a:t>Value 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extLst>
                  <a:ext uri="{0D108BD9-81ED-4DB2-BD59-A6C34878D82A}">
                    <a16:rowId xmlns:a16="http://schemas.microsoft.com/office/drawing/2014/main" val="593528880"/>
                  </a:ext>
                </a:extLst>
              </a:tr>
              <a:tr h="354598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</a:rPr>
                        <a:t>ease (default)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</a:rPr>
                        <a:t>Starts slow, speeds up, and ends slow.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extLst>
                  <a:ext uri="{0D108BD9-81ED-4DB2-BD59-A6C34878D82A}">
                    <a16:rowId xmlns:a16="http://schemas.microsoft.com/office/drawing/2014/main" val="454694596"/>
                  </a:ext>
                </a:extLst>
              </a:tr>
              <a:tr h="354598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</a:rPr>
                        <a:t>linear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</a:rPr>
                        <a:t>Moves at a constant speed from start to finish.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extLst>
                  <a:ext uri="{0D108BD9-81ED-4DB2-BD59-A6C34878D82A}">
                    <a16:rowId xmlns:a16="http://schemas.microsoft.com/office/drawing/2014/main" val="3387407787"/>
                  </a:ext>
                </a:extLst>
              </a:tr>
              <a:tr h="354598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</a:rPr>
                        <a:t>ease-in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</a:rPr>
                        <a:t>Starts slow, then speeds up until the end.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extLst>
                  <a:ext uri="{0D108BD9-81ED-4DB2-BD59-A6C34878D82A}">
                    <a16:rowId xmlns:a16="http://schemas.microsoft.com/office/drawing/2014/main" val="2391643448"/>
                  </a:ext>
                </a:extLst>
              </a:tr>
              <a:tr h="354598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</a:rPr>
                        <a:t>ease-out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B1C1D"/>
                          </a:solidFill>
                          <a:effectLst/>
                        </a:rPr>
                        <a:t>Starts fast, then slows down until the end.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extLst>
                  <a:ext uri="{0D108BD9-81ED-4DB2-BD59-A6C34878D82A}">
                    <a16:rowId xmlns:a16="http://schemas.microsoft.com/office/drawing/2014/main" val="3075183864"/>
                  </a:ext>
                </a:extLst>
              </a:tr>
              <a:tr h="580831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B1C1D"/>
                          </a:solidFill>
                          <a:effectLst/>
                        </a:rPr>
                        <a:t>ease-in-out</a:t>
                      </a:r>
                      <a:endParaRPr lang="en-US" sz="14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B1C1D"/>
                          </a:solidFill>
                          <a:effectLst/>
                        </a:rPr>
                        <a:t>Starts and ends slowly, with the fastest speed in the middle.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0253" marR="110253" marT="73502" marB="73502" anchor="ctr"/>
                </a:tc>
                <a:extLst>
                  <a:ext uri="{0D108BD9-81ED-4DB2-BD59-A6C34878D82A}">
                    <a16:rowId xmlns:a16="http://schemas.microsoft.com/office/drawing/2014/main" val="2003792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797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74060" y="602877"/>
            <a:ext cx="10615076" cy="223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Animation Property Values :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+mj-lt"/>
              </a:rPr>
              <a:t>4. </a:t>
            </a:r>
            <a:r>
              <a:rPr lang="en-US" sz="1400" b="1" dirty="0">
                <a:solidFill>
                  <a:srgbClr val="C00000"/>
                </a:solidFill>
                <a:latin typeface="+mj-lt"/>
              </a:rPr>
              <a:t>animation-delay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This defines the amount of time to wait before the animation starts.</a:t>
            </a:r>
          </a:p>
          <a:p>
            <a:r>
              <a:rPr lang="en-US" sz="1400" dirty="0">
                <a:solidFill>
                  <a:srgbClr val="C00000"/>
                </a:solidFill>
                <a:latin typeface="+mj-lt"/>
              </a:rPr>
              <a:t>5-</a:t>
            </a:r>
            <a:r>
              <a:rPr lang="en-US" sz="1400" b="1" dirty="0">
                <a:solidFill>
                  <a:srgbClr val="C00000"/>
                </a:solidFill>
                <a:latin typeface="+mj-lt"/>
              </a:rPr>
              <a:t>animation-iteration-count</a:t>
            </a:r>
          </a:p>
          <a:p>
            <a:r>
              <a:rPr lang="en-US" sz="1400" dirty="0"/>
              <a:t>This defines how many times the animation cycle should repeat.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85D403-584D-C74D-3CFA-83B249319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43772"/>
              </p:ext>
            </p:extLst>
          </p:nvPr>
        </p:nvGraphicFramePr>
        <p:xfrm>
          <a:off x="1942845" y="3200721"/>
          <a:ext cx="7477316" cy="188976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738658">
                  <a:extLst>
                    <a:ext uri="{9D8B030D-6E8A-4147-A177-3AD203B41FA5}">
                      <a16:colId xmlns:a16="http://schemas.microsoft.com/office/drawing/2014/main" val="1952539882"/>
                    </a:ext>
                  </a:extLst>
                </a:gridCol>
                <a:gridCol w="3738658">
                  <a:extLst>
                    <a:ext uri="{9D8B030D-6E8A-4147-A177-3AD203B41FA5}">
                      <a16:colId xmlns:a16="http://schemas.microsoft.com/office/drawing/2014/main" val="1989831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rgbClr val="C00000"/>
                          </a:solidFill>
                        </a:rPr>
                        <a:t>animation-iteration-count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</a:rPr>
                        <a:t>Value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07268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1 (default)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The animation plays once and stops.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95795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&lt;number&gt;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 positive integer or decimal specifying the exact number of times to run (e.g., 2, 3.5).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1764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infinite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The animation repeats indefinitely (loops forever).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64508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365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80450" y="265347"/>
            <a:ext cx="5859234" cy="3054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Animation Property Values 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00000"/>
                </a:solidFill>
                <a:latin typeface="+mj-lt"/>
              </a:rPr>
              <a:t>6.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rgbClr val="C00000"/>
                </a:solidFill>
                <a:latin typeface="+mj-lt"/>
              </a:rPr>
              <a:t>animation-direction: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+mj-lt"/>
              </a:rPr>
              <a:t>This defines whether the animation should play forward, backward, or alternate between the two.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00000"/>
                </a:solidFill>
                <a:latin typeface="+mj-lt"/>
              </a:rPr>
              <a:t>7. animation-fill-mode: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+mj-lt"/>
              </a:rPr>
              <a:t>This specifies what styles are applied to the element </a:t>
            </a:r>
            <a:r>
              <a:rPr lang="en-US" sz="1400" i="1" dirty="0">
                <a:latin typeface="+mj-lt"/>
              </a:rPr>
              <a:t>before</a:t>
            </a:r>
            <a:r>
              <a:rPr lang="en-US" sz="1400" dirty="0">
                <a:latin typeface="+mj-lt"/>
              </a:rPr>
              <a:t> the animation starts and </a:t>
            </a:r>
            <a:r>
              <a:rPr lang="en-US" sz="1400" i="1" dirty="0">
                <a:latin typeface="+mj-lt"/>
              </a:rPr>
              <a:t>after</a:t>
            </a:r>
            <a:r>
              <a:rPr lang="en-US" sz="1400" dirty="0">
                <a:latin typeface="+mj-lt"/>
              </a:rPr>
              <a:t> it ends.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C0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52A52A-15B2-3796-AF7C-846E8A177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26763"/>
              </p:ext>
            </p:extLst>
          </p:nvPr>
        </p:nvGraphicFramePr>
        <p:xfrm>
          <a:off x="650000" y="3051271"/>
          <a:ext cx="5446000" cy="344938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723000">
                  <a:extLst>
                    <a:ext uri="{9D8B030D-6E8A-4147-A177-3AD203B41FA5}">
                      <a16:colId xmlns:a16="http://schemas.microsoft.com/office/drawing/2014/main" val="1023129854"/>
                    </a:ext>
                  </a:extLst>
                </a:gridCol>
                <a:gridCol w="2723000">
                  <a:extLst>
                    <a:ext uri="{9D8B030D-6E8A-4147-A177-3AD203B41FA5}">
                      <a16:colId xmlns:a16="http://schemas.microsoft.com/office/drawing/2014/main" val="1470060614"/>
                    </a:ext>
                  </a:extLst>
                </a:gridCol>
              </a:tblGrid>
              <a:tr h="405810">
                <a:tc>
                  <a:txBody>
                    <a:bodyPr/>
                    <a:lstStyle/>
                    <a:p>
                      <a:pPr rtl="0"/>
                      <a:r>
                        <a:rPr lang="en-US" sz="1400" b="1" kern="1200" dirty="0">
                          <a:solidFill>
                            <a:srgbClr val="C00000"/>
                          </a:solidFill>
                        </a:rPr>
                        <a:t>animation-direction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</a:rPr>
                        <a:t>Value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53759233"/>
                  </a:ext>
                </a:extLst>
              </a:tr>
              <a:tr h="642532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normal (default)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Plays forward each cycle (from 0% to 100%).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37392866"/>
                  </a:ext>
                </a:extLst>
              </a:tr>
              <a:tr h="642532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reverse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Plays backward each cycle (from 100% to 0%).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59855073"/>
                  </a:ext>
                </a:extLst>
              </a:tr>
              <a:tr h="879254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alternate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Plays forward on the first cycle, backward on the second, forward on the third, and so on.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13943056"/>
                  </a:ext>
                </a:extLst>
              </a:tr>
              <a:tr h="879254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alternate-reverse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Plays backward on the first cycle, forward on the second, backward on the third, and so on.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9343988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BB83E0-2ED8-4A05-196D-BEF76A8F6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972112"/>
              </p:ext>
            </p:extLst>
          </p:nvPr>
        </p:nvGraphicFramePr>
        <p:xfrm>
          <a:off x="6228966" y="2111533"/>
          <a:ext cx="5124834" cy="438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62417">
                  <a:extLst>
                    <a:ext uri="{9D8B030D-6E8A-4147-A177-3AD203B41FA5}">
                      <a16:colId xmlns:a16="http://schemas.microsoft.com/office/drawing/2014/main" val="1864363030"/>
                    </a:ext>
                  </a:extLst>
                </a:gridCol>
                <a:gridCol w="2562417">
                  <a:extLst>
                    <a:ext uri="{9D8B030D-6E8A-4147-A177-3AD203B41FA5}">
                      <a16:colId xmlns:a16="http://schemas.microsoft.com/office/drawing/2014/main" val="3788490507"/>
                    </a:ext>
                  </a:extLst>
                </a:gridCol>
              </a:tblGrid>
              <a:tr h="299313">
                <a:tc>
                  <a:txBody>
                    <a:bodyPr/>
                    <a:lstStyle/>
                    <a:p>
                      <a:pPr rtl="0"/>
                      <a:r>
                        <a:rPr lang="en-US" sz="1400" b="1" kern="1200" dirty="0">
                          <a:solidFill>
                            <a:srgbClr val="C00000"/>
                          </a:solidFill>
                        </a:rPr>
                        <a:t>animation-fill-mode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</a:rPr>
                        <a:t>Value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38061177"/>
                  </a:ext>
                </a:extLst>
              </a:tr>
              <a:tr h="648512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none (default)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The element reverts to its original style once the animation is complete.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58632273"/>
                  </a:ext>
                </a:extLst>
              </a:tr>
              <a:tr h="997710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forwards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The element retains the computed values set in the </a:t>
                      </a:r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last keyframe</a:t>
                      </a: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 (100% or from/to) based on the animation-direction.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62892058"/>
                  </a:ext>
                </a:extLst>
              </a:tr>
              <a:tr h="997710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backwards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The element applies the styles of the </a:t>
                      </a:r>
                      <a:r>
                        <a:rPr lang="en-US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first keyframe</a:t>
                      </a:r>
                      <a:r>
                        <a:rPr lang="en-US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 (0% or from) immediately when the page loads, using the animation-delay if present.</a:t>
                      </a:r>
                      <a:endParaRPr 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832185"/>
                  </a:ext>
                </a:extLst>
              </a:tr>
              <a:tr h="648512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both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The animation applies both forwards and backwards behavior.</a:t>
                      </a:r>
                      <a:endParaRPr 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47804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222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C79654-6C2A-28D4-4B8A-BFE323797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852974"/>
              </p:ext>
            </p:extLst>
          </p:nvPr>
        </p:nvGraphicFramePr>
        <p:xfrm>
          <a:off x="914400" y="487017"/>
          <a:ext cx="9974253" cy="558841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24751">
                  <a:extLst>
                    <a:ext uri="{9D8B030D-6E8A-4147-A177-3AD203B41FA5}">
                      <a16:colId xmlns:a16="http://schemas.microsoft.com/office/drawing/2014/main" val="1837247679"/>
                    </a:ext>
                  </a:extLst>
                </a:gridCol>
                <a:gridCol w="3324751">
                  <a:extLst>
                    <a:ext uri="{9D8B030D-6E8A-4147-A177-3AD203B41FA5}">
                      <a16:colId xmlns:a16="http://schemas.microsoft.com/office/drawing/2014/main" val="1798870863"/>
                    </a:ext>
                  </a:extLst>
                </a:gridCol>
                <a:gridCol w="3324751">
                  <a:extLst>
                    <a:ext uri="{9D8B030D-6E8A-4147-A177-3AD203B41FA5}">
                      <a16:colId xmlns:a16="http://schemas.microsoft.com/office/drawing/2014/main" val="1821672421"/>
                    </a:ext>
                  </a:extLst>
                </a:gridCol>
              </a:tblGrid>
              <a:tr h="355626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B1C1D"/>
                          </a:solidFill>
                          <a:effectLst/>
                        </a:rPr>
                        <a:t>Property</a:t>
                      </a:r>
                      <a:endParaRPr 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Purpose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Example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1236919986"/>
                  </a:ext>
                </a:extLst>
              </a:tr>
              <a:tr h="58424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animation-name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Specifies the </a:t>
                      </a:r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name</a:t>
                      </a:r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 of the @keyframes rule to use.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slide-fade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1459575435"/>
                  </a:ext>
                </a:extLst>
              </a:tr>
              <a:tr h="58424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animation-duration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Specifies </a:t>
                      </a:r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how long</a:t>
                      </a:r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 one cycle of the animation takes (e.g., 2s).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B1C1D"/>
                          </a:solidFill>
                          <a:effectLst/>
                        </a:rPr>
                        <a:t>2s</a:t>
                      </a:r>
                      <a:endParaRPr 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165553806"/>
                  </a:ext>
                </a:extLst>
              </a:tr>
              <a:tr h="58424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animation-timing-function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Defines the </a:t>
                      </a:r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speed curve</a:t>
                      </a:r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 of the animation (e.g., ease, linear).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B1C1D"/>
                          </a:solidFill>
                          <a:effectLst/>
                        </a:rPr>
                        <a:t>ease-in</a:t>
                      </a:r>
                      <a:endParaRPr 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1976876482"/>
                  </a:ext>
                </a:extLst>
              </a:tr>
              <a:tr h="584244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animation-delay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Defines the </a:t>
                      </a:r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delay</a:t>
                      </a:r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 before the animation begins (e.g., 0.5s).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B1C1D"/>
                          </a:solidFill>
                          <a:effectLst/>
                        </a:rPr>
                        <a:t>0.5s</a:t>
                      </a:r>
                      <a:endParaRPr 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2006793834"/>
                  </a:ext>
                </a:extLst>
              </a:tr>
              <a:tr h="812860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animation-iteration-count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Specifies how many times the animation should </a:t>
                      </a:r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repeat</a:t>
                      </a:r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 (e.g., 2, infinite).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B1C1D"/>
                          </a:solidFill>
                          <a:effectLst/>
                        </a:rPr>
                        <a:t>infinite</a:t>
                      </a:r>
                      <a:endParaRPr 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2341460377"/>
                  </a:ext>
                </a:extLst>
              </a:tr>
              <a:tr h="1041477">
                <a:tc>
                  <a:txBody>
                    <a:bodyPr/>
                    <a:lstStyle/>
                    <a:p>
                      <a:pPr rtl="0"/>
                      <a:r>
                        <a:rPr lang="en-US" sz="1000" b="1" dirty="0">
                          <a:solidFill>
                            <a:srgbClr val="1B1C1D"/>
                          </a:solidFill>
                          <a:effectLst/>
                        </a:rPr>
                        <a:t>animation-direction</a:t>
                      </a:r>
                      <a:endParaRPr 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Defines whether the animation plays forward, backward, or alternates (e.g., normal, reverse, alternate).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alternate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734713627"/>
                  </a:ext>
                </a:extLst>
              </a:tr>
              <a:tr h="1041477">
                <a:tc>
                  <a:txBody>
                    <a:bodyPr/>
                    <a:lstStyle/>
                    <a:p>
                      <a:pPr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animation-fill-mode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Specifies the styles applied to the element </a:t>
                      </a:r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before</a:t>
                      </a:r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 and </a:t>
                      </a:r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</a:rPr>
                        <a:t>after</a:t>
                      </a:r>
                      <a:r>
                        <a:rPr lang="en-US" sz="1000">
                          <a:solidFill>
                            <a:srgbClr val="1B1C1D"/>
                          </a:solidFill>
                          <a:effectLst/>
                        </a:rPr>
                        <a:t> the animation runs (e.g., forwards, backwards).</a:t>
                      </a:r>
                      <a:endParaRPr lang="en-US" sz="1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solidFill>
                            <a:srgbClr val="1B1C1D"/>
                          </a:solidFill>
                          <a:effectLst/>
                        </a:rPr>
                        <a:t>forwards</a:t>
                      </a:r>
                      <a:endParaRPr 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4752" marR="64752" marT="43168" marB="43168" anchor="ctr"/>
                </a:tc>
                <a:extLst>
                  <a:ext uri="{0D108BD9-81ED-4DB2-BD59-A6C34878D82A}">
                    <a16:rowId xmlns:a16="http://schemas.microsoft.com/office/drawing/2014/main" val="231736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5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7344</TotalTime>
  <Words>1389</Words>
  <Application>Microsoft Macintosh PowerPoint</Application>
  <PresentationFormat>Widescreen</PresentationFormat>
  <Paragraphs>182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Google Sans Text</vt:lpstr>
      <vt:lpstr>Office Theme</vt:lpstr>
      <vt:lpstr>Special topics  Session 6    Al-Zahra university  Maryam zim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maryam.zim@PART.LOCAL</dc:creator>
  <cp:lastModifiedBy>maryam zim</cp:lastModifiedBy>
  <cp:revision>49</cp:revision>
  <dcterms:created xsi:type="dcterms:W3CDTF">2025-10-04T12:24:50Z</dcterms:created>
  <dcterms:modified xsi:type="dcterms:W3CDTF">2025-11-13T13:21:25Z</dcterms:modified>
</cp:coreProperties>
</file>