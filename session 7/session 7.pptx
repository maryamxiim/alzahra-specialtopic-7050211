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95" r:id="rId3"/>
    <p:sldId id="256" r:id="rId4"/>
    <p:sldId id="311" r:id="rId5"/>
    <p:sldId id="312" r:id="rId6"/>
    <p:sldId id="313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FF99CC"/>
    <a:srgbClr val="AC1455"/>
    <a:srgbClr val="9D2F23"/>
    <a:srgbClr val="456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8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21A7-1297-4B3D-AA39-F5C0DF159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10B9-4796-4874-9BB8-15F35183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7682-B92C-4941-BF14-1CC126B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EDB1-FFF8-4366-8956-44B1F03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0CC4-F01F-49B0-B16E-FB8D42E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5F-E9B9-4ED1-9E9E-EBBE0338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57D5-DD8D-4939-A68C-92AF9510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6BAA-6F97-4E6F-B61B-7E4CF54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917-50CC-4C33-A243-F3EC029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BB40-3BBA-4F2F-BF06-08662F15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4DA-872A-4221-BA19-E07B6B95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27956-B24A-4F79-A497-786703A0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1D3C-2A54-43A4-B4AA-E3578A5F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F451-B11A-429E-AE89-A29A040D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344F-0B35-47EF-B676-F7D6EFD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749-E171-424D-95A4-107569D2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E049-633C-4EE9-9C60-6E549F60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85B50-1331-4886-879E-3B49F840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5FF1-B6E1-4969-8EA6-3540B5C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DCB5-B792-438D-BC09-99FA3302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F8EF-9BA1-4D3A-8856-9E1F28F9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3B0-D53A-4FB3-A0FA-3AA65017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986-7E35-4BFD-AE5C-731845CE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B44A9-6B54-44C0-B2D5-AB7D848E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03A4-F8A4-4A2B-B519-1F7A15433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A89C-42F2-4E57-9927-53867109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D43E-DE9B-4462-9805-C8D17DE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D1DA-4390-4E8E-9A61-060979A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717FB-EF17-43FB-8605-E12CCEE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E59-9915-476C-B0F8-EB3A25E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60F27-09EE-485F-A74C-6A6BD7F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65843-65D3-4667-B615-FD1F6B5C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674E2-122C-48F8-9EF8-E6146682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7D829-74FC-4444-AFD6-536A86FD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E63DD-C7A8-44E9-9536-DA1E149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2B870-EF9E-4D10-9908-985BE14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8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AF71-5FE8-47EF-BAE7-4E48FB0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4D18-94CC-4C61-8AA2-0F0BA6A0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63AB8-9CB2-4DC0-8619-82C66AB0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9CBA3-20B9-4D09-ACA4-F5CEF55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CDAA-722B-42B1-AB5B-4104181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DEFB-4003-4080-A9E6-42AD178C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A2CF-E225-4AA2-9996-E97E5DA0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EB8C8-2BA5-4DF3-A3A3-873EAA04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D1B52-B572-4655-9E7F-D7EA0572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BB40-94C9-4CB5-A0F8-6A46E661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C2F9-22D4-46CF-B08D-134F301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59A7B-D3AF-42CC-BAE5-CDA0DD8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1F0-3D68-4BF4-B5AB-CFC8A80A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818F2-79A6-4F9C-8E66-E20F9B5D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898E-CF68-4BA9-953F-8142C59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293A-8B19-473E-BCA1-11F9265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1BF-9DEB-49A9-A123-D6CD8302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B366D-8EC1-428A-85D4-129DE2C0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E9B1A-AB28-446F-BB0F-3C4EE011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1CD6-A1AE-4BB4-98F6-1EEA629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7E9E-4950-4891-8590-A9FC4063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1937-6B22-45E0-8722-8BCFDA6A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6A79B-B1C2-4FC9-8C3A-F43EC7D4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6324-1315-477A-9FFD-ECA6522C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E13F-AC62-445F-A16D-ED421545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2B08-B017-4EEC-B17F-079F487C2A9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1C2D-8020-42C2-998D-4313F62E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827-9FF1-43A7-A9E2-B0C00B12F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C456-2368-04EF-CB18-5B4BA19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864" y="240060"/>
            <a:ext cx="9144000" cy="5786006"/>
          </a:xfrm>
        </p:spPr>
        <p:txBody>
          <a:bodyPr>
            <a:normAutofit/>
          </a:bodyPr>
          <a:lstStyle/>
          <a:p>
            <a:r>
              <a:rPr lang="en-US" b="1" dirty="0"/>
              <a:t>Special topics</a:t>
            </a:r>
            <a:br>
              <a:rPr lang="en-US" dirty="0"/>
            </a:br>
            <a:br>
              <a:rPr lang="en-US" dirty="0"/>
            </a:br>
            <a:r>
              <a:rPr lang="en-US" sz="3200" b="1" dirty="0"/>
              <a:t>Session 7</a:t>
            </a:r>
            <a:br>
              <a:rPr lang="en-US" sz="3200" b="1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Al-Zahra university </a:t>
            </a:r>
            <a:br>
              <a:rPr lang="en-US" sz="2000" dirty="0"/>
            </a:br>
            <a:r>
              <a:rPr lang="en-US" sz="2000" dirty="0"/>
              <a:t>Maryam </a:t>
            </a:r>
            <a:r>
              <a:rPr lang="en-US" sz="2000" dirty="0" err="1"/>
              <a:t>zim</a:t>
            </a: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49644-702C-104B-A3C2-E81A66E02B10}"/>
              </a:ext>
            </a:extLst>
          </p:cNvPr>
          <p:cNvSpPr txBox="1"/>
          <p:nvPr/>
        </p:nvSpPr>
        <p:spPr>
          <a:xfrm>
            <a:off x="333555" y="6331012"/>
            <a:ext cx="217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j-lt"/>
              </a:rPr>
              <a:t>@</a:t>
            </a:r>
            <a:r>
              <a:rPr lang="en-US" sz="1100" dirty="0" err="1">
                <a:latin typeface="+mj-lt"/>
              </a:rPr>
              <a:t>maryamzim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maryamxiim@gmail.com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9A4A4-6725-59CF-7099-1F9127951243}"/>
              </a:ext>
            </a:extLst>
          </p:cNvPr>
          <p:cNvCxnSpPr>
            <a:cxnSpLocks/>
          </p:cNvCxnSpPr>
          <p:nvPr/>
        </p:nvCxnSpPr>
        <p:spPr>
          <a:xfrm>
            <a:off x="0" y="62397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C7CD75-3CDC-8F39-FAB2-BC9933D5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0" y="6406516"/>
            <a:ext cx="139939" cy="13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897B446E-8E4A-1444-0B25-280230FC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6" y="6593099"/>
            <a:ext cx="138983" cy="9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62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611358" y="576152"/>
            <a:ext cx="10615076" cy="628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2D050"/>
                </a:solidFill>
              </a:rPr>
              <a:t>What is </a:t>
            </a:r>
            <a:r>
              <a:rPr lang="en-US" b="1" dirty="0" err="1">
                <a:solidFill>
                  <a:srgbClr val="92D050"/>
                </a:solidFill>
              </a:rPr>
              <a:t>javascript</a:t>
            </a:r>
            <a:r>
              <a:rPr lang="en-US" b="1" dirty="0">
                <a:solidFill>
                  <a:srgbClr val="92D050"/>
                </a:solidFill>
              </a:rPr>
              <a:t> ?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JavaScript is the programming language of the web. It can calculate, manipulate and validate data.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It can update and change both HTML and CSS.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+mj-lt"/>
              </a:rPr>
              <a:t>In html , </a:t>
            </a:r>
            <a:r>
              <a:rPr lang="en-US" dirty="0" err="1">
                <a:solidFill>
                  <a:srgbClr val="000000"/>
                </a:solidFill>
                <a:latin typeface="+mj-lt"/>
              </a:rPr>
              <a:t>javascript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 code is inserted between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&lt;script&gt;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 and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&lt;/script&gt;</a:t>
            </a:r>
          </a:p>
          <a:p>
            <a:pPr>
              <a:lnSpc>
                <a:spcPct val="15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Scripts can be placed in the bottom of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&lt;body&gt;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, or in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&lt;head&gt;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Segoe UI" panose="020B0502040204020203" pitchFamily="34" charset="0"/>
              </a:rPr>
              <a:t> section of an HTML page, or in both.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>
              <a:lnSpc>
                <a:spcPct val="150000"/>
              </a:lnSpc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</a:rPr>
              <a:t>Have you ever wondered what happens to the JavaScript code we write when it is displayed in the browser like this?</a:t>
            </a:r>
            <a:endParaRPr 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 process of running JavaScript code in a browser is complex, involving several steps handled by the browser's built-in JavaScript Engine (like V8 in Chrome,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SpiderMonkey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in Firefox, 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JavaScriptCore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in Safari).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But in general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When a browser loads an HTML file and encounters a &lt;script&gt; tag, the </a:t>
            </a:r>
            <a:r>
              <a:rPr lang="en-US" b="0" i="0" dirty="0">
                <a:solidFill>
                  <a:srgbClr val="92D050"/>
                </a:solidFill>
                <a:effectLst/>
                <a:latin typeface="+mj-lt"/>
              </a:rPr>
              <a:t>engine(like V8 in chrome)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takes over and executes the code 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483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526690" y="394488"/>
            <a:ext cx="10615076" cy="351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Variables: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The first and most important concept in programming is variables.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In fact, variables are like boxes in our system's memory that store data inside them.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In JavaScript, we use three keywords to define variables: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1. Var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2. Let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3.Const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BF093D-63F8-44E9-A964-DB650836F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290900"/>
              </p:ext>
            </p:extLst>
          </p:nvPr>
        </p:nvGraphicFramePr>
        <p:xfrm>
          <a:off x="1795628" y="3385032"/>
          <a:ext cx="7886700" cy="30784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966423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406257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83373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Keyword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Reassignable</a:t>
                      </a:r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Best Practice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75377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let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Use this for variables that will be updated.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44623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const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Use this for variables whose value should never change.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97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var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Avoid using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 in modern JS due to confusing scoping rules.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8353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93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347293" y="118368"/>
            <a:ext cx="10615076" cy="674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C1455"/>
                </a:solidFill>
              </a:rPr>
              <a:t>Variable naming rules: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n JavaScript, there are strict rules you must follow when naming a variable. If you violate these rules, the JavaScript engine will throw an error and your code won't run.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Here are the fundamental rules for naming variables: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C1455"/>
                </a:solidFill>
                <a:effectLst/>
              </a:rPr>
              <a:t>1. Legal Characters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variable name must start with one of three allowed characters:</a:t>
            </a:r>
          </a:p>
          <a:p>
            <a:pPr>
              <a:lnSpc>
                <a:spcPct val="150000"/>
              </a:lnSpc>
            </a:pPr>
            <a:r>
              <a:rPr lang="en-US" altLang="en-US" sz="1600" dirty="0">
                <a:latin typeface="+mj-lt"/>
              </a:rPr>
              <a:t>A.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letter (a-z, A-Z).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B. The underscore (_).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C. The dollar sign ($).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AC1455"/>
                </a:solidFill>
              </a:rPr>
              <a:t>2. Case Sensitivity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JavaScript is case-sensitive. This means that a variable named in lowercase is treated as an entirely different variable from one named with capital letters. For example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AC1455"/>
                </a:solidFill>
                <a:effectLst/>
                <a:latin typeface="+mj-lt"/>
              </a:rPr>
              <a:t>myVariable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same as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AC1455"/>
                </a:solidFill>
                <a:effectLst/>
                <a:latin typeface="+mj-lt"/>
              </a:rPr>
              <a:t>MyVariable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For multi-word variable names, the standard convention in JavaScript is </a:t>
            </a:r>
            <a:r>
              <a:rPr lang="en-US" sz="1600" dirty="0">
                <a:solidFill>
                  <a:srgbClr val="AC1455"/>
                </a:solidFill>
              </a:rPr>
              <a:t>camelCase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Start the first word in lowercase. Capitalize the first letter of every subsequent word.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AC1455"/>
                </a:solidFill>
              </a:rPr>
              <a:t>3. Reserved Keywords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You </a:t>
            </a:r>
            <a:r>
              <a:rPr lang="en-US" sz="1600" b="1" dirty="0">
                <a:latin typeface="+mj-lt"/>
              </a:rPr>
              <a:t>cannot</a:t>
            </a:r>
            <a:r>
              <a:rPr lang="en-US" sz="1600" dirty="0">
                <a:latin typeface="+mj-lt"/>
              </a:rPr>
              <a:t> use any of JavaScript's </a:t>
            </a:r>
            <a:r>
              <a:rPr lang="en-US" sz="1600" b="1" dirty="0">
                <a:latin typeface="+mj-lt"/>
              </a:rPr>
              <a:t>reserved keywords</a:t>
            </a:r>
            <a:r>
              <a:rPr lang="en-US" sz="1600" dirty="0">
                <a:latin typeface="+mj-lt"/>
              </a:rPr>
              <a:t> as variable names. These words have special meanings for the language itself. for example : </a:t>
            </a:r>
            <a:r>
              <a:rPr lang="en-US" sz="1600" dirty="0">
                <a:solidFill>
                  <a:srgbClr val="AC1455"/>
                </a:solidFill>
                <a:latin typeface="+mj-lt"/>
              </a:rPr>
              <a:t>let, const, var, function, return, if, else, switch ,for, while, new, this, try, catch , …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3136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347293" y="118368"/>
            <a:ext cx="10615076" cy="674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AC1455"/>
                </a:solidFill>
              </a:rPr>
              <a:t>Variable naming rules: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n JavaScript, there are strict rules you must follow when naming a variable. If you violate these rules, the JavaScript engine will throw an error and your code won't run.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Here are the fundamental rules for naming variables: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C1455"/>
                </a:solidFill>
                <a:effectLst/>
              </a:rPr>
              <a:t>1. Legal Characters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variable name must start with one of three allowed characters:</a:t>
            </a:r>
          </a:p>
          <a:p>
            <a:pPr>
              <a:lnSpc>
                <a:spcPct val="150000"/>
              </a:lnSpc>
            </a:pPr>
            <a:r>
              <a:rPr lang="en-US" altLang="en-US" sz="1600" dirty="0">
                <a:latin typeface="+mj-lt"/>
              </a:rPr>
              <a:t>A.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letter (a-z, A-Z).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B. The underscore (_).</a:t>
            </a: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C. The dollar sign ($).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AC1455"/>
                </a:solidFill>
              </a:rPr>
              <a:t>2. Case Sensitivity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JavaScript is case-sensitive. This means that a variable named in lowercase is treated as an entirely different variable from one named with capital letters. For example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AC1455"/>
                </a:solidFill>
                <a:effectLst/>
                <a:latin typeface="+mj-lt"/>
              </a:rPr>
              <a:t>myVariable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same as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AC1455"/>
                </a:solidFill>
                <a:effectLst/>
                <a:latin typeface="+mj-lt"/>
              </a:rPr>
              <a:t>MyVariable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For multi-word variable names, the standard convention in JavaScript is </a:t>
            </a:r>
            <a:r>
              <a:rPr lang="en-US" sz="1600" dirty="0">
                <a:solidFill>
                  <a:srgbClr val="AC1455"/>
                </a:solidFill>
              </a:rPr>
              <a:t>camelCase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Start the first word in lowercase. Capitalize the first letter of every subsequent word.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AC1455"/>
                </a:solidFill>
              </a:rPr>
              <a:t>3. Reserved Keywords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You </a:t>
            </a:r>
            <a:r>
              <a:rPr lang="en-US" sz="1600" b="1" dirty="0">
                <a:latin typeface="+mj-lt"/>
              </a:rPr>
              <a:t>cannot</a:t>
            </a:r>
            <a:r>
              <a:rPr lang="en-US" sz="1600" dirty="0">
                <a:latin typeface="+mj-lt"/>
              </a:rPr>
              <a:t> use any of JavaScript's </a:t>
            </a:r>
            <a:r>
              <a:rPr lang="en-US" sz="1600" b="1" dirty="0">
                <a:latin typeface="+mj-lt"/>
              </a:rPr>
              <a:t>reserved keywords</a:t>
            </a:r>
            <a:r>
              <a:rPr lang="en-US" sz="1600" dirty="0">
                <a:latin typeface="+mj-lt"/>
              </a:rPr>
              <a:t> as variable names. These words have special meanings for the language itself. for example : </a:t>
            </a:r>
            <a:r>
              <a:rPr lang="en-US" sz="1600" dirty="0">
                <a:solidFill>
                  <a:srgbClr val="AC1455"/>
                </a:solidFill>
                <a:latin typeface="+mj-lt"/>
              </a:rPr>
              <a:t>let, const, var, function, return, if, else, switch ,for, while, new, this, try, catch , …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558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398093" y="592502"/>
            <a:ext cx="10615076" cy="3424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6699"/>
                </a:solidFill>
              </a:rPr>
              <a:t>Data Types:</a:t>
            </a:r>
            <a:br>
              <a:rPr lang="en-US" dirty="0">
                <a:solidFill>
                  <a:srgbClr val="FF99CC"/>
                </a:solidFill>
              </a:rPr>
            </a:br>
            <a:r>
              <a:rPr lang="en-US" sz="1600" dirty="0">
                <a:latin typeface="+mj-lt"/>
              </a:rPr>
              <a:t>JavaScript data types define the kind of value a variable can hold. All data in JavaScript falls into one of two main categories: </a:t>
            </a:r>
            <a:r>
              <a:rPr lang="en-US" sz="1600" b="1" dirty="0">
                <a:latin typeface="+mj-lt"/>
              </a:rPr>
              <a:t>Primitive Types</a:t>
            </a:r>
            <a:r>
              <a:rPr lang="en-US" sz="1600" dirty="0">
                <a:latin typeface="+mj-lt"/>
              </a:rPr>
              <a:t> and </a:t>
            </a:r>
            <a:r>
              <a:rPr lang="en-US" sz="1600" b="1" dirty="0">
                <a:latin typeface="+mj-lt"/>
              </a:rPr>
              <a:t>non-primitive Types</a:t>
            </a:r>
            <a:r>
              <a:rPr lang="en-US" sz="16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6699"/>
                </a:solidFill>
                <a:latin typeface="+mj-lt"/>
              </a:rPr>
              <a:t>1. Primitive Data Types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Primitive values are </a:t>
            </a:r>
            <a:r>
              <a:rPr lang="en-US" sz="1600" b="1" dirty="0">
                <a:latin typeface="+mj-lt"/>
              </a:rPr>
              <a:t>simple, immutable</a:t>
            </a:r>
            <a:r>
              <a:rPr lang="en-US" sz="1600" dirty="0">
                <a:latin typeface="+mj-lt"/>
              </a:rPr>
              <a:t> data. When you assign a primitive to a variable, the variable holds the </a:t>
            </a:r>
            <a:r>
              <a:rPr lang="en-US" sz="1600" b="1" dirty="0">
                <a:latin typeface="+mj-lt"/>
              </a:rPr>
              <a:t>actual value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6699"/>
                </a:solidFill>
                <a:latin typeface="+mj-lt"/>
              </a:rPr>
              <a:t>2. non-primitive or Object Types: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Like array and objects , …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6699"/>
                </a:solidFill>
                <a:latin typeface="+mj-lt"/>
              </a:rPr>
              <a:t>We'll talk about it in the future.</a:t>
            </a:r>
            <a:br>
              <a:rPr lang="en-US" sz="1600" b="1" dirty="0">
                <a:solidFill>
                  <a:srgbClr val="FF6699"/>
                </a:solidFill>
              </a:rPr>
            </a:br>
            <a:endParaRPr lang="en-US" sz="1600" b="1" dirty="0">
              <a:solidFill>
                <a:srgbClr val="FF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72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26E136-1C1A-4FB1-86C3-727F5791F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975396"/>
              </p:ext>
            </p:extLst>
          </p:nvPr>
        </p:nvGraphicFramePr>
        <p:xfrm>
          <a:off x="2016621" y="1413303"/>
          <a:ext cx="8158758" cy="374286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19586">
                  <a:extLst>
                    <a:ext uri="{9D8B030D-6E8A-4147-A177-3AD203B41FA5}">
                      <a16:colId xmlns:a16="http://schemas.microsoft.com/office/drawing/2014/main" val="1721817594"/>
                    </a:ext>
                  </a:extLst>
                </a:gridCol>
                <a:gridCol w="2719586">
                  <a:extLst>
                    <a:ext uri="{9D8B030D-6E8A-4147-A177-3AD203B41FA5}">
                      <a16:colId xmlns:a16="http://schemas.microsoft.com/office/drawing/2014/main" val="326642607"/>
                    </a:ext>
                  </a:extLst>
                </a:gridCol>
                <a:gridCol w="2719586">
                  <a:extLst>
                    <a:ext uri="{9D8B030D-6E8A-4147-A177-3AD203B41FA5}">
                      <a16:colId xmlns:a16="http://schemas.microsoft.com/office/drawing/2014/main" val="381156878"/>
                    </a:ext>
                  </a:extLst>
                </a:gridCol>
              </a:tblGrid>
              <a:tr h="33108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Data Type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Examples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extLst>
                  <a:ext uri="{0D108BD9-81ED-4DB2-BD59-A6C34878D82A}">
                    <a16:rowId xmlns:a16="http://schemas.microsoft.com/office/drawing/2014/main" val="2851358431"/>
                  </a:ext>
                </a:extLst>
              </a:tr>
              <a:tr h="756754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Textual data, enclosed in single, double.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"Hello", 'World'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extLst>
                  <a:ext uri="{0D108BD9-81ED-4DB2-BD59-A6C34878D82A}">
                    <a16:rowId xmlns:a16="http://schemas.microsoft.com/office/drawing/2014/main" val="237603149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number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Represents both integers and floating-point numbers.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10, 3.14, -5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extLst>
                  <a:ext uri="{0D108BD9-81ED-4DB2-BD59-A6C34878D82A}">
                    <a16:rowId xmlns:a16="http://schemas.microsoft.com/office/drawing/2014/main" val="1614587955"/>
                  </a:ext>
                </a:extLst>
              </a:tr>
              <a:tr h="331080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boolean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Logical values representing truth.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true, false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extLst>
                  <a:ext uri="{0D108BD9-81ED-4DB2-BD59-A6C34878D82A}">
                    <a16:rowId xmlns:a16="http://schemas.microsoft.com/office/drawing/2014/main" val="337650224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undefined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A variable has been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declared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but has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not been assigned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a value.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let x;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extLst>
                  <a:ext uri="{0D108BD9-81ED-4DB2-BD59-A6C34878D82A}">
                    <a16:rowId xmlns:a16="http://schemas.microsoft.com/office/drawing/2014/main" val="2411777790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null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Represents the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intentional absence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 of any object value.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let user = null;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682" marR="88682" marT="59121" marB="59121" anchor="ctr"/>
                </a:tc>
                <a:extLst>
                  <a:ext uri="{0D108BD9-81ED-4DB2-BD59-A6C34878D82A}">
                    <a16:rowId xmlns:a16="http://schemas.microsoft.com/office/drawing/2014/main" val="36932723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B4E644-0D09-4243-B24A-73B46E7B3B32}"/>
              </a:ext>
            </a:extLst>
          </p:cNvPr>
          <p:cNvSpPr txBox="1"/>
          <p:nvPr/>
        </p:nvSpPr>
        <p:spPr>
          <a:xfrm>
            <a:off x="753534" y="512631"/>
            <a:ext cx="60960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6699"/>
                </a:solidFill>
              </a:rPr>
              <a:t>1. Primitive Data Types</a:t>
            </a:r>
          </a:p>
        </p:txBody>
      </p:sp>
    </p:spTree>
    <p:extLst>
      <p:ext uri="{BB962C8B-B14F-4D97-AF65-F5344CB8AC3E}">
        <p14:creationId xmlns:p14="http://schemas.microsoft.com/office/powerpoint/2010/main" val="79658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7416</TotalTime>
  <Words>866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Google Sans Text</vt:lpstr>
      <vt:lpstr>Segoe UI</vt:lpstr>
      <vt:lpstr>Office Theme</vt:lpstr>
      <vt:lpstr>Special topics  Session 7    Al-Zahra university  Maryam zim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maryam.zim@PART.LOCAL</dc:creator>
  <cp:lastModifiedBy>maryam.zim@PART.LOCAL</cp:lastModifiedBy>
  <cp:revision>56</cp:revision>
  <dcterms:created xsi:type="dcterms:W3CDTF">2025-10-04T12:24:50Z</dcterms:created>
  <dcterms:modified xsi:type="dcterms:W3CDTF">2025-11-26T06:46:22Z</dcterms:modified>
</cp:coreProperties>
</file>