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343" r:id="rId3"/>
    <p:sldId id="344" r:id="rId4"/>
    <p:sldId id="345" r:id="rId5"/>
    <p:sldId id="346" r:id="rId6"/>
    <p:sldId id="348" r:id="rId7"/>
    <p:sldId id="349" r:id="rId8"/>
    <p:sldId id="350" r:id="rId9"/>
    <p:sldId id="351" r:id="rId10"/>
    <p:sldId id="353" r:id="rId11"/>
    <p:sldId id="354" r:id="rId12"/>
    <p:sldId id="352" r:id="rId13"/>
    <p:sldId id="355" r:id="rId14"/>
    <p:sldId id="357" r:id="rId15"/>
    <p:sldId id="356" r:id="rId16"/>
    <p:sldId id="35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6328"/>
    <a:srgbClr val="FF99CC"/>
    <a:srgbClr val="993366"/>
    <a:srgbClr val="6666FF"/>
    <a:srgbClr val="FF6699"/>
    <a:srgbClr val="0099CC"/>
    <a:srgbClr val="AC1455"/>
    <a:srgbClr val="9D2F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8" autoAdjust="0"/>
    <p:restoredTop sz="94660"/>
  </p:normalViewPr>
  <p:slideViewPr>
    <p:cSldViewPr snapToGrid="0">
      <p:cViewPr varScale="1">
        <p:scale>
          <a:sx n="113" d="100"/>
          <a:sy n="113" d="100"/>
        </p:scale>
        <p:origin x="52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621A7-1297-4B3D-AA39-F5C0DF1593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F210B9-4796-4874-9BB8-15F35183EC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4B7682-B92C-4941-BF14-1CC126B0A813}"/>
              </a:ext>
            </a:extLst>
          </p:cNvPr>
          <p:cNvSpPr>
            <a:spLocks noGrp="1"/>
          </p:cNvSpPr>
          <p:nvPr>
            <p:ph type="dt" sz="half" idx="10"/>
          </p:nvPr>
        </p:nvSpPr>
        <p:spPr/>
        <p:txBody>
          <a:bodyPr/>
          <a:lstStyle/>
          <a:p>
            <a:fld id="{807B2B08-B017-4EEC-B17F-079F487C2A94}" type="datetimeFigureOut">
              <a:rPr lang="en-US" smtClean="0"/>
              <a:t>12/24/2025</a:t>
            </a:fld>
            <a:endParaRPr lang="en-US"/>
          </a:p>
        </p:txBody>
      </p:sp>
      <p:sp>
        <p:nvSpPr>
          <p:cNvPr id="5" name="Footer Placeholder 4">
            <a:extLst>
              <a:ext uri="{FF2B5EF4-FFF2-40B4-BE49-F238E27FC236}">
                <a16:creationId xmlns:a16="http://schemas.microsoft.com/office/drawing/2014/main" id="{E394EDB1-FFF8-4366-8956-44B1F03997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D50CC4-F01F-49B0-B16E-FB8D42E76007}"/>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013080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8765F-E9B9-4ED1-9E9E-EBBE0338D1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3A57D5-DD8D-4939-A68C-92AF9510BB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536BAA-6F97-4E6F-B61B-7E4CF543618E}"/>
              </a:ext>
            </a:extLst>
          </p:cNvPr>
          <p:cNvSpPr>
            <a:spLocks noGrp="1"/>
          </p:cNvSpPr>
          <p:nvPr>
            <p:ph type="dt" sz="half" idx="10"/>
          </p:nvPr>
        </p:nvSpPr>
        <p:spPr/>
        <p:txBody>
          <a:bodyPr/>
          <a:lstStyle/>
          <a:p>
            <a:fld id="{807B2B08-B017-4EEC-B17F-079F487C2A94}" type="datetimeFigureOut">
              <a:rPr lang="en-US" smtClean="0"/>
              <a:t>12/24/2025</a:t>
            </a:fld>
            <a:endParaRPr lang="en-US"/>
          </a:p>
        </p:txBody>
      </p:sp>
      <p:sp>
        <p:nvSpPr>
          <p:cNvPr id="5" name="Footer Placeholder 4">
            <a:extLst>
              <a:ext uri="{FF2B5EF4-FFF2-40B4-BE49-F238E27FC236}">
                <a16:creationId xmlns:a16="http://schemas.microsoft.com/office/drawing/2014/main" id="{39EA5917-50CC-4C33-A243-F3EC0293F9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1BB40-3BBA-4F2F-BF06-08662F15231B}"/>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2597189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C94DA-872A-4221-BA19-E07B6B95A3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027956-B24A-4F79-A497-786703A03A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C01D3C-2A54-43A4-B4AA-E3578A5F02D2}"/>
              </a:ext>
            </a:extLst>
          </p:cNvPr>
          <p:cNvSpPr>
            <a:spLocks noGrp="1"/>
          </p:cNvSpPr>
          <p:nvPr>
            <p:ph type="dt" sz="half" idx="10"/>
          </p:nvPr>
        </p:nvSpPr>
        <p:spPr/>
        <p:txBody>
          <a:bodyPr/>
          <a:lstStyle/>
          <a:p>
            <a:fld id="{807B2B08-B017-4EEC-B17F-079F487C2A94}" type="datetimeFigureOut">
              <a:rPr lang="en-US" smtClean="0"/>
              <a:t>12/24/2025</a:t>
            </a:fld>
            <a:endParaRPr lang="en-US"/>
          </a:p>
        </p:txBody>
      </p:sp>
      <p:sp>
        <p:nvSpPr>
          <p:cNvPr id="5" name="Footer Placeholder 4">
            <a:extLst>
              <a:ext uri="{FF2B5EF4-FFF2-40B4-BE49-F238E27FC236}">
                <a16:creationId xmlns:a16="http://schemas.microsoft.com/office/drawing/2014/main" id="{23ABF451-B11A-429E-AE89-A29A040D44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09344F-0B35-47EF-B676-F7D6EFD51B71}"/>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620703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0B749-E171-424D-95A4-107569D207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4AE049-633C-4EE9-9C60-6E549F603B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E85B50-1331-4886-879E-3B49F84073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6F5FF1-B6E1-4969-8EA6-3540B5C095BE}"/>
              </a:ext>
            </a:extLst>
          </p:cNvPr>
          <p:cNvSpPr>
            <a:spLocks noGrp="1"/>
          </p:cNvSpPr>
          <p:nvPr>
            <p:ph type="dt" sz="half" idx="10"/>
          </p:nvPr>
        </p:nvSpPr>
        <p:spPr/>
        <p:txBody>
          <a:bodyPr/>
          <a:lstStyle/>
          <a:p>
            <a:fld id="{807B2B08-B017-4EEC-B17F-079F487C2A94}" type="datetimeFigureOut">
              <a:rPr lang="en-US" smtClean="0"/>
              <a:t>12/24/2025</a:t>
            </a:fld>
            <a:endParaRPr lang="en-US"/>
          </a:p>
        </p:txBody>
      </p:sp>
      <p:sp>
        <p:nvSpPr>
          <p:cNvPr id="6" name="Footer Placeholder 5">
            <a:extLst>
              <a:ext uri="{FF2B5EF4-FFF2-40B4-BE49-F238E27FC236}">
                <a16:creationId xmlns:a16="http://schemas.microsoft.com/office/drawing/2014/main" id="{6FE9DCB5-B792-438D-BC09-99FA3302AE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21F8EF-9BA1-4D3A-8856-9E1F28F9F090}"/>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714095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523B0-D53A-4FB3-A0FA-3AA650170B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861986-7E35-4BFD-AE5C-731845CE20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DB44A9-6B54-44C0-B2D5-AB7D848EF5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CF03A4-F8A4-4A2B-B519-1F7A15433D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6FA89C-42F2-4E57-9927-53867109DF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C8D43E-DE9B-4462-9805-C8D17DE09B3F}"/>
              </a:ext>
            </a:extLst>
          </p:cNvPr>
          <p:cNvSpPr>
            <a:spLocks noGrp="1"/>
          </p:cNvSpPr>
          <p:nvPr>
            <p:ph type="dt" sz="half" idx="10"/>
          </p:nvPr>
        </p:nvSpPr>
        <p:spPr/>
        <p:txBody>
          <a:bodyPr/>
          <a:lstStyle/>
          <a:p>
            <a:fld id="{807B2B08-B017-4EEC-B17F-079F487C2A94}" type="datetimeFigureOut">
              <a:rPr lang="en-US" smtClean="0"/>
              <a:t>12/24/2025</a:t>
            </a:fld>
            <a:endParaRPr lang="en-US"/>
          </a:p>
        </p:txBody>
      </p:sp>
      <p:sp>
        <p:nvSpPr>
          <p:cNvPr id="8" name="Footer Placeholder 7">
            <a:extLst>
              <a:ext uri="{FF2B5EF4-FFF2-40B4-BE49-F238E27FC236}">
                <a16:creationId xmlns:a16="http://schemas.microsoft.com/office/drawing/2014/main" id="{508FD1DA-4390-4E8E-9A61-060979A913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F0717FB-EF17-43FB-8605-E12CCEEDECA6}"/>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884108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E3E59-9915-476C-B0F8-EB3A25E6D1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B460F27-09EE-485F-A74C-6A6BD7FDD323}"/>
              </a:ext>
            </a:extLst>
          </p:cNvPr>
          <p:cNvSpPr>
            <a:spLocks noGrp="1"/>
          </p:cNvSpPr>
          <p:nvPr>
            <p:ph type="dt" sz="half" idx="10"/>
          </p:nvPr>
        </p:nvSpPr>
        <p:spPr/>
        <p:txBody>
          <a:bodyPr/>
          <a:lstStyle/>
          <a:p>
            <a:fld id="{807B2B08-B017-4EEC-B17F-079F487C2A94}" type="datetimeFigureOut">
              <a:rPr lang="en-US" smtClean="0"/>
              <a:t>12/24/2025</a:t>
            </a:fld>
            <a:endParaRPr lang="en-US"/>
          </a:p>
        </p:txBody>
      </p:sp>
      <p:sp>
        <p:nvSpPr>
          <p:cNvPr id="4" name="Footer Placeholder 3">
            <a:extLst>
              <a:ext uri="{FF2B5EF4-FFF2-40B4-BE49-F238E27FC236}">
                <a16:creationId xmlns:a16="http://schemas.microsoft.com/office/drawing/2014/main" id="{A9765843-65D3-4667-B615-FD1F6B5C2E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AC674E2-122C-48F8-9EF8-E6146682F3A1}"/>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1469304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B7D829-74FC-4444-AFD6-536A86FD1D7F}"/>
              </a:ext>
            </a:extLst>
          </p:cNvPr>
          <p:cNvSpPr>
            <a:spLocks noGrp="1"/>
          </p:cNvSpPr>
          <p:nvPr>
            <p:ph type="dt" sz="half" idx="10"/>
          </p:nvPr>
        </p:nvSpPr>
        <p:spPr/>
        <p:txBody>
          <a:bodyPr/>
          <a:lstStyle/>
          <a:p>
            <a:fld id="{807B2B08-B017-4EEC-B17F-079F487C2A94}" type="datetimeFigureOut">
              <a:rPr lang="en-US" smtClean="0"/>
              <a:t>12/24/2025</a:t>
            </a:fld>
            <a:endParaRPr lang="en-US"/>
          </a:p>
        </p:txBody>
      </p:sp>
      <p:sp>
        <p:nvSpPr>
          <p:cNvPr id="3" name="Footer Placeholder 2">
            <a:extLst>
              <a:ext uri="{FF2B5EF4-FFF2-40B4-BE49-F238E27FC236}">
                <a16:creationId xmlns:a16="http://schemas.microsoft.com/office/drawing/2014/main" id="{8A9E63DD-C7A8-44E9-9536-DA1E149966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F2B870-EF9E-4D10-9908-985BE1401045}"/>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04548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FAF71-5FE8-47EF-BAE7-4E48FB03CC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704D18-94CC-4C61-8AA2-0F0BA6A0E0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F63AB8-9CB2-4DC0-8619-82C66AB041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A9CBA3-20B9-4D09-ACA4-F5CEF556311D}"/>
              </a:ext>
            </a:extLst>
          </p:cNvPr>
          <p:cNvSpPr>
            <a:spLocks noGrp="1"/>
          </p:cNvSpPr>
          <p:nvPr>
            <p:ph type="dt" sz="half" idx="10"/>
          </p:nvPr>
        </p:nvSpPr>
        <p:spPr/>
        <p:txBody>
          <a:bodyPr/>
          <a:lstStyle/>
          <a:p>
            <a:fld id="{807B2B08-B017-4EEC-B17F-079F487C2A94}" type="datetimeFigureOut">
              <a:rPr lang="en-US" smtClean="0"/>
              <a:t>12/24/2025</a:t>
            </a:fld>
            <a:endParaRPr lang="en-US"/>
          </a:p>
        </p:txBody>
      </p:sp>
      <p:sp>
        <p:nvSpPr>
          <p:cNvPr id="6" name="Footer Placeholder 5">
            <a:extLst>
              <a:ext uri="{FF2B5EF4-FFF2-40B4-BE49-F238E27FC236}">
                <a16:creationId xmlns:a16="http://schemas.microsoft.com/office/drawing/2014/main" id="{4E4BCDAA-722B-42B1-AB5B-4104181CB2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24DEFB-4003-4080-A9E6-42AD178C9EF9}"/>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2515680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5A2CF-E225-4AA2-9996-E97E5DA064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5EB8C8-2BA5-4DF3-A3A3-873EAA04F9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4D1B52-B572-4655-9E7F-D7EA05728A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31BB40-94C9-4CB5-A0F8-6A46E661BEEE}"/>
              </a:ext>
            </a:extLst>
          </p:cNvPr>
          <p:cNvSpPr>
            <a:spLocks noGrp="1"/>
          </p:cNvSpPr>
          <p:nvPr>
            <p:ph type="dt" sz="half" idx="10"/>
          </p:nvPr>
        </p:nvSpPr>
        <p:spPr/>
        <p:txBody>
          <a:bodyPr/>
          <a:lstStyle/>
          <a:p>
            <a:fld id="{807B2B08-B017-4EEC-B17F-079F487C2A94}" type="datetimeFigureOut">
              <a:rPr lang="en-US" smtClean="0"/>
              <a:t>12/24/2025</a:t>
            </a:fld>
            <a:endParaRPr lang="en-US"/>
          </a:p>
        </p:txBody>
      </p:sp>
      <p:sp>
        <p:nvSpPr>
          <p:cNvPr id="6" name="Footer Placeholder 5">
            <a:extLst>
              <a:ext uri="{FF2B5EF4-FFF2-40B4-BE49-F238E27FC236}">
                <a16:creationId xmlns:a16="http://schemas.microsoft.com/office/drawing/2014/main" id="{CF83C2F9-22D4-46CF-B08D-134F301D03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C59A7B-D3AF-42CC-BAE5-CDA0DD8EE9E3}"/>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4173746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281F0-3D68-4BF4-B5AB-CFC8A80A33E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C818F2-79A6-4F9C-8E66-E20F9B5DF0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B9898E-CF68-4BA9-953F-8142C596F48B}"/>
              </a:ext>
            </a:extLst>
          </p:cNvPr>
          <p:cNvSpPr>
            <a:spLocks noGrp="1"/>
          </p:cNvSpPr>
          <p:nvPr>
            <p:ph type="dt" sz="half" idx="10"/>
          </p:nvPr>
        </p:nvSpPr>
        <p:spPr/>
        <p:txBody>
          <a:bodyPr/>
          <a:lstStyle/>
          <a:p>
            <a:fld id="{807B2B08-B017-4EEC-B17F-079F487C2A94}" type="datetimeFigureOut">
              <a:rPr lang="en-US" smtClean="0"/>
              <a:t>12/24/2025</a:t>
            </a:fld>
            <a:endParaRPr lang="en-US"/>
          </a:p>
        </p:txBody>
      </p:sp>
      <p:sp>
        <p:nvSpPr>
          <p:cNvPr id="5" name="Footer Placeholder 4">
            <a:extLst>
              <a:ext uri="{FF2B5EF4-FFF2-40B4-BE49-F238E27FC236}">
                <a16:creationId xmlns:a16="http://schemas.microsoft.com/office/drawing/2014/main" id="{DC90293A-8B19-473E-BCA1-11F92655F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24F1BF-9DEB-49A9-A123-D6CD830287B0}"/>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2249364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5B366D-8EC1-428A-85D4-129DE2C092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9E9B1A-AB28-446F-BB0F-3C4EE0113F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451CD6-A1AE-4BB4-98F6-1EEA62944D0A}"/>
              </a:ext>
            </a:extLst>
          </p:cNvPr>
          <p:cNvSpPr>
            <a:spLocks noGrp="1"/>
          </p:cNvSpPr>
          <p:nvPr>
            <p:ph type="dt" sz="half" idx="10"/>
          </p:nvPr>
        </p:nvSpPr>
        <p:spPr/>
        <p:txBody>
          <a:bodyPr/>
          <a:lstStyle/>
          <a:p>
            <a:fld id="{807B2B08-B017-4EEC-B17F-079F487C2A94}" type="datetimeFigureOut">
              <a:rPr lang="en-US" smtClean="0"/>
              <a:t>12/24/2025</a:t>
            </a:fld>
            <a:endParaRPr lang="en-US"/>
          </a:p>
        </p:txBody>
      </p:sp>
      <p:sp>
        <p:nvSpPr>
          <p:cNvPr id="5" name="Footer Placeholder 4">
            <a:extLst>
              <a:ext uri="{FF2B5EF4-FFF2-40B4-BE49-F238E27FC236}">
                <a16:creationId xmlns:a16="http://schemas.microsoft.com/office/drawing/2014/main" id="{5ACB7E9E-4950-4891-8590-A9FC4063CF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CD1937-6B22-45E0-8722-8BCFDA6AD669}"/>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4225955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E6A79B-B1C2-4FC9-8C3A-F43EC7D4F5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C36324-1315-477A-9FFD-ECA6522C7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BAE13F-AC62-445F-A16D-ED4215451F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7B2B08-B017-4EEC-B17F-079F487C2A94}" type="datetimeFigureOut">
              <a:rPr lang="en-US" smtClean="0"/>
              <a:t>12/24/2025</a:t>
            </a:fld>
            <a:endParaRPr lang="en-US"/>
          </a:p>
        </p:txBody>
      </p:sp>
      <p:sp>
        <p:nvSpPr>
          <p:cNvPr id="5" name="Footer Placeholder 4">
            <a:extLst>
              <a:ext uri="{FF2B5EF4-FFF2-40B4-BE49-F238E27FC236}">
                <a16:creationId xmlns:a16="http://schemas.microsoft.com/office/drawing/2014/main" id="{F84B1C2D-8020-42C2-998D-4313F62E31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EC0E827-9FF1-43A7-A9E2-B0C00B12F5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04CCB9-2627-4E8D-81FB-E1D3575DD0F9}" type="slidenum">
              <a:rPr lang="en-US" smtClean="0"/>
              <a:t>‹#›</a:t>
            </a:fld>
            <a:endParaRPr lang="en-US"/>
          </a:p>
        </p:txBody>
      </p:sp>
    </p:spTree>
    <p:extLst>
      <p:ext uri="{BB962C8B-B14F-4D97-AF65-F5344CB8AC3E}">
        <p14:creationId xmlns:p14="http://schemas.microsoft.com/office/powerpoint/2010/main" val="284325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4C456-2368-04EF-CB18-5B4BA1953C93}"/>
              </a:ext>
            </a:extLst>
          </p:cNvPr>
          <p:cNvSpPr>
            <a:spLocks noGrp="1"/>
          </p:cNvSpPr>
          <p:nvPr>
            <p:ph type="ctrTitle"/>
          </p:nvPr>
        </p:nvSpPr>
        <p:spPr>
          <a:xfrm>
            <a:off x="1079864" y="240060"/>
            <a:ext cx="9144000" cy="5786006"/>
          </a:xfrm>
        </p:spPr>
        <p:txBody>
          <a:bodyPr>
            <a:normAutofit/>
          </a:bodyPr>
          <a:lstStyle/>
          <a:p>
            <a:r>
              <a:rPr lang="en-US" b="1" dirty="0"/>
              <a:t>Special topics</a:t>
            </a:r>
            <a:br>
              <a:rPr lang="en-US" dirty="0"/>
            </a:br>
            <a:br>
              <a:rPr lang="en-US" dirty="0"/>
            </a:br>
            <a:r>
              <a:rPr lang="en-US" sz="3200" b="1" dirty="0"/>
              <a:t>Session 12</a:t>
            </a:r>
            <a:br>
              <a:rPr lang="en-US" sz="3200" b="1" dirty="0"/>
            </a:br>
            <a:br>
              <a:rPr lang="en-US" dirty="0"/>
            </a:br>
            <a:br>
              <a:rPr lang="en-US" dirty="0"/>
            </a:br>
            <a:br>
              <a:rPr lang="en-US" dirty="0"/>
            </a:br>
            <a:r>
              <a:rPr lang="en-US" sz="2000" dirty="0"/>
              <a:t>Al-Zahra university </a:t>
            </a:r>
            <a:br>
              <a:rPr lang="en-US" sz="2000" dirty="0"/>
            </a:br>
            <a:r>
              <a:rPr lang="en-US" sz="2000" dirty="0"/>
              <a:t>Maryam </a:t>
            </a:r>
            <a:r>
              <a:rPr lang="en-US" sz="2000" dirty="0" err="1"/>
              <a:t>zim</a:t>
            </a:r>
            <a:r>
              <a:rPr lang="en-US" sz="2000" dirty="0"/>
              <a:t> </a:t>
            </a:r>
          </a:p>
        </p:txBody>
      </p:sp>
      <p:sp>
        <p:nvSpPr>
          <p:cNvPr id="3" name="TextBox 2">
            <a:extLst>
              <a:ext uri="{FF2B5EF4-FFF2-40B4-BE49-F238E27FC236}">
                <a16:creationId xmlns:a16="http://schemas.microsoft.com/office/drawing/2014/main" id="{64A49644-702C-104B-A3C2-E81A66E02B10}"/>
              </a:ext>
            </a:extLst>
          </p:cNvPr>
          <p:cNvSpPr txBox="1"/>
          <p:nvPr/>
        </p:nvSpPr>
        <p:spPr>
          <a:xfrm>
            <a:off x="333555" y="6331012"/>
            <a:ext cx="2179608" cy="430887"/>
          </a:xfrm>
          <a:prstGeom prst="rect">
            <a:avLst/>
          </a:prstGeom>
          <a:noFill/>
        </p:spPr>
        <p:txBody>
          <a:bodyPr wrap="square" rtlCol="0">
            <a:spAutoFit/>
          </a:bodyPr>
          <a:lstStyle/>
          <a:p>
            <a:r>
              <a:rPr lang="en-US" sz="1100" dirty="0">
                <a:latin typeface="+mj-lt"/>
              </a:rPr>
              <a:t>@</a:t>
            </a:r>
            <a:r>
              <a:rPr lang="en-US" sz="1100" dirty="0" err="1">
                <a:latin typeface="+mj-lt"/>
              </a:rPr>
              <a:t>maryamzim</a:t>
            </a:r>
            <a:r>
              <a:rPr lang="en-US" sz="1100" dirty="0">
                <a:latin typeface="+mj-lt"/>
              </a:rPr>
              <a:t> </a:t>
            </a:r>
            <a:r>
              <a:rPr lang="en-US" sz="1100" dirty="0" err="1">
                <a:latin typeface="+mj-lt"/>
              </a:rPr>
              <a:t>maryamxiim@gmail.com</a:t>
            </a:r>
            <a:endParaRPr lang="en-US" sz="1100" dirty="0">
              <a:latin typeface="+mj-lt"/>
            </a:endParaRPr>
          </a:p>
        </p:txBody>
      </p:sp>
      <p:cxnSp>
        <p:nvCxnSpPr>
          <p:cNvPr id="5" name="Straight Connector 4">
            <a:extLst>
              <a:ext uri="{FF2B5EF4-FFF2-40B4-BE49-F238E27FC236}">
                <a16:creationId xmlns:a16="http://schemas.microsoft.com/office/drawing/2014/main" id="{9139A4A4-6725-59CF-7099-1F9127951243}"/>
              </a:ext>
            </a:extLst>
          </p:cNvPr>
          <p:cNvCxnSpPr>
            <a:cxnSpLocks/>
          </p:cNvCxnSpPr>
          <p:nvPr/>
        </p:nvCxnSpPr>
        <p:spPr>
          <a:xfrm>
            <a:off x="0" y="6239774"/>
            <a:ext cx="12192000" cy="0"/>
          </a:xfrm>
          <a:prstGeom prst="line">
            <a:avLst/>
          </a:prstGeom>
        </p:spPr>
        <p:style>
          <a:lnRef idx="1">
            <a:schemeClr val="dk1"/>
          </a:lnRef>
          <a:fillRef idx="0">
            <a:schemeClr val="dk1"/>
          </a:fillRef>
          <a:effectRef idx="0">
            <a:schemeClr val="dk1"/>
          </a:effectRef>
          <a:fontRef idx="minor">
            <a:schemeClr val="tx1"/>
          </a:fontRef>
        </p:style>
      </p:cxnSp>
      <p:pic>
        <p:nvPicPr>
          <p:cNvPr id="20482" name="Picture 2">
            <a:extLst>
              <a:ext uri="{FF2B5EF4-FFF2-40B4-BE49-F238E27FC236}">
                <a16:creationId xmlns:a16="http://schemas.microsoft.com/office/drawing/2014/main" id="{C0C7CD75-3CDC-8F39-FAB2-BC9933D5B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580" y="6406516"/>
            <a:ext cx="139939" cy="139939"/>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a:extLst>
              <a:ext uri="{FF2B5EF4-FFF2-40B4-BE49-F238E27FC236}">
                <a16:creationId xmlns:a16="http://schemas.microsoft.com/office/drawing/2014/main" id="{897B446E-8E4A-1444-0B25-280230FC1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536" y="6593099"/>
            <a:ext cx="138983" cy="99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6627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788462" y="707755"/>
            <a:ext cx="10615076" cy="4486100"/>
          </a:xfrm>
          <a:prstGeom prst="rect">
            <a:avLst/>
          </a:prstGeom>
          <a:noFill/>
        </p:spPr>
        <p:txBody>
          <a:bodyPr wrap="square" rtlCol="0">
            <a:spAutoFit/>
          </a:bodyPr>
          <a:lstStyle/>
          <a:p>
            <a:pPr>
              <a:lnSpc>
                <a:spcPct val="150000"/>
              </a:lnSpc>
            </a:pPr>
            <a:r>
              <a:rPr lang="en-US" sz="1600" b="1" dirty="0">
                <a:solidFill>
                  <a:srgbClr val="002060"/>
                </a:solidFill>
              </a:rPr>
              <a:t>What is DOM  ?</a:t>
            </a:r>
          </a:p>
          <a:p>
            <a:pPr>
              <a:lnSpc>
                <a:spcPct val="150000"/>
              </a:lnSpc>
            </a:pPr>
            <a:r>
              <a:rPr lang="en-US" sz="1600" b="1" dirty="0">
                <a:solidFill>
                  <a:srgbClr val="002060"/>
                </a:solidFill>
              </a:rPr>
              <a:t>Dom is </a:t>
            </a:r>
            <a:r>
              <a:rPr lang="en-US" sz="1600" dirty="0"/>
              <a:t>Document Object Model</a:t>
            </a:r>
            <a:r>
              <a:rPr lang="en-US" sz="1600" b="1" dirty="0">
                <a:solidFill>
                  <a:srgbClr val="002060"/>
                </a:solidFill>
              </a:rPr>
              <a:t> .</a:t>
            </a:r>
          </a:p>
          <a:p>
            <a:pPr>
              <a:lnSpc>
                <a:spcPct val="150000"/>
              </a:lnSpc>
            </a:pPr>
            <a:r>
              <a:rPr lang="en-US" sz="1600" dirty="0">
                <a:solidFill>
                  <a:schemeClr val="tx1">
                    <a:lumMod val="95000"/>
                    <a:lumOff val="5000"/>
                  </a:schemeClr>
                </a:solidFill>
              </a:rPr>
              <a:t>Imagine you have an HTML file that contains &lt;div&gt;, &lt;h1&gt;, and &lt;button&gt; tags. When the browser opens this file, it converts it into a tree.</a:t>
            </a:r>
          </a:p>
          <a:p>
            <a:pPr>
              <a:lnSpc>
                <a:spcPct val="150000"/>
              </a:lnSpc>
            </a:pPr>
            <a:r>
              <a:rPr lang="en-US" sz="1600" dirty="0">
                <a:solidFill>
                  <a:schemeClr val="tx1">
                    <a:lumMod val="95000"/>
                    <a:lumOff val="5000"/>
                  </a:schemeClr>
                </a:solidFill>
              </a:rPr>
              <a:t>DOM means: converting HTML code into a large object that JavaScript can access, modify, or delete.</a:t>
            </a:r>
          </a:p>
          <a:p>
            <a:pPr>
              <a:lnSpc>
                <a:spcPct val="150000"/>
              </a:lnSpc>
            </a:pPr>
            <a:r>
              <a:rPr lang="en-US" sz="1600" dirty="0">
                <a:solidFill>
                  <a:schemeClr val="tx1">
                    <a:lumMod val="95000"/>
                    <a:lumOff val="5000"/>
                  </a:schemeClr>
                </a:solidFill>
              </a:rPr>
              <a:t>In this tree:</a:t>
            </a:r>
          </a:p>
          <a:p>
            <a:pPr>
              <a:lnSpc>
                <a:spcPct val="150000"/>
              </a:lnSpc>
            </a:pPr>
            <a:r>
              <a:rPr lang="en-US" sz="1600" dirty="0">
                <a:solidFill>
                  <a:schemeClr val="tx1">
                    <a:lumMod val="95000"/>
                    <a:lumOff val="5000"/>
                  </a:schemeClr>
                </a:solidFill>
              </a:rPr>
              <a:t>Each tag is called a Node.</a:t>
            </a:r>
          </a:p>
          <a:p>
            <a:pPr>
              <a:lnSpc>
                <a:spcPct val="150000"/>
              </a:lnSpc>
            </a:pPr>
            <a:r>
              <a:rPr lang="en-US" sz="1600" dirty="0">
                <a:solidFill>
                  <a:schemeClr val="tx1">
                    <a:lumMod val="95000"/>
                    <a:lumOff val="5000"/>
                  </a:schemeClr>
                </a:solidFill>
              </a:rPr>
              <a:t>JavaScript accesses this tree using the document object.</a:t>
            </a:r>
            <a:br>
              <a:rPr lang="en-US" sz="1600" b="1" dirty="0">
                <a:solidFill>
                  <a:srgbClr val="002060"/>
                </a:solidFill>
              </a:rPr>
            </a:br>
            <a:endParaRPr lang="en-US" sz="1600" b="1" dirty="0">
              <a:solidFill>
                <a:srgbClr val="002060"/>
              </a:solidFill>
            </a:endParaRPr>
          </a:p>
          <a:p>
            <a:pPr>
              <a:lnSpc>
                <a:spcPct val="150000"/>
              </a:lnSpc>
            </a:pPr>
            <a:br>
              <a:rPr lang="fa-IR" sz="1600" dirty="0"/>
            </a:br>
            <a:endParaRPr lang="en-US" sz="1600" dirty="0">
              <a:latin typeface="+mj-lt"/>
            </a:endParaRPr>
          </a:p>
          <a:p>
            <a:pPr>
              <a:lnSpc>
                <a:spcPct val="150000"/>
              </a:lnSpc>
            </a:pPr>
            <a:endParaRPr lang="en-US" sz="1600" b="1" dirty="0">
              <a:solidFill>
                <a:schemeClr val="bg2">
                  <a:lumMod val="10000"/>
                </a:schemeClr>
              </a:solidFill>
              <a:latin typeface="+mj-lt"/>
            </a:endParaRPr>
          </a:p>
        </p:txBody>
      </p:sp>
      <p:pic>
        <p:nvPicPr>
          <p:cNvPr id="2" name="Picture 2">
            <a:extLst>
              <a:ext uri="{FF2B5EF4-FFF2-40B4-BE49-F238E27FC236}">
                <a16:creationId xmlns:a16="http://schemas.microsoft.com/office/drawing/2014/main" id="{BE1CCC12-792A-49A0-8271-FAA1BAB83F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6867" y="3429000"/>
            <a:ext cx="4868333" cy="2738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6807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788462" y="707755"/>
            <a:ext cx="10615076" cy="4116768"/>
          </a:xfrm>
          <a:prstGeom prst="rect">
            <a:avLst/>
          </a:prstGeom>
          <a:noFill/>
        </p:spPr>
        <p:txBody>
          <a:bodyPr wrap="square" rtlCol="0">
            <a:spAutoFit/>
          </a:bodyPr>
          <a:lstStyle/>
          <a:p>
            <a:pPr>
              <a:lnSpc>
                <a:spcPct val="150000"/>
              </a:lnSpc>
            </a:pPr>
            <a:r>
              <a:rPr lang="en-US" sz="1600" b="1" dirty="0">
                <a:solidFill>
                  <a:srgbClr val="7030A0"/>
                </a:solidFill>
              </a:rPr>
              <a:t>The DOM Tree:</a:t>
            </a:r>
          </a:p>
          <a:p>
            <a:pPr>
              <a:lnSpc>
                <a:spcPct val="150000"/>
              </a:lnSpc>
            </a:pPr>
            <a:r>
              <a:rPr lang="en-US" sz="1600" dirty="0">
                <a:solidFill>
                  <a:schemeClr val="tx1">
                    <a:lumMod val="95000"/>
                    <a:lumOff val="5000"/>
                  </a:schemeClr>
                </a:solidFill>
              </a:rPr>
              <a:t>The DOM has a completely hierarchical structure called the “DOM tree.” In this tree:</a:t>
            </a:r>
          </a:p>
          <a:p>
            <a:pPr marL="285750" indent="-285750">
              <a:lnSpc>
                <a:spcPct val="150000"/>
              </a:lnSpc>
              <a:buFont typeface="Wingdings" panose="05000000000000000000" pitchFamily="2" charset="2"/>
              <a:buChar char="§"/>
            </a:pPr>
            <a:r>
              <a:rPr lang="en-US" sz="1600" dirty="0">
                <a:solidFill>
                  <a:schemeClr val="tx1">
                    <a:lumMod val="95000"/>
                    <a:lumOff val="5000"/>
                  </a:schemeClr>
                </a:solidFill>
              </a:rPr>
              <a:t>Everything you see on the page (tags, text, even comments) is a Node.</a:t>
            </a:r>
          </a:p>
          <a:p>
            <a:pPr marL="285750" indent="-285750">
              <a:lnSpc>
                <a:spcPct val="150000"/>
              </a:lnSpc>
              <a:buFont typeface="Wingdings" panose="05000000000000000000" pitchFamily="2" charset="2"/>
              <a:buChar char="§"/>
            </a:pPr>
            <a:r>
              <a:rPr lang="en-US" sz="1600" dirty="0">
                <a:solidFill>
                  <a:schemeClr val="tx1">
                    <a:lumMod val="95000"/>
                    <a:lumOff val="5000"/>
                  </a:schemeClr>
                </a:solidFill>
              </a:rPr>
              <a:t>The &lt;html&gt; tag is the root of the tree.</a:t>
            </a:r>
          </a:p>
          <a:p>
            <a:pPr marL="285750" indent="-285750">
              <a:lnSpc>
                <a:spcPct val="150000"/>
              </a:lnSpc>
              <a:buFont typeface="Wingdings" panose="05000000000000000000" pitchFamily="2" charset="2"/>
              <a:buChar char="§"/>
            </a:pPr>
            <a:r>
              <a:rPr lang="en-US" sz="1600" dirty="0">
                <a:solidFill>
                  <a:schemeClr val="tx1">
                    <a:lumMod val="95000"/>
                    <a:lumOff val="5000"/>
                  </a:schemeClr>
                </a:solidFill>
              </a:rPr>
              <a:t>The tags inside it are like branches of a tree, with a parent-child relationship.</a:t>
            </a:r>
          </a:p>
          <a:p>
            <a:pPr marL="285750" indent="-285750">
              <a:lnSpc>
                <a:spcPct val="150000"/>
              </a:lnSpc>
              <a:buFont typeface="Wingdings" panose="05000000000000000000" pitchFamily="2" charset="2"/>
              <a:buChar char="§"/>
            </a:pPr>
            <a:endParaRPr lang="fa-IR" sz="1600" dirty="0">
              <a:solidFill>
                <a:schemeClr val="tx1">
                  <a:lumMod val="95000"/>
                  <a:lumOff val="5000"/>
                </a:schemeClr>
              </a:solidFill>
            </a:endParaRPr>
          </a:p>
          <a:p>
            <a:pPr>
              <a:lnSpc>
                <a:spcPct val="150000"/>
              </a:lnSpc>
            </a:pPr>
            <a:br>
              <a:rPr lang="en-US" sz="1600" b="1" dirty="0">
                <a:solidFill>
                  <a:srgbClr val="002060"/>
                </a:solidFill>
              </a:rPr>
            </a:br>
            <a:endParaRPr lang="en-US" sz="1600" b="1" dirty="0">
              <a:solidFill>
                <a:srgbClr val="002060"/>
              </a:solidFill>
            </a:endParaRPr>
          </a:p>
          <a:p>
            <a:pPr>
              <a:lnSpc>
                <a:spcPct val="150000"/>
              </a:lnSpc>
            </a:pPr>
            <a:br>
              <a:rPr lang="fa-IR" sz="1600" dirty="0"/>
            </a:br>
            <a:endParaRPr lang="en-US" sz="1600" dirty="0">
              <a:latin typeface="+mj-lt"/>
            </a:endParaRPr>
          </a:p>
          <a:p>
            <a:pPr>
              <a:lnSpc>
                <a:spcPct val="150000"/>
              </a:lnSpc>
            </a:pPr>
            <a:endParaRPr lang="en-US" sz="1600" b="1" dirty="0">
              <a:solidFill>
                <a:schemeClr val="bg2">
                  <a:lumMod val="10000"/>
                </a:schemeClr>
              </a:solidFill>
              <a:latin typeface="+mj-lt"/>
            </a:endParaRPr>
          </a:p>
        </p:txBody>
      </p:sp>
      <p:pic>
        <p:nvPicPr>
          <p:cNvPr id="7" name="Picture 6">
            <a:extLst>
              <a:ext uri="{FF2B5EF4-FFF2-40B4-BE49-F238E27FC236}">
                <a16:creationId xmlns:a16="http://schemas.microsoft.com/office/drawing/2014/main" id="{1095110C-FC9F-4312-8B47-ACD9F9AA49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9259" y="3055857"/>
            <a:ext cx="2429214" cy="1152686"/>
          </a:xfrm>
          <a:prstGeom prst="rect">
            <a:avLst/>
          </a:prstGeom>
        </p:spPr>
      </p:pic>
      <p:sp>
        <p:nvSpPr>
          <p:cNvPr id="9" name="TextBox 8">
            <a:extLst>
              <a:ext uri="{FF2B5EF4-FFF2-40B4-BE49-F238E27FC236}">
                <a16:creationId xmlns:a16="http://schemas.microsoft.com/office/drawing/2014/main" id="{3E1A4BA2-1BC0-47E9-88A3-0DD1621FF659}"/>
              </a:ext>
            </a:extLst>
          </p:cNvPr>
          <p:cNvSpPr txBox="1"/>
          <p:nvPr/>
        </p:nvSpPr>
        <p:spPr>
          <a:xfrm>
            <a:off x="1964266" y="4578515"/>
            <a:ext cx="7916333" cy="369332"/>
          </a:xfrm>
          <a:prstGeom prst="rect">
            <a:avLst/>
          </a:prstGeom>
          <a:noFill/>
        </p:spPr>
        <p:txBody>
          <a:bodyPr wrap="square">
            <a:spAutoFit/>
          </a:bodyPr>
          <a:lstStyle/>
          <a:p>
            <a:r>
              <a:rPr lang="en-US" b="1" dirty="0">
                <a:solidFill>
                  <a:srgbClr val="7030A0"/>
                </a:solidFill>
              </a:rPr>
              <a:t>Here div is the parent and h1 and p are its children. Also h1 and p are siblings.</a:t>
            </a:r>
          </a:p>
        </p:txBody>
      </p:sp>
    </p:spTree>
    <p:extLst>
      <p:ext uri="{BB962C8B-B14F-4D97-AF65-F5344CB8AC3E}">
        <p14:creationId xmlns:p14="http://schemas.microsoft.com/office/powerpoint/2010/main" val="187814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788462" y="783955"/>
            <a:ext cx="10615076" cy="5594096"/>
          </a:xfrm>
          <a:prstGeom prst="rect">
            <a:avLst/>
          </a:prstGeom>
          <a:noFill/>
        </p:spPr>
        <p:txBody>
          <a:bodyPr wrap="square" rtlCol="0">
            <a:spAutoFit/>
          </a:bodyPr>
          <a:lstStyle/>
          <a:p>
            <a:pPr>
              <a:lnSpc>
                <a:spcPct val="150000"/>
              </a:lnSpc>
            </a:pPr>
            <a:r>
              <a:rPr lang="en-US" sz="1600" b="1" dirty="0">
                <a:solidFill>
                  <a:srgbClr val="00B0F0"/>
                </a:solidFill>
              </a:rPr>
              <a:t>Why is the DOM so important?</a:t>
            </a:r>
          </a:p>
          <a:p>
            <a:pPr>
              <a:lnSpc>
                <a:spcPct val="150000"/>
              </a:lnSpc>
            </a:pPr>
            <a:r>
              <a:rPr lang="en-US" sz="1600" dirty="0">
                <a:solidFill>
                  <a:schemeClr val="tx1">
                    <a:lumMod val="95000"/>
                    <a:lumOff val="5000"/>
                  </a:schemeClr>
                </a:solidFill>
              </a:rPr>
              <a:t>Without the DOM, JavaScript is practically useless! The DOM gives JavaScript the following powers:</a:t>
            </a:r>
          </a:p>
          <a:p>
            <a:pPr marL="285750" indent="-285750">
              <a:lnSpc>
                <a:spcPct val="150000"/>
              </a:lnSpc>
              <a:buFont typeface="Wingdings" panose="05000000000000000000" pitchFamily="2" charset="2"/>
              <a:buChar char="v"/>
            </a:pPr>
            <a:r>
              <a:rPr lang="en-US" sz="1600" dirty="0">
                <a:solidFill>
                  <a:schemeClr val="tx1">
                    <a:lumMod val="95000"/>
                    <a:lumOff val="5000"/>
                  </a:schemeClr>
                </a:solidFill>
              </a:rPr>
              <a:t>Change content: Change the text of a paragraph.</a:t>
            </a:r>
          </a:p>
          <a:p>
            <a:pPr marL="285750" indent="-285750">
              <a:lnSpc>
                <a:spcPct val="150000"/>
              </a:lnSpc>
              <a:buFont typeface="Wingdings" panose="05000000000000000000" pitchFamily="2" charset="2"/>
              <a:buChar char="v"/>
            </a:pPr>
            <a:r>
              <a:rPr lang="en-US" sz="1600" dirty="0">
                <a:solidFill>
                  <a:schemeClr val="tx1">
                    <a:lumMod val="95000"/>
                    <a:lumOff val="5000"/>
                  </a:schemeClr>
                </a:solidFill>
              </a:rPr>
              <a:t>Change appearance: Change the color or size of a font with CSS.</a:t>
            </a:r>
          </a:p>
          <a:p>
            <a:pPr marL="285750" indent="-285750">
              <a:lnSpc>
                <a:spcPct val="150000"/>
              </a:lnSpc>
              <a:buFont typeface="Wingdings" panose="05000000000000000000" pitchFamily="2" charset="2"/>
              <a:buChar char="v"/>
            </a:pPr>
            <a:r>
              <a:rPr lang="en-US" sz="1600" dirty="0">
                <a:solidFill>
                  <a:schemeClr val="tx1">
                    <a:lumMod val="95000"/>
                    <a:lumOff val="5000"/>
                  </a:schemeClr>
                </a:solidFill>
              </a:rPr>
              <a:t>Change structure: Remove an element or add a new button.</a:t>
            </a:r>
          </a:p>
          <a:p>
            <a:pPr marL="285750" indent="-285750">
              <a:lnSpc>
                <a:spcPct val="150000"/>
              </a:lnSpc>
              <a:buFont typeface="Wingdings" panose="05000000000000000000" pitchFamily="2" charset="2"/>
              <a:buChar char="v"/>
            </a:pPr>
            <a:r>
              <a:rPr lang="en-US" sz="1600" dirty="0">
                <a:solidFill>
                  <a:schemeClr val="tx1">
                    <a:lumMod val="95000"/>
                    <a:lumOff val="5000"/>
                  </a:schemeClr>
                </a:solidFill>
              </a:rPr>
              <a:t>Respond to the user: Understand where the user clicked.</a:t>
            </a:r>
          </a:p>
          <a:p>
            <a:pPr>
              <a:lnSpc>
                <a:spcPct val="150000"/>
              </a:lnSpc>
            </a:pPr>
            <a:r>
              <a:rPr lang="en-US" sz="1600" b="1" dirty="0">
                <a:solidFill>
                  <a:srgbClr val="00B0F0"/>
                </a:solidFill>
              </a:rPr>
              <a:t>Important : </a:t>
            </a:r>
          </a:p>
          <a:p>
            <a:pPr>
              <a:lnSpc>
                <a:spcPct val="150000"/>
              </a:lnSpc>
            </a:pPr>
            <a:r>
              <a:rPr lang="en-US" sz="1600" b="1" dirty="0">
                <a:solidFill>
                  <a:schemeClr val="tx1">
                    <a:lumMod val="95000"/>
                    <a:lumOff val="5000"/>
                  </a:schemeClr>
                </a:solidFill>
              </a:rPr>
              <a:t>When you change something with the DOM, your original HTML file on the server doesn't change! You're only changing what the user sees in their browser (the rendered version in RAM). If the user refreshes the page, everything goes back to the way it was.</a:t>
            </a:r>
            <a:endParaRPr lang="fa-IR" sz="1600" b="1" dirty="0">
              <a:solidFill>
                <a:schemeClr val="tx1">
                  <a:lumMod val="95000"/>
                  <a:lumOff val="5000"/>
                </a:schemeClr>
              </a:solidFill>
            </a:endParaRPr>
          </a:p>
          <a:p>
            <a:pPr>
              <a:lnSpc>
                <a:spcPct val="150000"/>
              </a:lnSpc>
            </a:pPr>
            <a:br>
              <a:rPr lang="en-US" sz="1600" b="1" dirty="0">
                <a:solidFill>
                  <a:srgbClr val="002060"/>
                </a:solidFill>
              </a:rPr>
            </a:br>
            <a:endParaRPr lang="en-US" sz="1600" b="1" dirty="0">
              <a:solidFill>
                <a:srgbClr val="002060"/>
              </a:solidFill>
            </a:endParaRPr>
          </a:p>
          <a:p>
            <a:pPr>
              <a:lnSpc>
                <a:spcPct val="150000"/>
              </a:lnSpc>
            </a:pPr>
            <a:br>
              <a:rPr lang="fa-IR" sz="1600" dirty="0"/>
            </a:br>
            <a:endParaRPr lang="en-US" sz="1600" dirty="0">
              <a:latin typeface="+mj-lt"/>
            </a:endParaRPr>
          </a:p>
          <a:p>
            <a:pPr>
              <a:lnSpc>
                <a:spcPct val="150000"/>
              </a:lnSpc>
            </a:pPr>
            <a:endParaRPr lang="en-US" sz="1600" b="1" dirty="0">
              <a:solidFill>
                <a:schemeClr val="bg2">
                  <a:lumMod val="10000"/>
                </a:schemeClr>
              </a:solidFill>
              <a:latin typeface="+mj-lt"/>
            </a:endParaRPr>
          </a:p>
        </p:txBody>
      </p:sp>
    </p:spTree>
    <p:extLst>
      <p:ext uri="{BB962C8B-B14F-4D97-AF65-F5344CB8AC3E}">
        <p14:creationId xmlns:p14="http://schemas.microsoft.com/office/powerpoint/2010/main" val="728768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720729" y="479155"/>
            <a:ext cx="10615076" cy="5224764"/>
          </a:xfrm>
          <a:prstGeom prst="rect">
            <a:avLst/>
          </a:prstGeom>
          <a:noFill/>
        </p:spPr>
        <p:txBody>
          <a:bodyPr wrap="square" rtlCol="0">
            <a:spAutoFit/>
          </a:bodyPr>
          <a:lstStyle/>
          <a:p>
            <a:pPr>
              <a:lnSpc>
                <a:spcPct val="150000"/>
              </a:lnSpc>
            </a:pPr>
            <a:r>
              <a:rPr lang="en-US" sz="1600" b="1" dirty="0">
                <a:solidFill>
                  <a:srgbClr val="6666FF"/>
                </a:solidFill>
              </a:rPr>
              <a:t>Selecting Elements:</a:t>
            </a:r>
            <a:endParaRPr lang="en-US" sz="1600" dirty="0"/>
          </a:p>
          <a:p>
            <a:pPr>
              <a:lnSpc>
                <a:spcPct val="150000"/>
              </a:lnSpc>
            </a:pPr>
            <a:r>
              <a:rPr lang="en-US" sz="1600" dirty="0"/>
              <a:t>Before you do anything, you need to tell JavaScript which element you are working with.</a:t>
            </a:r>
            <a:br>
              <a:rPr lang="fa-IR" sz="1600" dirty="0"/>
            </a:br>
            <a:r>
              <a:rPr lang="en-US" sz="1600" b="1" dirty="0">
                <a:solidFill>
                  <a:srgbClr val="6666FF"/>
                </a:solidFill>
              </a:rPr>
              <a:t>1. Select by ID - </a:t>
            </a:r>
            <a:r>
              <a:rPr lang="en-US" sz="1600" b="1" dirty="0" err="1">
                <a:solidFill>
                  <a:srgbClr val="6666FF"/>
                </a:solidFill>
              </a:rPr>
              <a:t>getElementById</a:t>
            </a:r>
            <a:endParaRPr lang="en-US" sz="1600" b="1" dirty="0">
              <a:solidFill>
                <a:srgbClr val="6666FF"/>
              </a:solidFill>
            </a:endParaRPr>
          </a:p>
          <a:p>
            <a:pPr>
              <a:lnSpc>
                <a:spcPct val="150000"/>
              </a:lnSpc>
            </a:pPr>
            <a:r>
              <a:rPr lang="en-US" sz="1600" dirty="0"/>
              <a:t>This is the fastest and most direct way. Since in HTML each id must be unique, this method always returns only one element.</a:t>
            </a:r>
          </a:p>
          <a:p>
            <a:pPr>
              <a:lnSpc>
                <a:spcPct val="150000"/>
              </a:lnSpc>
            </a:pPr>
            <a:r>
              <a:rPr lang="en-US" sz="1600" dirty="0"/>
              <a:t>Output: A single Element Object.</a:t>
            </a:r>
          </a:p>
          <a:p>
            <a:pPr>
              <a:lnSpc>
                <a:spcPct val="150000"/>
              </a:lnSpc>
            </a:pPr>
            <a:r>
              <a:rPr lang="en-US" sz="1600" dirty="0"/>
              <a:t>If not found: Returns null.</a:t>
            </a:r>
          </a:p>
          <a:p>
            <a:pPr>
              <a:lnSpc>
                <a:spcPct val="150000"/>
              </a:lnSpc>
            </a:pPr>
            <a:endParaRPr lang="en-US" sz="1600" dirty="0">
              <a:latin typeface="+mj-lt"/>
            </a:endParaRPr>
          </a:p>
          <a:p>
            <a:pPr>
              <a:lnSpc>
                <a:spcPct val="150000"/>
              </a:lnSpc>
            </a:pPr>
            <a:endParaRPr lang="en-US" sz="1600" dirty="0">
              <a:latin typeface="+mj-lt"/>
            </a:endParaRPr>
          </a:p>
          <a:p>
            <a:pPr>
              <a:lnSpc>
                <a:spcPct val="150000"/>
              </a:lnSpc>
            </a:pPr>
            <a:endParaRPr lang="en-US" sz="1600" dirty="0">
              <a:latin typeface="+mj-lt"/>
            </a:endParaRPr>
          </a:p>
          <a:p>
            <a:pPr>
              <a:lnSpc>
                <a:spcPct val="150000"/>
              </a:lnSpc>
            </a:pPr>
            <a:r>
              <a:rPr lang="en-US" sz="1600" b="1" dirty="0">
                <a:solidFill>
                  <a:srgbClr val="6666FF"/>
                </a:solidFill>
              </a:rPr>
              <a:t>2.Select by class name - </a:t>
            </a:r>
            <a:r>
              <a:rPr lang="en-US" sz="1600" b="1" dirty="0" err="1">
                <a:solidFill>
                  <a:srgbClr val="6666FF"/>
                </a:solidFill>
              </a:rPr>
              <a:t>getElementsByClassName</a:t>
            </a:r>
            <a:endParaRPr lang="en-US" sz="1600" b="1" dirty="0">
              <a:solidFill>
                <a:srgbClr val="6666FF"/>
              </a:solidFill>
            </a:endParaRPr>
          </a:p>
          <a:p>
            <a:pPr>
              <a:lnSpc>
                <a:spcPct val="150000"/>
              </a:lnSpc>
            </a:pPr>
            <a:r>
              <a:rPr lang="en-US" sz="1600" dirty="0"/>
              <a:t>This method finds all elements that have the specified class.</a:t>
            </a:r>
          </a:p>
          <a:p>
            <a:pPr>
              <a:lnSpc>
                <a:spcPct val="150000"/>
              </a:lnSpc>
            </a:pPr>
            <a:r>
              <a:rPr lang="en-US" sz="1600" dirty="0"/>
              <a:t>Output: An </a:t>
            </a:r>
            <a:r>
              <a:rPr lang="en-US" sz="1600" dirty="0" err="1"/>
              <a:t>HTMLCollection</a:t>
            </a:r>
            <a:r>
              <a:rPr lang="en-US" sz="1600" dirty="0"/>
              <a:t> (similar to an array but does not have all the array methods like map).</a:t>
            </a:r>
          </a:p>
          <a:p>
            <a:pPr>
              <a:lnSpc>
                <a:spcPct val="150000"/>
              </a:lnSpc>
            </a:pPr>
            <a:r>
              <a:rPr lang="en-US" sz="1600" dirty="0"/>
              <a:t>Note: Even if only one element with that class is found, it is still returned as a list.</a:t>
            </a:r>
          </a:p>
          <a:p>
            <a:pPr>
              <a:lnSpc>
                <a:spcPct val="150000"/>
              </a:lnSpc>
            </a:pPr>
            <a:endParaRPr lang="en-US" sz="1600" b="1" dirty="0">
              <a:solidFill>
                <a:schemeClr val="bg2">
                  <a:lumMod val="10000"/>
                </a:schemeClr>
              </a:solidFill>
              <a:latin typeface="+mj-lt"/>
            </a:endParaRPr>
          </a:p>
        </p:txBody>
      </p:sp>
      <p:pic>
        <p:nvPicPr>
          <p:cNvPr id="3" name="Picture 2">
            <a:extLst>
              <a:ext uri="{FF2B5EF4-FFF2-40B4-BE49-F238E27FC236}">
                <a16:creationId xmlns:a16="http://schemas.microsoft.com/office/drawing/2014/main" id="{B31BB125-4433-4BDA-A6FC-A77456829C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2241" y="2879299"/>
            <a:ext cx="6458851" cy="800212"/>
          </a:xfrm>
          <a:prstGeom prst="rect">
            <a:avLst/>
          </a:prstGeom>
        </p:spPr>
      </p:pic>
      <p:pic>
        <p:nvPicPr>
          <p:cNvPr id="6" name="Picture 5">
            <a:extLst>
              <a:ext uri="{FF2B5EF4-FFF2-40B4-BE49-F238E27FC236}">
                <a16:creationId xmlns:a16="http://schemas.microsoft.com/office/drawing/2014/main" id="{D59DB793-CED2-4B22-90FF-B293321D11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2241" y="5359528"/>
            <a:ext cx="6773220" cy="1019317"/>
          </a:xfrm>
          <a:prstGeom prst="rect">
            <a:avLst/>
          </a:prstGeom>
        </p:spPr>
      </p:pic>
    </p:spTree>
    <p:extLst>
      <p:ext uri="{BB962C8B-B14F-4D97-AF65-F5344CB8AC3E}">
        <p14:creationId xmlns:p14="http://schemas.microsoft.com/office/powerpoint/2010/main" val="3717521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720729" y="479155"/>
            <a:ext cx="10615076" cy="4855432"/>
          </a:xfrm>
          <a:prstGeom prst="rect">
            <a:avLst/>
          </a:prstGeom>
          <a:noFill/>
        </p:spPr>
        <p:txBody>
          <a:bodyPr wrap="square" rtlCol="0">
            <a:spAutoFit/>
          </a:bodyPr>
          <a:lstStyle/>
          <a:p>
            <a:pPr>
              <a:lnSpc>
                <a:spcPct val="150000"/>
              </a:lnSpc>
            </a:pPr>
            <a:r>
              <a:rPr lang="en-US" sz="1600" b="1" dirty="0">
                <a:solidFill>
                  <a:srgbClr val="6666FF"/>
                </a:solidFill>
              </a:rPr>
              <a:t>Selecting Elements:</a:t>
            </a:r>
            <a:endParaRPr lang="en-US" sz="1600" dirty="0"/>
          </a:p>
          <a:p>
            <a:pPr>
              <a:lnSpc>
                <a:spcPct val="150000"/>
              </a:lnSpc>
            </a:pPr>
            <a:br>
              <a:rPr lang="fa-IR" sz="1600" dirty="0"/>
            </a:br>
            <a:r>
              <a:rPr lang="en-US" sz="1600" b="1" dirty="0">
                <a:solidFill>
                  <a:srgbClr val="6666FF"/>
                </a:solidFill>
              </a:rPr>
              <a:t>.3 Select by tag name - </a:t>
            </a:r>
            <a:r>
              <a:rPr lang="en-US" sz="1600" b="1" dirty="0" err="1">
                <a:solidFill>
                  <a:srgbClr val="6666FF"/>
                </a:solidFill>
              </a:rPr>
              <a:t>getElementsByTagName</a:t>
            </a:r>
            <a:endParaRPr lang="en-US" sz="1600" b="1" dirty="0">
              <a:solidFill>
                <a:srgbClr val="6666FF"/>
              </a:solidFill>
            </a:endParaRPr>
          </a:p>
          <a:p>
            <a:pPr>
              <a:lnSpc>
                <a:spcPct val="150000"/>
              </a:lnSpc>
            </a:pPr>
            <a:r>
              <a:rPr lang="en-US" sz="1600" dirty="0">
                <a:solidFill>
                  <a:schemeClr val="bg2">
                    <a:lumMod val="10000"/>
                  </a:schemeClr>
                </a:solidFill>
              </a:rPr>
              <a:t>Selects all elements that are of a specific tag type (such as all p's or all </a:t>
            </a:r>
            <a:r>
              <a:rPr lang="en-US" sz="1600" dirty="0" err="1">
                <a:solidFill>
                  <a:schemeClr val="bg2">
                    <a:lumMod val="10000"/>
                  </a:schemeClr>
                </a:solidFill>
              </a:rPr>
              <a:t>div's</a:t>
            </a:r>
            <a:r>
              <a:rPr lang="en-US" sz="1600" dirty="0">
                <a:solidFill>
                  <a:schemeClr val="bg2">
                    <a:lumMod val="10000"/>
                  </a:schemeClr>
                </a:solidFill>
              </a:rPr>
              <a:t>).</a:t>
            </a:r>
          </a:p>
          <a:p>
            <a:pPr>
              <a:lnSpc>
                <a:spcPct val="150000"/>
              </a:lnSpc>
            </a:pPr>
            <a:r>
              <a:rPr lang="en-US" sz="1600" dirty="0">
                <a:solidFill>
                  <a:schemeClr val="bg2">
                    <a:lumMod val="10000"/>
                  </a:schemeClr>
                </a:solidFill>
              </a:rPr>
              <a:t>Output: An </a:t>
            </a:r>
            <a:r>
              <a:rPr lang="en-US" sz="1600" dirty="0" err="1">
                <a:solidFill>
                  <a:schemeClr val="bg2">
                    <a:lumMod val="10000"/>
                  </a:schemeClr>
                </a:solidFill>
              </a:rPr>
              <a:t>HTMLCollection</a:t>
            </a:r>
            <a:r>
              <a:rPr lang="en-US" sz="1600" dirty="0">
                <a:solidFill>
                  <a:schemeClr val="bg2">
                    <a:lumMod val="10000"/>
                  </a:schemeClr>
                </a:solidFill>
              </a:rPr>
              <a:t>.</a:t>
            </a:r>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r>
              <a:rPr lang="en-US" sz="1600" b="1" dirty="0">
                <a:solidFill>
                  <a:srgbClr val="6666FF"/>
                </a:solidFill>
              </a:rPr>
              <a:t>4. Modern Query Selectors - The method you should use more</a:t>
            </a:r>
          </a:p>
          <a:p>
            <a:pPr>
              <a:lnSpc>
                <a:spcPct val="150000"/>
              </a:lnSpc>
            </a:pPr>
            <a:r>
              <a:rPr lang="en-US" sz="1600" dirty="0">
                <a:solidFill>
                  <a:schemeClr val="bg2">
                    <a:lumMod val="10000"/>
                  </a:schemeClr>
                </a:solidFill>
              </a:rPr>
              <a:t>These methods use the CSS Selectors syntax. This means that whatever way you would select an element in CSS (with a dot for class, a hash for ID, etc.) you do the same here.</a:t>
            </a:r>
          </a:p>
          <a:p>
            <a:pPr>
              <a:lnSpc>
                <a:spcPct val="150000"/>
              </a:lnSpc>
            </a:pPr>
            <a:r>
              <a:rPr lang="en-US" sz="1600" b="1" dirty="0">
                <a:solidFill>
                  <a:schemeClr val="bg2">
                    <a:lumMod val="10000"/>
                  </a:schemeClr>
                </a:solidFill>
              </a:rPr>
              <a:t>A. </a:t>
            </a:r>
            <a:r>
              <a:rPr lang="en-US" sz="1600" b="1" dirty="0" err="1">
                <a:solidFill>
                  <a:schemeClr val="bg2">
                    <a:lumMod val="10000"/>
                  </a:schemeClr>
                </a:solidFill>
              </a:rPr>
              <a:t>querySelector</a:t>
            </a:r>
            <a:endParaRPr lang="en-US" sz="1600" b="1" dirty="0">
              <a:solidFill>
                <a:schemeClr val="bg2">
                  <a:lumMod val="10000"/>
                </a:schemeClr>
              </a:solidFill>
            </a:endParaRPr>
          </a:p>
          <a:p>
            <a:pPr>
              <a:lnSpc>
                <a:spcPct val="150000"/>
              </a:lnSpc>
            </a:pPr>
            <a:r>
              <a:rPr lang="en-US" sz="1600" dirty="0">
                <a:solidFill>
                  <a:schemeClr val="bg2">
                    <a:lumMod val="10000"/>
                  </a:schemeClr>
                </a:solidFill>
              </a:rPr>
              <a:t>Finds only the first item that matches the condition.</a:t>
            </a:r>
          </a:p>
        </p:txBody>
      </p:sp>
      <p:pic>
        <p:nvPicPr>
          <p:cNvPr id="7" name="Picture 6">
            <a:extLst>
              <a:ext uri="{FF2B5EF4-FFF2-40B4-BE49-F238E27FC236}">
                <a16:creationId xmlns:a16="http://schemas.microsoft.com/office/drawing/2014/main" id="{C0B0D78D-C6B5-44F1-A29A-01474237B5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9963" y="2485978"/>
            <a:ext cx="6973273" cy="666843"/>
          </a:xfrm>
          <a:prstGeom prst="rect">
            <a:avLst/>
          </a:prstGeom>
        </p:spPr>
      </p:pic>
      <p:pic>
        <p:nvPicPr>
          <p:cNvPr id="9" name="Picture 8">
            <a:extLst>
              <a:ext uri="{FF2B5EF4-FFF2-40B4-BE49-F238E27FC236}">
                <a16:creationId xmlns:a16="http://schemas.microsoft.com/office/drawing/2014/main" id="{1FF5CC21-1F57-4E49-873C-676D7107B1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3763" y="5511960"/>
            <a:ext cx="6849431" cy="790685"/>
          </a:xfrm>
          <a:prstGeom prst="rect">
            <a:avLst/>
          </a:prstGeom>
        </p:spPr>
      </p:pic>
    </p:spTree>
    <p:extLst>
      <p:ext uri="{BB962C8B-B14F-4D97-AF65-F5344CB8AC3E}">
        <p14:creationId xmlns:p14="http://schemas.microsoft.com/office/powerpoint/2010/main" val="4223548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720729" y="479155"/>
            <a:ext cx="10615076" cy="1900777"/>
          </a:xfrm>
          <a:prstGeom prst="rect">
            <a:avLst/>
          </a:prstGeom>
          <a:noFill/>
        </p:spPr>
        <p:txBody>
          <a:bodyPr wrap="square" rtlCol="0">
            <a:spAutoFit/>
          </a:bodyPr>
          <a:lstStyle/>
          <a:p>
            <a:pPr>
              <a:lnSpc>
                <a:spcPct val="150000"/>
              </a:lnSpc>
            </a:pPr>
            <a:r>
              <a:rPr lang="en-US" sz="1600" b="1" dirty="0">
                <a:solidFill>
                  <a:srgbClr val="6666FF"/>
                </a:solidFill>
              </a:rPr>
              <a:t>Selecting Elements:</a:t>
            </a:r>
            <a:endParaRPr lang="en-US" sz="1600" dirty="0"/>
          </a:p>
          <a:p>
            <a:pPr>
              <a:lnSpc>
                <a:spcPct val="150000"/>
              </a:lnSpc>
            </a:pPr>
            <a:r>
              <a:rPr lang="en-US" sz="1600" b="1" dirty="0">
                <a:solidFill>
                  <a:schemeClr val="bg2">
                    <a:lumMod val="10000"/>
                  </a:schemeClr>
                </a:solidFill>
              </a:rPr>
              <a:t>B. </a:t>
            </a:r>
            <a:r>
              <a:rPr lang="en-US" sz="1600" b="1" dirty="0" err="1">
                <a:solidFill>
                  <a:schemeClr val="bg2">
                    <a:lumMod val="10000"/>
                  </a:schemeClr>
                </a:solidFill>
              </a:rPr>
              <a:t>querySelectorAll</a:t>
            </a:r>
            <a:endParaRPr lang="en-US" sz="1600" b="1" dirty="0">
              <a:solidFill>
                <a:schemeClr val="bg2">
                  <a:lumMod val="10000"/>
                </a:schemeClr>
              </a:solidFill>
            </a:endParaRPr>
          </a:p>
          <a:p>
            <a:pPr>
              <a:lnSpc>
                <a:spcPct val="150000"/>
              </a:lnSpc>
            </a:pPr>
            <a:r>
              <a:rPr lang="en-US" sz="1600" dirty="0">
                <a:solidFill>
                  <a:schemeClr val="bg2">
                    <a:lumMod val="10000"/>
                  </a:schemeClr>
                </a:solidFill>
              </a:rPr>
              <a:t>Finds all elements that match the condition.</a:t>
            </a:r>
          </a:p>
          <a:p>
            <a:pPr>
              <a:lnSpc>
                <a:spcPct val="150000"/>
              </a:lnSpc>
            </a:pPr>
            <a:r>
              <a:rPr lang="en-US" sz="1600" dirty="0">
                <a:solidFill>
                  <a:schemeClr val="bg2">
                    <a:lumMod val="10000"/>
                  </a:schemeClr>
                </a:solidFill>
              </a:rPr>
              <a:t>Output: a </a:t>
            </a:r>
            <a:r>
              <a:rPr lang="en-US" sz="1600" dirty="0" err="1">
                <a:solidFill>
                  <a:schemeClr val="bg2">
                    <a:lumMod val="10000"/>
                  </a:schemeClr>
                </a:solidFill>
              </a:rPr>
              <a:t>NodeList</a:t>
            </a:r>
            <a:r>
              <a:rPr lang="en-US" sz="1600" dirty="0">
                <a:solidFill>
                  <a:schemeClr val="bg2">
                    <a:lumMod val="10000"/>
                  </a:schemeClr>
                </a:solidFill>
              </a:rPr>
              <a:t>.</a:t>
            </a:r>
          </a:p>
          <a:p>
            <a:pPr>
              <a:lnSpc>
                <a:spcPct val="150000"/>
              </a:lnSpc>
            </a:pPr>
            <a:r>
              <a:rPr lang="en-US" sz="1600" dirty="0">
                <a:solidFill>
                  <a:schemeClr val="bg2">
                    <a:lumMod val="10000"/>
                  </a:schemeClr>
                </a:solidFill>
              </a:rPr>
              <a:t>Big advantage: Unlike </a:t>
            </a:r>
            <a:r>
              <a:rPr lang="en-US" sz="1600" dirty="0" err="1">
                <a:solidFill>
                  <a:schemeClr val="bg2">
                    <a:lumMod val="10000"/>
                  </a:schemeClr>
                </a:solidFill>
              </a:rPr>
              <a:t>HTMLCollection</a:t>
            </a:r>
            <a:r>
              <a:rPr lang="en-US" sz="1600" dirty="0">
                <a:solidFill>
                  <a:schemeClr val="bg2">
                    <a:lumMod val="10000"/>
                  </a:schemeClr>
                </a:solidFill>
              </a:rPr>
              <a:t>, it is possible to use the </a:t>
            </a:r>
            <a:r>
              <a:rPr lang="en-US" sz="1600" dirty="0" err="1">
                <a:solidFill>
                  <a:schemeClr val="bg2">
                    <a:lumMod val="10000"/>
                  </a:schemeClr>
                </a:solidFill>
              </a:rPr>
              <a:t>forEach</a:t>
            </a:r>
            <a:r>
              <a:rPr lang="en-US" sz="1600" dirty="0">
                <a:solidFill>
                  <a:schemeClr val="bg2">
                    <a:lumMod val="10000"/>
                  </a:schemeClr>
                </a:solidFill>
              </a:rPr>
              <a:t> method directly on this list</a:t>
            </a:r>
            <a:r>
              <a:rPr lang="en-US" sz="1600" b="1" dirty="0">
                <a:solidFill>
                  <a:schemeClr val="bg2">
                    <a:lumMod val="10000"/>
                  </a:schemeClr>
                </a:solidFill>
              </a:rPr>
              <a:t>.</a:t>
            </a:r>
            <a:endParaRPr lang="en-US" sz="1600" dirty="0">
              <a:solidFill>
                <a:schemeClr val="bg2">
                  <a:lumMod val="10000"/>
                </a:schemeClr>
              </a:solidFill>
            </a:endParaRPr>
          </a:p>
        </p:txBody>
      </p:sp>
      <p:pic>
        <p:nvPicPr>
          <p:cNvPr id="3" name="Picture 2">
            <a:extLst>
              <a:ext uri="{FF2B5EF4-FFF2-40B4-BE49-F238E27FC236}">
                <a16:creationId xmlns:a16="http://schemas.microsoft.com/office/drawing/2014/main" id="{76D185FE-ABD6-4776-B008-C955A66AD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2600" y="2821948"/>
            <a:ext cx="6982799" cy="1400370"/>
          </a:xfrm>
          <a:prstGeom prst="rect">
            <a:avLst/>
          </a:prstGeom>
        </p:spPr>
      </p:pic>
    </p:spTree>
    <p:extLst>
      <p:ext uri="{BB962C8B-B14F-4D97-AF65-F5344CB8AC3E}">
        <p14:creationId xmlns:p14="http://schemas.microsoft.com/office/powerpoint/2010/main" val="1071172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720729" y="479155"/>
            <a:ext cx="10615076" cy="792781"/>
          </a:xfrm>
          <a:prstGeom prst="rect">
            <a:avLst/>
          </a:prstGeom>
          <a:noFill/>
        </p:spPr>
        <p:txBody>
          <a:bodyPr wrap="square" rtlCol="0">
            <a:spAutoFit/>
          </a:bodyPr>
          <a:lstStyle/>
          <a:p>
            <a:pPr>
              <a:lnSpc>
                <a:spcPct val="150000"/>
              </a:lnSpc>
            </a:pPr>
            <a:r>
              <a:rPr lang="en-US" sz="1600" b="1" dirty="0">
                <a:solidFill>
                  <a:srgbClr val="6666FF"/>
                </a:solidFill>
              </a:rPr>
              <a:t>Selecting Elements:</a:t>
            </a:r>
          </a:p>
          <a:p>
            <a:pPr>
              <a:lnSpc>
                <a:spcPct val="150000"/>
              </a:lnSpc>
            </a:pPr>
            <a:r>
              <a:rPr lang="en-US" sz="1600" dirty="0"/>
              <a:t>Difference between </a:t>
            </a:r>
            <a:r>
              <a:rPr lang="en-US" sz="1600" dirty="0" err="1"/>
              <a:t>NodeList</a:t>
            </a:r>
            <a:r>
              <a:rPr lang="en-US" sz="1600" dirty="0"/>
              <a:t> and </a:t>
            </a:r>
            <a:r>
              <a:rPr lang="en-US" sz="1600" dirty="0" err="1"/>
              <a:t>HTMLCollection</a:t>
            </a:r>
            <a:r>
              <a:rPr lang="en-US" sz="1600" dirty="0"/>
              <a:t>:</a:t>
            </a:r>
          </a:p>
        </p:txBody>
      </p:sp>
      <p:graphicFrame>
        <p:nvGraphicFramePr>
          <p:cNvPr id="2" name="Table 1">
            <a:extLst>
              <a:ext uri="{FF2B5EF4-FFF2-40B4-BE49-F238E27FC236}">
                <a16:creationId xmlns:a16="http://schemas.microsoft.com/office/drawing/2014/main" id="{BB880D60-0ABC-411B-A026-637394C790E2}"/>
              </a:ext>
            </a:extLst>
          </p:cNvPr>
          <p:cNvGraphicFramePr>
            <a:graphicFrameLocks noGrp="1"/>
          </p:cNvGraphicFramePr>
          <p:nvPr>
            <p:extLst>
              <p:ext uri="{D42A27DB-BD31-4B8C-83A1-F6EECF244321}">
                <p14:modId xmlns:p14="http://schemas.microsoft.com/office/powerpoint/2010/main" val="1118120240"/>
              </p:ext>
            </p:extLst>
          </p:nvPr>
        </p:nvGraphicFramePr>
        <p:xfrm>
          <a:off x="1964267" y="1923626"/>
          <a:ext cx="7603066" cy="3410373"/>
        </p:xfrm>
        <a:graphic>
          <a:graphicData uri="http://schemas.openxmlformats.org/drawingml/2006/table">
            <a:tbl>
              <a:tblPr rtl="1">
                <a:tableStyleId>{69CF1AB2-1976-4502-BF36-3FF5EA218861}</a:tableStyleId>
              </a:tblPr>
              <a:tblGrid>
                <a:gridCol w="3801534">
                  <a:extLst>
                    <a:ext uri="{9D8B030D-6E8A-4147-A177-3AD203B41FA5}">
                      <a16:colId xmlns:a16="http://schemas.microsoft.com/office/drawing/2014/main" val="711989698"/>
                    </a:ext>
                  </a:extLst>
                </a:gridCol>
                <a:gridCol w="3801532">
                  <a:extLst>
                    <a:ext uri="{9D8B030D-6E8A-4147-A177-3AD203B41FA5}">
                      <a16:colId xmlns:a16="http://schemas.microsoft.com/office/drawing/2014/main" val="3762888957"/>
                    </a:ext>
                  </a:extLst>
                </a:gridCol>
              </a:tblGrid>
              <a:tr h="518970">
                <a:tc>
                  <a:txBody>
                    <a:bodyPr/>
                    <a:lstStyle/>
                    <a:p>
                      <a:pPr rtl="1"/>
                      <a:r>
                        <a:rPr lang="en-US" b="1">
                          <a:solidFill>
                            <a:srgbClr val="1F1F1F"/>
                          </a:solidFill>
                          <a:effectLst/>
                        </a:rPr>
                        <a:t>HTMLCollection</a:t>
                      </a:r>
                      <a:endParaRPr lang="en-US">
                        <a:solidFill>
                          <a:srgbClr val="1F1F1F"/>
                        </a:solidFill>
                        <a:effectLst/>
                        <a:latin typeface="Google Sans Text"/>
                      </a:endParaRPr>
                    </a:p>
                  </a:txBody>
                  <a:tcPr marL="114300" marR="114300" marT="76200" marB="76200" anchor="ctr"/>
                </a:tc>
                <a:tc>
                  <a:txBody>
                    <a:bodyPr/>
                    <a:lstStyle/>
                    <a:p>
                      <a:pPr rtl="1"/>
                      <a:r>
                        <a:rPr lang="en-US" b="1">
                          <a:solidFill>
                            <a:srgbClr val="1F1F1F"/>
                          </a:solidFill>
                          <a:effectLst/>
                        </a:rPr>
                        <a:t>NodeList</a:t>
                      </a:r>
                      <a:endParaRPr lang="en-US">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740277592"/>
                  </a:ext>
                </a:extLst>
              </a:tr>
              <a:tr h="852593">
                <a:tc>
                  <a:txBody>
                    <a:bodyPr/>
                    <a:lstStyle/>
                    <a:p>
                      <a:pPr rtl="1"/>
                      <a:r>
                        <a:rPr lang="en-US" sz="1600" dirty="0">
                          <a:solidFill>
                            <a:srgbClr val="1F1F1F"/>
                          </a:solidFill>
                          <a:effectLst/>
                        </a:rPr>
                        <a:t>With </a:t>
                      </a:r>
                      <a:r>
                        <a:rPr lang="en-US" sz="1600" dirty="0" err="1">
                          <a:solidFill>
                            <a:srgbClr val="1F1F1F"/>
                          </a:solidFill>
                          <a:effectLst/>
                        </a:rPr>
                        <a:t>getElementsByClassName</a:t>
                      </a:r>
                      <a:r>
                        <a:rPr lang="en-US" sz="1600" dirty="0">
                          <a:solidFill>
                            <a:srgbClr val="1F1F1F"/>
                          </a:solidFill>
                          <a:effectLst/>
                        </a:rPr>
                        <a:t> or </a:t>
                      </a:r>
                      <a:r>
                        <a:rPr lang="en-US" sz="1600" dirty="0" err="1">
                          <a:solidFill>
                            <a:srgbClr val="1F1F1F"/>
                          </a:solidFill>
                          <a:effectLst/>
                        </a:rPr>
                        <a:t>getElementsByTagName</a:t>
                      </a:r>
                      <a:endParaRPr lang="en-US" sz="1600" dirty="0">
                        <a:solidFill>
                          <a:srgbClr val="1F1F1F"/>
                        </a:solidFill>
                        <a:effectLst/>
                        <a:latin typeface="Google Sans Text"/>
                      </a:endParaRPr>
                    </a:p>
                  </a:txBody>
                  <a:tcPr marL="114300" marR="114300" marT="76200" marB="76200" anchor="ctr"/>
                </a:tc>
                <a:tc>
                  <a:txBody>
                    <a:bodyPr/>
                    <a:lstStyle/>
                    <a:p>
                      <a:pPr rtl="1"/>
                      <a:r>
                        <a:rPr lang="en-US" sz="1600" dirty="0">
                          <a:solidFill>
                            <a:srgbClr val="1F1F1F"/>
                          </a:solidFill>
                          <a:effectLst/>
                        </a:rPr>
                        <a:t>With </a:t>
                      </a:r>
                      <a:r>
                        <a:rPr lang="en-US" sz="1600" dirty="0" err="1">
                          <a:solidFill>
                            <a:srgbClr val="1F1F1F"/>
                          </a:solidFill>
                          <a:effectLst/>
                        </a:rPr>
                        <a:t>querySelectorAll</a:t>
                      </a:r>
                      <a:r>
                        <a:rPr lang="en-US" sz="1600" dirty="0">
                          <a:solidFill>
                            <a:srgbClr val="1F1F1F"/>
                          </a:solidFill>
                          <a:effectLst/>
                        </a:rPr>
                        <a:t> or </a:t>
                      </a:r>
                      <a:r>
                        <a:rPr lang="en-US" sz="1600" dirty="0" err="1">
                          <a:solidFill>
                            <a:srgbClr val="1F1F1F"/>
                          </a:solidFill>
                          <a:effectLst/>
                        </a:rPr>
                        <a:t>childNodes</a:t>
                      </a:r>
                      <a:r>
                        <a:rPr lang="en-US" sz="1600" dirty="0">
                          <a:solidFill>
                            <a:srgbClr val="1F1F1F"/>
                          </a:solidFill>
                          <a:effectLst/>
                        </a:rPr>
                        <a:t> property</a:t>
                      </a:r>
                      <a:endParaRPr lang="en-US" sz="16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586226222"/>
                  </a:ext>
                </a:extLst>
              </a:tr>
              <a:tr h="852593">
                <a:tc>
                  <a:txBody>
                    <a:bodyPr/>
                    <a:lstStyle/>
                    <a:p>
                      <a:pPr rtl="1"/>
                      <a:r>
                        <a:rPr lang="en-US" sz="1600" dirty="0">
                          <a:solidFill>
                            <a:srgbClr val="1F1F1F"/>
                          </a:solidFill>
                          <a:effectLst/>
                        </a:rPr>
                        <a:t>It only contains HTML tags (Elements).</a:t>
                      </a:r>
                      <a:endParaRPr lang="fa-IR" sz="1600" dirty="0">
                        <a:solidFill>
                          <a:srgbClr val="1F1F1F"/>
                        </a:solidFill>
                        <a:effectLst/>
                        <a:latin typeface="Google Sans Text"/>
                      </a:endParaRPr>
                    </a:p>
                  </a:txBody>
                  <a:tcPr marL="114300" marR="114300" marT="76200" marB="76200" anchor="ctr"/>
                </a:tc>
                <a:tc>
                  <a:txBody>
                    <a:bodyPr/>
                    <a:lstStyle/>
                    <a:p>
                      <a:pPr rtl="1"/>
                      <a:r>
                        <a:rPr lang="en-US" sz="1600" dirty="0">
                          <a:solidFill>
                            <a:srgbClr val="1F1F1F"/>
                          </a:solidFill>
                          <a:effectLst/>
                        </a:rPr>
                        <a:t>It can include tags, texts, and even comments.</a:t>
                      </a:r>
                      <a:endParaRPr lang="fa-IR" sz="16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217069544"/>
                  </a:ext>
                </a:extLst>
              </a:tr>
              <a:tr h="1186217">
                <a:tc>
                  <a:txBody>
                    <a:bodyPr/>
                    <a:lstStyle/>
                    <a:p>
                      <a:pPr rtl="1"/>
                      <a:r>
                        <a:rPr lang="en-US" sz="1600" dirty="0">
                          <a:solidFill>
                            <a:srgbClr val="1F1F1F"/>
                          </a:solidFill>
                          <a:effectLst/>
                        </a:rPr>
                        <a:t>The </a:t>
                      </a:r>
                      <a:r>
                        <a:rPr lang="en-US" sz="1600" dirty="0" err="1">
                          <a:solidFill>
                            <a:srgbClr val="1F1F1F"/>
                          </a:solidFill>
                          <a:effectLst/>
                        </a:rPr>
                        <a:t>forEach</a:t>
                      </a:r>
                      <a:r>
                        <a:rPr lang="en-US" sz="1600" dirty="0">
                          <a:solidFill>
                            <a:srgbClr val="1F1F1F"/>
                          </a:solidFill>
                          <a:effectLst/>
                        </a:rPr>
                        <a:t> method doesn't have it directly (it must be converted to an array first).</a:t>
                      </a:r>
                      <a:endParaRPr lang="fa-IR" sz="1600" dirty="0">
                        <a:solidFill>
                          <a:srgbClr val="1F1F1F"/>
                        </a:solidFill>
                        <a:effectLst/>
                        <a:latin typeface="Google Sans Text"/>
                      </a:endParaRPr>
                    </a:p>
                  </a:txBody>
                  <a:tcPr marL="114300" marR="114300" marT="76200" marB="76200" anchor="ctr"/>
                </a:tc>
                <a:tc>
                  <a:txBody>
                    <a:bodyPr/>
                    <a:lstStyle/>
                    <a:p>
                      <a:pPr rtl="1"/>
                      <a:r>
                        <a:rPr lang="en-US" sz="1600" b="0" dirty="0">
                          <a:solidFill>
                            <a:srgbClr val="1F1F1F"/>
                          </a:solidFill>
                          <a:effectLst/>
                        </a:rPr>
                        <a:t>It has a </a:t>
                      </a:r>
                      <a:r>
                        <a:rPr lang="en-US" sz="1600" b="0" dirty="0" err="1">
                          <a:solidFill>
                            <a:srgbClr val="1F1F1F"/>
                          </a:solidFill>
                          <a:effectLst/>
                        </a:rPr>
                        <a:t>forEach</a:t>
                      </a:r>
                      <a:r>
                        <a:rPr lang="en-US" sz="1600" b="0" dirty="0">
                          <a:solidFill>
                            <a:srgbClr val="1F1F1F"/>
                          </a:solidFill>
                          <a:effectLst/>
                        </a:rPr>
                        <a:t> method! You can loop directly through it.</a:t>
                      </a:r>
                      <a:endParaRPr lang="fa-IR" sz="1600" b="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564024680"/>
                  </a:ext>
                </a:extLst>
              </a:tr>
            </a:tbl>
          </a:graphicData>
        </a:graphic>
      </p:graphicFrame>
    </p:spTree>
    <p:extLst>
      <p:ext uri="{BB962C8B-B14F-4D97-AF65-F5344CB8AC3E}">
        <p14:creationId xmlns:p14="http://schemas.microsoft.com/office/powerpoint/2010/main" val="217457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788462" y="783955"/>
            <a:ext cx="10615076" cy="4855432"/>
          </a:xfrm>
          <a:prstGeom prst="rect">
            <a:avLst/>
          </a:prstGeom>
          <a:noFill/>
        </p:spPr>
        <p:txBody>
          <a:bodyPr wrap="square" rtlCol="0">
            <a:spAutoFit/>
          </a:bodyPr>
          <a:lstStyle/>
          <a:p>
            <a:pPr>
              <a:lnSpc>
                <a:spcPct val="150000"/>
              </a:lnSpc>
            </a:pPr>
            <a:r>
              <a:rPr lang="en-US" sz="1600" b="1" dirty="0">
                <a:solidFill>
                  <a:srgbClr val="993366"/>
                </a:solidFill>
              </a:rPr>
              <a:t>Dom </a:t>
            </a:r>
            <a:r>
              <a:rPr lang="en-US" sz="1600" b="1" dirty="0" err="1">
                <a:solidFill>
                  <a:srgbClr val="993366"/>
                </a:solidFill>
              </a:rPr>
              <a:t>Manipolation</a:t>
            </a:r>
            <a:r>
              <a:rPr lang="en-US" sz="1600" b="1" dirty="0">
                <a:solidFill>
                  <a:srgbClr val="993366"/>
                </a:solidFill>
              </a:rPr>
              <a:t>:</a:t>
            </a:r>
            <a:br>
              <a:rPr lang="en-US" sz="1600" b="1" dirty="0">
                <a:solidFill>
                  <a:srgbClr val="993366"/>
                </a:solidFill>
              </a:rPr>
            </a:br>
            <a:r>
              <a:rPr lang="en-US" sz="1600" dirty="0">
                <a:solidFill>
                  <a:schemeClr val="tx1">
                    <a:lumMod val="95000"/>
                    <a:lumOff val="5000"/>
                  </a:schemeClr>
                </a:solidFill>
              </a:rPr>
              <a:t>The Manipulation section is where your site comes to life. In this section, we'll learn how to use JavaScript to change the structure, content, and appearance of a page without refreshing it.</a:t>
            </a:r>
          </a:p>
          <a:p>
            <a:pPr>
              <a:lnSpc>
                <a:spcPct val="150000"/>
              </a:lnSpc>
            </a:pPr>
            <a:r>
              <a:rPr lang="en-US" sz="1600" dirty="0">
                <a:solidFill>
                  <a:schemeClr val="tx1">
                    <a:lumMod val="95000"/>
                    <a:lumOff val="5000"/>
                  </a:schemeClr>
                </a:solidFill>
              </a:rPr>
              <a:t>I'll break this down into some main categories:</a:t>
            </a:r>
          </a:p>
          <a:p>
            <a:pPr>
              <a:lnSpc>
                <a:spcPct val="150000"/>
              </a:lnSpc>
            </a:pPr>
            <a:r>
              <a:rPr lang="en-US" sz="1600" b="1" dirty="0">
                <a:solidFill>
                  <a:srgbClr val="993366"/>
                </a:solidFill>
              </a:rPr>
              <a:t>1. Content Manipulation</a:t>
            </a:r>
          </a:p>
          <a:p>
            <a:pPr>
              <a:lnSpc>
                <a:spcPct val="150000"/>
              </a:lnSpc>
            </a:pPr>
            <a:r>
              <a:rPr lang="en-US" sz="1600" dirty="0">
                <a:solidFill>
                  <a:schemeClr val="tx1">
                    <a:lumMod val="95000"/>
                    <a:lumOff val="5000"/>
                  </a:schemeClr>
                </a:solidFill>
              </a:rPr>
              <a:t>There are 3 main ways to change the text or code inside an element:</a:t>
            </a:r>
          </a:p>
          <a:p>
            <a:pPr>
              <a:lnSpc>
                <a:spcPct val="150000"/>
              </a:lnSpc>
            </a:pPr>
            <a:r>
              <a:rPr lang="en-US" sz="1600" dirty="0" err="1">
                <a:solidFill>
                  <a:schemeClr val="tx1">
                    <a:lumMod val="95000"/>
                    <a:lumOff val="5000"/>
                  </a:schemeClr>
                </a:solidFill>
              </a:rPr>
              <a:t>innerText</a:t>
            </a:r>
            <a:r>
              <a:rPr lang="en-US" sz="1600" dirty="0">
                <a:solidFill>
                  <a:schemeClr val="tx1">
                    <a:lumMod val="95000"/>
                    <a:lumOff val="5000"/>
                  </a:schemeClr>
                </a:solidFill>
              </a:rPr>
              <a:t>: Changes only the text and takes CSS styles into account (i.e., it doesn't read text hidden by CSS).</a:t>
            </a:r>
          </a:p>
          <a:p>
            <a:pPr>
              <a:lnSpc>
                <a:spcPct val="150000"/>
              </a:lnSpc>
            </a:pPr>
            <a:r>
              <a:rPr lang="en-US" sz="1600" dirty="0" err="1">
                <a:solidFill>
                  <a:schemeClr val="tx1">
                    <a:lumMod val="95000"/>
                    <a:lumOff val="5000"/>
                  </a:schemeClr>
                </a:solidFill>
              </a:rPr>
              <a:t>textContent</a:t>
            </a:r>
            <a:r>
              <a:rPr lang="en-US" sz="1600" dirty="0">
                <a:solidFill>
                  <a:schemeClr val="tx1">
                    <a:lumMod val="95000"/>
                    <a:lumOff val="5000"/>
                  </a:schemeClr>
                </a:solidFill>
              </a:rPr>
              <a:t>: Returns or changes all the text inside an element (even hidden text) (slightly faster than </a:t>
            </a:r>
            <a:r>
              <a:rPr lang="en-US" sz="1600" dirty="0" err="1">
                <a:solidFill>
                  <a:schemeClr val="tx1">
                    <a:lumMod val="95000"/>
                    <a:lumOff val="5000"/>
                  </a:schemeClr>
                </a:solidFill>
              </a:rPr>
              <a:t>innerText</a:t>
            </a:r>
            <a:r>
              <a:rPr lang="en-US" sz="1600" dirty="0">
                <a:solidFill>
                  <a:schemeClr val="tx1">
                    <a:lumMod val="95000"/>
                    <a:lumOff val="5000"/>
                  </a:schemeClr>
                </a:solidFill>
              </a:rPr>
              <a:t>).</a:t>
            </a:r>
          </a:p>
          <a:p>
            <a:pPr>
              <a:lnSpc>
                <a:spcPct val="150000"/>
              </a:lnSpc>
            </a:pPr>
            <a:r>
              <a:rPr lang="en-US" sz="1600" dirty="0" err="1">
                <a:solidFill>
                  <a:schemeClr val="tx1">
                    <a:lumMod val="95000"/>
                    <a:lumOff val="5000"/>
                  </a:schemeClr>
                </a:solidFill>
              </a:rPr>
              <a:t>innerHTML</a:t>
            </a:r>
            <a:r>
              <a:rPr lang="en-US" sz="1600" dirty="0">
                <a:solidFill>
                  <a:schemeClr val="tx1">
                    <a:lumMod val="95000"/>
                    <a:lumOff val="5000"/>
                  </a:schemeClr>
                </a:solidFill>
              </a:rPr>
              <a:t>: Allows you to write HTML tags inside the element as well.</a:t>
            </a:r>
            <a:br>
              <a:rPr lang="en-US" sz="1600" dirty="0">
                <a:solidFill>
                  <a:schemeClr val="tx1">
                    <a:lumMod val="95000"/>
                    <a:lumOff val="5000"/>
                  </a:schemeClr>
                </a:solidFill>
              </a:rPr>
            </a:br>
            <a:endParaRPr lang="en-US" sz="1600" dirty="0">
              <a:solidFill>
                <a:schemeClr val="tx1">
                  <a:lumMod val="95000"/>
                  <a:lumOff val="5000"/>
                </a:schemeClr>
              </a:solidFill>
            </a:endParaRPr>
          </a:p>
          <a:p>
            <a:pPr>
              <a:lnSpc>
                <a:spcPct val="150000"/>
              </a:lnSpc>
            </a:pPr>
            <a:br>
              <a:rPr lang="fa-IR" sz="1600" dirty="0"/>
            </a:br>
            <a:endParaRPr lang="en-US" sz="1600" dirty="0">
              <a:latin typeface="+mj-lt"/>
            </a:endParaRPr>
          </a:p>
          <a:p>
            <a:pPr>
              <a:lnSpc>
                <a:spcPct val="150000"/>
              </a:lnSpc>
            </a:pPr>
            <a:endParaRPr lang="en-US" sz="1600" b="1" dirty="0">
              <a:solidFill>
                <a:schemeClr val="bg2">
                  <a:lumMod val="10000"/>
                </a:schemeClr>
              </a:solidFill>
              <a:latin typeface="+mj-lt"/>
            </a:endParaRPr>
          </a:p>
        </p:txBody>
      </p:sp>
      <p:pic>
        <p:nvPicPr>
          <p:cNvPr id="3" name="Picture 2">
            <a:extLst>
              <a:ext uri="{FF2B5EF4-FFF2-40B4-BE49-F238E27FC236}">
                <a16:creationId xmlns:a16="http://schemas.microsoft.com/office/drawing/2014/main" id="{CC6E9F3B-8291-414C-9496-BF441B09D2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5237" y="4638063"/>
            <a:ext cx="6630325" cy="1171739"/>
          </a:xfrm>
          <a:prstGeom prst="rect">
            <a:avLst/>
          </a:prstGeom>
        </p:spPr>
      </p:pic>
    </p:spTree>
    <p:extLst>
      <p:ext uri="{BB962C8B-B14F-4D97-AF65-F5344CB8AC3E}">
        <p14:creationId xmlns:p14="http://schemas.microsoft.com/office/powerpoint/2010/main" val="4020863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93728" y="428355"/>
            <a:ext cx="10615076" cy="6332759"/>
          </a:xfrm>
          <a:prstGeom prst="rect">
            <a:avLst/>
          </a:prstGeom>
          <a:noFill/>
        </p:spPr>
        <p:txBody>
          <a:bodyPr wrap="square" rtlCol="0">
            <a:spAutoFit/>
          </a:bodyPr>
          <a:lstStyle/>
          <a:p>
            <a:pPr>
              <a:lnSpc>
                <a:spcPct val="150000"/>
              </a:lnSpc>
            </a:pPr>
            <a:r>
              <a:rPr lang="en-US" sz="1600" b="1" dirty="0">
                <a:solidFill>
                  <a:srgbClr val="993366"/>
                </a:solidFill>
              </a:rPr>
              <a:t>Dom Manipulation:</a:t>
            </a:r>
            <a:br>
              <a:rPr lang="en-US" sz="1600" b="1" dirty="0">
                <a:solidFill>
                  <a:srgbClr val="993366"/>
                </a:solidFill>
              </a:rPr>
            </a:br>
            <a:r>
              <a:rPr lang="en-US" sz="1600" b="1" dirty="0">
                <a:solidFill>
                  <a:srgbClr val="993366"/>
                </a:solidFill>
              </a:rPr>
              <a:t>1. . Changing Styles and Classes (Style &amp; Classes)</a:t>
            </a:r>
          </a:p>
          <a:p>
            <a:pPr>
              <a:lnSpc>
                <a:spcPct val="150000"/>
              </a:lnSpc>
            </a:pPr>
            <a:r>
              <a:rPr lang="en-US" sz="1600" dirty="0">
                <a:solidFill>
                  <a:schemeClr val="bg2">
                    <a:lumMod val="10000"/>
                  </a:schemeClr>
                </a:solidFill>
              </a:rPr>
              <a:t>This section is the most commonly used section for animations and visual changes.</a:t>
            </a:r>
          </a:p>
          <a:p>
            <a:pPr>
              <a:lnSpc>
                <a:spcPct val="150000"/>
              </a:lnSpc>
            </a:pPr>
            <a:r>
              <a:rPr lang="en-US" sz="1600" dirty="0">
                <a:solidFill>
                  <a:schemeClr val="bg2">
                    <a:lumMod val="10000"/>
                  </a:schemeClr>
                </a:solidFill>
              </a:rPr>
              <a:t>A) Style Attribute (Direct Style)</a:t>
            </a:r>
          </a:p>
          <a:p>
            <a:pPr>
              <a:lnSpc>
                <a:spcPct val="150000"/>
              </a:lnSpc>
            </a:pPr>
            <a:r>
              <a:rPr lang="en-US" sz="1600" dirty="0">
                <a:solidFill>
                  <a:schemeClr val="bg2">
                    <a:lumMod val="10000"/>
                  </a:schemeClr>
                </a:solidFill>
              </a:rPr>
              <a:t>This method allows you to apply CSS directly to the element (Inline Style). Note: In JavaScript, two-word names in CSS are written in camelCase (for example, background-color becomes</a:t>
            </a:r>
          </a:p>
          <a:p>
            <a:pPr>
              <a:lnSpc>
                <a:spcPct val="150000"/>
              </a:lnSpc>
            </a:pPr>
            <a:endParaRPr lang="en-US" sz="1600" dirty="0">
              <a:solidFill>
                <a:schemeClr val="bg2">
                  <a:lumMod val="10000"/>
                </a:schemeClr>
              </a:solidFill>
            </a:endParaRPr>
          </a:p>
          <a:p>
            <a:pPr>
              <a:lnSpc>
                <a:spcPct val="150000"/>
              </a:lnSpc>
            </a:pPr>
            <a:endParaRPr lang="en-US" sz="1600" dirty="0">
              <a:solidFill>
                <a:schemeClr val="bg2">
                  <a:lumMod val="10000"/>
                </a:schemeClr>
              </a:solidFill>
            </a:endParaRPr>
          </a:p>
          <a:p>
            <a:pPr>
              <a:lnSpc>
                <a:spcPct val="150000"/>
              </a:lnSpc>
            </a:pPr>
            <a:r>
              <a:rPr lang="en-US" sz="1600" dirty="0">
                <a:solidFill>
                  <a:schemeClr val="bg2">
                    <a:lumMod val="10000"/>
                  </a:schemeClr>
                </a:solidFill>
              </a:rPr>
              <a:t>b) </a:t>
            </a:r>
            <a:r>
              <a:rPr lang="en-US" sz="1600" dirty="0" err="1">
                <a:solidFill>
                  <a:schemeClr val="bg2">
                    <a:lumMod val="10000"/>
                  </a:schemeClr>
                </a:solidFill>
              </a:rPr>
              <a:t>classList</a:t>
            </a:r>
            <a:r>
              <a:rPr lang="en-US" sz="1600" dirty="0">
                <a:solidFill>
                  <a:schemeClr val="bg2">
                    <a:lumMod val="10000"/>
                  </a:schemeClr>
                </a:solidFill>
              </a:rPr>
              <a:t> attribute (best practice)</a:t>
            </a:r>
          </a:p>
          <a:p>
            <a:pPr>
              <a:lnSpc>
                <a:spcPct val="150000"/>
              </a:lnSpc>
            </a:pPr>
            <a:r>
              <a:rPr lang="en-US" sz="1600" dirty="0">
                <a:solidFill>
                  <a:schemeClr val="bg2">
                    <a:lumMod val="10000"/>
                  </a:schemeClr>
                </a:solidFill>
              </a:rPr>
              <a:t>Instead of writing individual styles, it is better to define CSS classes in a .</a:t>
            </a:r>
            <a:r>
              <a:rPr lang="en-US" sz="1600" dirty="0" err="1">
                <a:solidFill>
                  <a:schemeClr val="bg2">
                    <a:lumMod val="10000"/>
                  </a:schemeClr>
                </a:solidFill>
              </a:rPr>
              <a:t>css</a:t>
            </a:r>
            <a:r>
              <a:rPr lang="en-US" sz="1600" dirty="0">
                <a:solidFill>
                  <a:schemeClr val="bg2">
                    <a:lumMod val="10000"/>
                  </a:schemeClr>
                </a:solidFill>
              </a:rPr>
              <a:t> file and add or remove that class to the element with JS.</a:t>
            </a:r>
          </a:p>
          <a:p>
            <a:pPr marL="285750" indent="-285750">
              <a:lnSpc>
                <a:spcPct val="150000"/>
              </a:lnSpc>
              <a:buFont typeface="Wingdings" panose="05000000000000000000" pitchFamily="2" charset="2"/>
              <a:buChar char="§"/>
            </a:pPr>
            <a:r>
              <a:rPr lang="en-US" sz="1600" dirty="0">
                <a:solidFill>
                  <a:schemeClr val="bg2">
                    <a:lumMod val="10000"/>
                  </a:schemeClr>
                </a:solidFill>
              </a:rPr>
              <a:t>add('</a:t>
            </a:r>
            <a:r>
              <a:rPr lang="en-US" sz="1600" dirty="0" err="1">
                <a:solidFill>
                  <a:schemeClr val="bg2">
                    <a:lumMod val="10000"/>
                  </a:schemeClr>
                </a:solidFill>
              </a:rPr>
              <a:t>className</a:t>
            </a:r>
            <a:r>
              <a:rPr lang="en-US" sz="1600" dirty="0">
                <a:solidFill>
                  <a:schemeClr val="bg2">
                    <a:lumMod val="10000"/>
                  </a:schemeClr>
                </a:solidFill>
              </a:rPr>
              <a:t>'): Add a class.</a:t>
            </a:r>
          </a:p>
          <a:p>
            <a:pPr marL="285750" indent="-285750">
              <a:lnSpc>
                <a:spcPct val="150000"/>
              </a:lnSpc>
              <a:buFont typeface="Wingdings" panose="05000000000000000000" pitchFamily="2" charset="2"/>
              <a:buChar char="§"/>
            </a:pPr>
            <a:r>
              <a:rPr lang="en-US" sz="1600" dirty="0">
                <a:solidFill>
                  <a:schemeClr val="bg2">
                    <a:lumMod val="10000"/>
                  </a:schemeClr>
                </a:solidFill>
              </a:rPr>
              <a:t>remove('</a:t>
            </a:r>
            <a:r>
              <a:rPr lang="en-US" sz="1600" dirty="0" err="1">
                <a:solidFill>
                  <a:schemeClr val="bg2">
                    <a:lumMod val="10000"/>
                  </a:schemeClr>
                </a:solidFill>
              </a:rPr>
              <a:t>className</a:t>
            </a:r>
            <a:r>
              <a:rPr lang="en-US" sz="1600" dirty="0">
                <a:solidFill>
                  <a:schemeClr val="bg2">
                    <a:lumMod val="10000"/>
                  </a:schemeClr>
                </a:solidFill>
              </a:rPr>
              <a:t>'): Remove a class.</a:t>
            </a:r>
          </a:p>
          <a:p>
            <a:pPr marL="285750" indent="-285750">
              <a:lnSpc>
                <a:spcPct val="150000"/>
              </a:lnSpc>
              <a:buFont typeface="Wingdings" panose="05000000000000000000" pitchFamily="2" charset="2"/>
              <a:buChar char="§"/>
            </a:pPr>
            <a:r>
              <a:rPr lang="en-US" sz="1600" dirty="0">
                <a:solidFill>
                  <a:schemeClr val="bg2">
                    <a:lumMod val="10000"/>
                  </a:schemeClr>
                </a:solidFill>
              </a:rPr>
              <a:t>toggle('</a:t>
            </a:r>
            <a:r>
              <a:rPr lang="en-US" sz="1600" dirty="0" err="1">
                <a:solidFill>
                  <a:schemeClr val="bg2">
                    <a:lumMod val="10000"/>
                  </a:schemeClr>
                </a:solidFill>
              </a:rPr>
              <a:t>className</a:t>
            </a:r>
            <a:r>
              <a:rPr lang="en-US" sz="1600" dirty="0">
                <a:solidFill>
                  <a:schemeClr val="bg2">
                    <a:lumMod val="10000"/>
                  </a:schemeClr>
                </a:solidFill>
              </a:rPr>
              <a:t>'): Removes the class if it exists, adds it if it doesn't (great for dark/light buttons).</a:t>
            </a:r>
          </a:p>
          <a:p>
            <a:pPr marL="285750" indent="-285750">
              <a:lnSpc>
                <a:spcPct val="150000"/>
              </a:lnSpc>
              <a:buFont typeface="Wingdings" panose="05000000000000000000" pitchFamily="2" charset="2"/>
              <a:buChar char="§"/>
            </a:pPr>
            <a:r>
              <a:rPr lang="en-US" sz="1600" dirty="0">
                <a:solidFill>
                  <a:schemeClr val="bg2">
                    <a:lumMod val="10000"/>
                  </a:schemeClr>
                </a:solidFill>
              </a:rPr>
              <a:t>contains('</a:t>
            </a:r>
            <a:r>
              <a:rPr lang="en-US" sz="1600" dirty="0" err="1">
                <a:solidFill>
                  <a:schemeClr val="bg2">
                    <a:lumMod val="10000"/>
                  </a:schemeClr>
                </a:solidFill>
              </a:rPr>
              <a:t>className</a:t>
            </a:r>
            <a:r>
              <a:rPr lang="en-US" sz="1600" dirty="0">
                <a:solidFill>
                  <a:schemeClr val="bg2">
                    <a:lumMod val="10000"/>
                  </a:schemeClr>
                </a:solidFill>
              </a:rPr>
              <a:t>'): Checks if the element has this class or not (outputs true/false).</a:t>
            </a:r>
            <a:br>
              <a:rPr lang="fa-IR" sz="1600" dirty="0"/>
            </a:br>
            <a:endParaRPr lang="en-US" sz="1600" dirty="0">
              <a:latin typeface="+mj-lt"/>
            </a:endParaRPr>
          </a:p>
          <a:p>
            <a:pPr>
              <a:lnSpc>
                <a:spcPct val="150000"/>
              </a:lnSpc>
            </a:pPr>
            <a:endParaRPr lang="en-US" sz="1600" b="1" dirty="0">
              <a:solidFill>
                <a:schemeClr val="bg2">
                  <a:lumMod val="10000"/>
                </a:schemeClr>
              </a:solidFill>
              <a:latin typeface="+mj-lt"/>
            </a:endParaRPr>
          </a:p>
        </p:txBody>
      </p:sp>
      <p:pic>
        <p:nvPicPr>
          <p:cNvPr id="6" name="Picture 5">
            <a:extLst>
              <a:ext uri="{FF2B5EF4-FFF2-40B4-BE49-F238E27FC236}">
                <a16:creationId xmlns:a16="http://schemas.microsoft.com/office/drawing/2014/main" id="{4EE5FD85-A619-4806-AA12-875F92B5CACA}"/>
              </a:ext>
            </a:extLst>
          </p:cNvPr>
          <p:cNvPicPr>
            <a:picLocks noChangeAspect="1"/>
          </p:cNvPicPr>
          <p:nvPr/>
        </p:nvPicPr>
        <p:blipFill>
          <a:blip r:embed="rId2"/>
          <a:stretch>
            <a:fillRect/>
          </a:stretch>
        </p:blipFill>
        <p:spPr>
          <a:xfrm>
            <a:off x="6374334" y="2470149"/>
            <a:ext cx="4819650" cy="1104900"/>
          </a:xfrm>
          <a:prstGeom prst="rect">
            <a:avLst/>
          </a:prstGeom>
        </p:spPr>
      </p:pic>
      <p:pic>
        <p:nvPicPr>
          <p:cNvPr id="8" name="Picture 7">
            <a:extLst>
              <a:ext uri="{FF2B5EF4-FFF2-40B4-BE49-F238E27FC236}">
                <a16:creationId xmlns:a16="http://schemas.microsoft.com/office/drawing/2014/main" id="{7BF6B5D2-28B0-4D85-910B-4F0CDE18D351}"/>
              </a:ext>
            </a:extLst>
          </p:cNvPr>
          <p:cNvPicPr>
            <a:picLocks noChangeAspect="1"/>
          </p:cNvPicPr>
          <p:nvPr/>
        </p:nvPicPr>
        <p:blipFill>
          <a:blip r:embed="rId3"/>
          <a:stretch>
            <a:fillRect/>
          </a:stretch>
        </p:blipFill>
        <p:spPr>
          <a:xfrm>
            <a:off x="6374334" y="4242329"/>
            <a:ext cx="4733925" cy="981075"/>
          </a:xfrm>
          <a:prstGeom prst="rect">
            <a:avLst/>
          </a:prstGeom>
        </p:spPr>
      </p:pic>
    </p:spTree>
    <p:extLst>
      <p:ext uri="{BB962C8B-B14F-4D97-AF65-F5344CB8AC3E}">
        <p14:creationId xmlns:p14="http://schemas.microsoft.com/office/powerpoint/2010/main" val="778752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93728" y="428355"/>
            <a:ext cx="10615076" cy="3378104"/>
          </a:xfrm>
          <a:prstGeom prst="rect">
            <a:avLst/>
          </a:prstGeom>
          <a:noFill/>
        </p:spPr>
        <p:txBody>
          <a:bodyPr wrap="square" rtlCol="0">
            <a:spAutoFit/>
          </a:bodyPr>
          <a:lstStyle/>
          <a:p>
            <a:pPr>
              <a:lnSpc>
                <a:spcPct val="150000"/>
              </a:lnSpc>
            </a:pPr>
            <a:r>
              <a:rPr lang="en-US" sz="1600" b="1" dirty="0">
                <a:solidFill>
                  <a:srgbClr val="993366"/>
                </a:solidFill>
              </a:rPr>
              <a:t>Dom Manipulation:</a:t>
            </a:r>
            <a:br>
              <a:rPr lang="en-US" sz="1600" b="1" dirty="0">
                <a:solidFill>
                  <a:srgbClr val="993366"/>
                </a:solidFill>
              </a:rPr>
            </a:br>
            <a:r>
              <a:rPr lang="en-US" sz="1600" b="1" dirty="0">
                <a:solidFill>
                  <a:srgbClr val="993366"/>
                </a:solidFill>
              </a:rPr>
              <a:t>3.Creating &amp; Removing Elements</a:t>
            </a:r>
          </a:p>
          <a:p>
            <a:pPr>
              <a:lnSpc>
                <a:spcPct val="150000"/>
              </a:lnSpc>
            </a:pPr>
            <a:r>
              <a:rPr lang="en-US" sz="1600" dirty="0">
                <a:solidFill>
                  <a:schemeClr val="bg2">
                    <a:lumMod val="10000"/>
                  </a:schemeClr>
                </a:solidFill>
              </a:rPr>
              <a:t>Sometimes it is necessary to create an element from scratch and add it to the page (for example, when a user leaves a comment and their comment needs to appear).</a:t>
            </a:r>
          </a:p>
          <a:p>
            <a:pPr marL="285750" indent="-285750">
              <a:lnSpc>
                <a:spcPct val="150000"/>
              </a:lnSpc>
              <a:buFont typeface="Wingdings" panose="05000000000000000000" pitchFamily="2" charset="2"/>
              <a:buChar char="§"/>
            </a:pPr>
            <a:r>
              <a:rPr lang="en-US" sz="1600" dirty="0" err="1">
                <a:solidFill>
                  <a:schemeClr val="bg2">
                    <a:lumMod val="10000"/>
                  </a:schemeClr>
                </a:solidFill>
              </a:rPr>
              <a:t>document.createElement</a:t>
            </a:r>
            <a:r>
              <a:rPr lang="en-US" sz="1600" dirty="0">
                <a:solidFill>
                  <a:schemeClr val="bg2">
                    <a:lumMod val="10000"/>
                  </a:schemeClr>
                </a:solidFill>
              </a:rPr>
              <a:t>(</a:t>
            </a:r>
            <a:r>
              <a:rPr lang="en-US" sz="1600" dirty="0" err="1">
                <a:solidFill>
                  <a:schemeClr val="bg2">
                    <a:lumMod val="10000"/>
                  </a:schemeClr>
                </a:solidFill>
              </a:rPr>
              <a:t>tagName</a:t>
            </a:r>
            <a:r>
              <a:rPr lang="en-US" sz="1600" dirty="0">
                <a:solidFill>
                  <a:schemeClr val="bg2">
                    <a:lumMod val="10000"/>
                  </a:schemeClr>
                </a:solidFill>
              </a:rPr>
              <a:t>): Creates a new element in memory.</a:t>
            </a:r>
          </a:p>
          <a:p>
            <a:pPr marL="285750" indent="-285750">
              <a:lnSpc>
                <a:spcPct val="150000"/>
              </a:lnSpc>
              <a:buFont typeface="Wingdings" panose="05000000000000000000" pitchFamily="2" charset="2"/>
              <a:buChar char="§"/>
            </a:pPr>
            <a:r>
              <a:rPr lang="en-US" sz="1600" dirty="0" err="1">
                <a:solidFill>
                  <a:schemeClr val="bg2">
                    <a:lumMod val="10000"/>
                  </a:schemeClr>
                </a:solidFill>
              </a:rPr>
              <a:t>parent.appendChild</a:t>
            </a:r>
            <a:r>
              <a:rPr lang="en-US" sz="1600" dirty="0">
                <a:solidFill>
                  <a:schemeClr val="bg2">
                    <a:lumMod val="10000"/>
                  </a:schemeClr>
                </a:solidFill>
              </a:rPr>
              <a:t>(child): Adds the created element as the last child of a parent.</a:t>
            </a:r>
          </a:p>
          <a:p>
            <a:pPr marL="285750" indent="-285750">
              <a:lnSpc>
                <a:spcPct val="150000"/>
              </a:lnSpc>
              <a:buFont typeface="Wingdings" panose="05000000000000000000" pitchFamily="2" charset="2"/>
              <a:buChar char="§"/>
            </a:pPr>
            <a:r>
              <a:rPr lang="en-US" sz="1600" dirty="0" err="1">
                <a:solidFill>
                  <a:schemeClr val="bg2">
                    <a:lumMod val="10000"/>
                  </a:schemeClr>
                </a:solidFill>
              </a:rPr>
              <a:t>parent.prepend</a:t>
            </a:r>
            <a:r>
              <a:rPr lang="en-US" sz="1600" dirty="0">
                <a:solidFill>
                  <a:schemeClr val="bg2">
                    <a:lumMod val="10000"/>
                  </a:schemeClr>
                </a:solidFill>
              </a:rPr>
              <a:t>(child): Adds it as the first child.</a:t>
            </a:r>
          </a:p>
          <a:p>
            <a:pPr marL="285750" indent="-285750">
              <a:lnSpc>
                <a:spcPct val="150000"/>
              </a:lnSpc>
              <a:buFont typeface="Wingdings" panose="05000000000000000000" pitchFamily="2" charset="2"/>
              <a:buChar char="§"/>
            </a:pPr>
            <a:r>
              <a:rPr lang="en-US" sz="1600" dirty="0" err="1">
                <a:solidFill>
                  <a:schemeClr val="bg2">
                    <a:lumMod val="10000"/>
                  </a:schemeClr>
                </a:solidFill>
              </a:rPr>
              <a:t>element.remove</a:t>
            </a:r>
            <a:r>
              <a:rPr lang="en-US" sz="1600" dirty="0">
                <a:solidFill>
                  <a:schemeClr val="bg2">
                    <a:lumMod val="10000"/>
                  </a:schemeClr>
                </a:solidFill>
              </a:rPr>
              <a:t>(): Removes the element completely from the page.</a:t>
            </a:r>
          </a:p>
          <a:p>
            <a:pPr>
              <a:lnSpc>
                <a:spcPct val="150000"/>
              </a:lnSpc>
            </a:pPr>
            <a:endParaRPr lang="en-US" sz="1600" b="1" dirty="0">
              <a:solidFill>
                <a:schemeClr val="bg2">
                  <a:lumMod val="10000"/>
                </a:schemeClr>
              </a:solidFill>
              <a:latin typeface="+mj-lt"/>
            </a:endParaRPr>
          </a:p>
        </p:txBody>
      </p:sp>
      <p:pic>
        <p:nvPicPr>
          <p:cNvPr id="3" name="Picture 2">
            <a:extLst>
              <a:ext uri="{FF2B5EF4-FFF2-40B4-BE49-F238E27FC236}">
                <a16:creationId xmlns:a16="http://schemas.microsoft.com/office/drawing/2014/main" id="{20E9B0B4-0D92-427E-B754-E7FED1A71B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5339" y="3806459"/>
            <a:ext cx="4639322" cy="2210108"/>
          </a:xfrm>
          <a:prstGeom prst="rect">
            <a:avLst/>
          </a:prstGeom>
        </p:spPr>
      </p:pic>
    </p:spTree>
    <p:extLst>
      <p:ext uri="{BB962C8B-B14F-4D97-AF65-F5344CB8AC3E}">
        <p14:creationId xmlns:p14="http://schemas.microsoft.com/office/powerpoint/2010/main" val="2384660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788462" y="783955"/>
            <a:ext cx="10615076" cy="2270109"/>
          </a:xfrm>
          <a:prstGeom prst="rect">
            <a:avLst/>
          </a:prstGeom>
          <a:noFill/>
        </p:spPr>
        <p:txBody>
          <a:bodyPr wrap="square" rtlCol="0">
            <a:spAutoFit/>
          </a:bodyPr>
          <a:lstStyle/>
          <a:p>
            <a:pPr>
              <a:lnSpc>
                <a:spcPct val="150000"/>
              </a:lnSpc>
            </a:pPr>
            <a:r>
              <a:rPr lang="en-US" sz="1600" b="1" dirty="0">
                <a:solidFill>
                  <a:srgbClr val="FF99CC"/>
                </a:solidFill>
              </a:rPr>
              <a:t>Events</a:t>
            </a:r>
            <a:r>
              <a:rPr lang="fa-IR" sz="1600" b="1" dirty="0">
                <a:solidFill>
                  <a:srgbClr val="FF99CC"/>
                </a:solidFill>
              </a:rPr>
              <a:t>:</a:t>
            </a:r>
            <a:endParaRPr lang="en-US" sz="1600" b="1" dirty="0">
              <a:solidFill>
                <a:srgbClr val="FF99CC"/>
              </a:solidFill>
            </a:endParaRPr>
          </a:p>
          <a:p>
            <a:pPr>
              <a:lnSpc>
                <a:spcPct val="150000"/>
              </a:lnSpc>
            </a:pPr>
            <a:r>
              <a:rPr lang="en-US" sz="1600" dirty="0"/>
              <a:t>Events mean: “Whenever such and such happens, execute such and such a function.” Without events, our site is a lifeless statue.</a:t>
            </a:r>
            <a:br>
              <a:rPr lang="fa-IR" sz="1600" dirty="0"/>
            </a:br>
            <a:r>
              <a:rPr lang="en-US" sz="1600" b="1" dirty="0" err="1">
                <a:solidFill>
                  <a:srgbClr val="FF99CC"/>
                </a:solidFill>
              </a:rPr>
              <a:t>addEventListener</a:t>
            </a:r>
            <a:endParaRPr lang="en-US" sz="1600" b="1" dirty="0">
              <a:solidFill>
                <a:srgbClr val="FF99CC"/>
              </a:solidFill>
            </a:endParaRPr>
          </a:p>
          <a:p>
            <a:pPr>
              <a:lnSpc>
                <a:spcPct val="150000"/>
              </a:lnSpc>
            </a:pPr>
            <a:r>
              <a:rPr lang="en-US" sz="1600" dirty="0"/>
              <a:t>This method takes two parameters: the name of the event (click) and the action to be performed (a function).</a:t>
            </a:r>
            <a:endParaRPr lang="en-US" sz="1600" dirty="0">
              <a:latin typeface="+mj-lt"/>
            </a:endParaRPr>
          </a:p>
          <a:p>
            <a:pPr>
              <a:lnSpc>
                <a:spcPct val="150000"/>
              </a:lnSpc>
            </a:pPr>
            <a:endParaRPr lang="en-US" sz="1600" b="1" dirty="0">
              <a:solidFill>
                <a:schemeClr val="bg2">
                  <a:lumMod val="10000"/>
                </a:schemeClr>
              </a:solidFill>
              <a:latin typeface="+mj-lt"/>
            </a:endParaRPr>
          </a:p>
        </p:txBody>
      </p:sp>
      <p:pic>
        <p:nvPicPr>
          <p:cNvPr id="3" name="Picture 2">
            <a:extLst>
              <a:ext uri="{FF2B5EF4-FFF2-40B4-BE49-F238E27FC236}">
                <a16:creationId xmlns:a16="http://schemas.microsoft.com/office/drawing/2014/main" id="{142C5377-2201-46D5-919B-0CE963A061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4975" y="3168022"/>
            <a:ext cx="5010849" cy="1419423"/>
          </a:xfrm>
          <a:prstGeom prst="rect">
            <a:avLst/>
          </a:prstGeom>
        </p:spPr>
      </p:pic>
    </p:spTree>
    <p:extLst>
      <p:ext uri="{BB962C8B-B14F-4D97-AF65-F5344CB8AC3E}">
        <p14:creationId xmlns:p14="http://schemas.microsoft.com/office/powerpoint/2010/main" val="234781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788462" y="783955"/>
            <a:ext cx="10615076" cy="4486100"/>
          </a:xfrm>
          <a:prstGeom prst="rect">
            <a:avLst/>
          </a:prstGeom>
          <a:noFill/>
        </p:spPr>
        <p:txBody>
          <a:bodyPr wrap="square" rtlCol="0">
            <a:spAutoFit/>
          </a:bodyPr>
          <a:lstStyle/>
          <a:p>
            <a:pPr>
              <a:lnSpc>
                <a:spcPct val="150000"/>
              </a:lnSpc>
            </a:pPr>
            <a:r>
              <a:rPr lang="en-US" sz="1600" b="1" dirty="0">
                <a:solidFill>
                  <a:srgbClr val="FF99CC"/>
                </a:solidFill>
              </a:rPr>
              <a:t>Events</a:t>
            </a:r>
            <a:r>
              <a:rPr lang="fa-IR" sz="1600" b="1" dirty="0">
                <a:solidFill>
                  <a:srgbClr val="FF99CC"/>
                </a:solidFill>
              </a:rPr>
              <a:t>:</a:t>
            </a:r>
            <a:endParaRPr lang="en-US" sz="1600" b="1" dirty="0">
              <a:solidFill>
                <a:srgbClr val="FF99CC"/>
              </a:solidFill>
            </a:endParaRPr>
          </a:p>
          <a:p>
            <a:pPr>
              <a:lnSpc>
                <a:spcPct val="150000"/>
              </a:lnSpc>
            </a:pPr>
            <a:r>
              <a:rPr lang="en-US" sz="1600" dirty="0"/>
              <a:t>Here is the complete, categorized list of JavaScript critical events:</a:t>
            </a:r>
            <a:r>
              <a:rPr lang="fa-IR" sz="1600" dirty="0"/>
              <a:t> </a:t>
            </a:r>
            <a:endParaRPr lang="en-US" sz="1600" dirty="0"/>
          </a:p>
          <a:p>
            <a:pPr>
              <a:lnSpc>
                <a:spcPct val="150000"/>
              </a:lnSpc>
            </a:pPr>
            <a:r>
              <a:rPr lang="en-US" sz="1600" b="1" dirty="0">
                <a:solidFill>
                  <a:schemeClr val="bg2">
                    <a:lumMod val="10000"/>
                  </a:schemeClr>
                </a:solidFill>
                <a:latin typeface="+mj-lt"/>
              </a:rPr>
              <a:t>These are the most commonly used events for buttons and menus.</a:t>
            </a:r>
          </a:p>
          <a:p>
            <a:pPr>
              <a:lnSpc>
                <a:spcPct val="150000"/>
              </a:lnSpc>
            </a:pPr>
            <a:r>
              <a:rPr lang="en-US" sz="1600" b="1" dirty="0">
                <a:solidFill>
                  <a:srgbClr val="FF99CC"/>
                </a:solidFill>
                <a:latin typeface="+mj-lt"/>
              </a:rPr>
              <a:t>1.</a:t>
            </a:r>
            <a:r>
              <a:rPr lang="en-US" sz="1600" b="1" dirty="0">
                <a:solidFill>
                  <a:srgbClr val="FF99CC"/>
                </a:solidFill>
              </a:rPr>
              <a:t> Mouse Events</a:t>
            </a:r>
            <a:endParaRPr lang="en-US" sz="1600" b="1" dirty="0">
              <a:solidFill>
                <a:srgbClr val="FF99CC"/>
              </a:solidFill>
              <a:latin typeface="+mj-lt"/>
            </a:endParaRPr>
          </a:p>
          <a:p>
            <a:pPr marL="285750" indent="-285750">
              <a:lnSpc>
                <a:spcPct val="150000"/>
              </a:lnSpc>
              <a:buFont typeface="Wingdings" panose="05000000000000000000" pitchFamily="2" charset="2"/>
              <a:buChar char="§"/>
            </a:pPr>
            <a:r>
              <a:rPr lang="en-US" sz="1600" b="1" dirty="0">
                <a:solidFill>
                  <a:schemeClr val="bg2">
                    <a:lumMod val="10000"/>
                  </a:schemeClr>
                </a:solidFill>
                <a:latin typeface="+mj-lt"/>
              </a:rPr>
              <a:t>click: Flagger of events! When the user clicks and releases the left mouse button.</a:t>
            </a:r>
          </a:p>
          <a:p>
            <a:pPr marL="285750" indent="-285750">
              <a:lnSpc>
                <a:spcPct val="150000"/>
              </a:lnSpc>
              <a:buFont typeface="Wingdings" panose="05000000000000000000" pitchFamily="2" charset="2"/>
              <a:buChar char="§"/>
            </a:pPr>
            <a:r>
              <a:rPr lang="en-US" sz="1600" b="1" dirty="0" err="1">
                <a:solidFill>
                  <a:schemeClr val="bg2">
                    <a:lumMod val="10000"/>
                  </a:schemeClr>
                </a:solidFill>
                <a:latin typeface="+mj-lt"/>
              </a:rPr>
              <a:t>mousedown</a:t>
            </a:r>
            <a:r>
              <a:rPr lang="en-US" sz="1600" b="1" dirty="0">
                <a:solidFill>
                  <a:schemeClr val="bg2">
                    <a:lumMod val="10000"/>
                  </a:schemeClr>
                </a:solidFill>
                <a:latin typeface="+mj-lt"/>
              </a:rPr>
              <a:t> / </a:t>
            </a:r>
            <a:r>
              <a:rPr lang="en-US" sz="1600" b="1" dirty="0" err="1">
                <a:solidFill>
                  <a:schemeClr val="bg2">
                    <a:lumMod val="10000"/>
                  </a:schemeClr>
                </a:solidFill>
                <a:latin typeface="+mj-lt"/>
              </a:rPr>
              <a:t>mouseup</a:t>
            </a:r>
            <a:r>
              <a:rPr lang="en-US" sz="1600" b="1" dirty="0">
                <a:solidFill>
                  <a:schemeClr val="bg2">
                    <a:lumMod val="10000"/>
                  </a:schemeClr>
                </a:solidFill>
                <a:latin typeface="+mj-lt"/>
              </a:rPr>
              <a:t>: When the mouse button is pressed and released respectively (great for creating Drag &amp; Drop functionality).</a:t>
            </a:r>
          </a:p>
          <a:p>
            <a:pPr marL="285750" indent="-285750">
              <a:lnSpc>
                <a:spcPct val="150000"/>
              </a:lnSpc>
              <a:buFont typeface="Wingdings" panose="05000000000000000000" pitchFamily="2" charset="2"/>
              <a:buChar char="§"/>
            </a:pPr>
            <a:r>
              <a:rPr lang="en-US" sz="1600" b="1" dirty="0" err="1">
                <a:solidFill>
                  <a:schemeClr val="bg2">
                    <a:lumMod val="10000"/>
                  </a:schemeClr>
                </a:solidFill>
                <a:latin typeface="+mj-lt"/>
              </a:rPr>
              <a:t>mouseenter</a:t>
            </a:r>
            <a:r>
              <a:rPr lang="en-US" sz="1600" b="1" dirty="0">
                <a:solidFill>
                  <a:schemeClr val="bg2">
                    <a:lumMod val="10000"/>
                  </a:schemeClr>
                </a:solidFill>
                <a:latin typeface="+mj-lt"/>
              </a:rPr>
              <a:t> / </a:t>
            </a:r>
            <a:r>
              <a:rPr lang="en-US" sz="1600" b="1" dirty="0" err="1">
                <a:solidFill>
                  <a:schemeClr val="bg2">
                    <a:lumMod val="10000"/>
                  </a:schemeClr>
                </a:solidFill>
                <a:latin typeface="+mj-lt"/>
              </a:rPr>
              <a:t>mouseleave</a:t>
            </a:r>
            <a:r>
              <a:rPr lang="en-US" sz="1600" b="1" dirty="0">
                <a:solidFill>
                  <a:schemeClr val="bg2">
                    <a:lumMod val="10000"/>
                  </a:schemeClr>
                </a:solidFill>
                <a:latin typeface="+mj-lt"/>
              </a:rPr>
              <a:t>: When the mouse pointer enters or leaves the bounds of an element. (Great for complex hovers).</a:t>
            </a:r>
          </a:p>
          <a:p>
            <a:pPr>
              <a:lnSpc>
                <a:spcPct val="150000"/>
              </a:lnSpc>
            </a:pPr>
            <a:r>
              <a:rPr lang="en-US" sz="1600" b="1" dirty="0">
                <a:solidFill>
                  <a:srgbClr val="FF99CC"/>
                </a:solidFill>
                <a:latin typeface="+mj-lt"/>
              </a:rPr>
              <a:t>2.</a:t>
            </a:r>
            <a:r>
              <a:rPr lang="en-US" sz="1600" b="1" dirty="0">
                <a:solidFill>
                  <a:srgbClr val="FF99CC"/>
                </a:solidFill>
              </a:rPr>
              <a:t> Keyboard Events</a:t>
            </a:r>
            <a:br>
              <a:rPr lang="en-US" sz="1600" b="1" dirty="0">
                <a:solidFill>
                  <a:schemeClr val="bg2">
                    <a:lumMod val="10000"/>
                  </a:schemeClr>
                </a:solidFill>
                <a:latin typeface="+mj-lt"/>
              </a:rPr>
            </a:br>
            <a:r>
              <a:rPr lang="en-US" sz="1600" b="1" dirty="0">
                <a:solidFill>
                  <a:schemeClr val="bg2">
                    <a:lumMod val="10000"/>
                  </a:schemeClr>
                </a:solidFill>
                <a:latin typeface="+mj-lt"/>
              </a:rPr>
              <a:t>For when the user types into an Input or plays with the arrow keys.</a:t>
            </a:r>
          </a:p>
          <a:p>
            <a:pPr marL="285750" indent="-285750">
              <a:lnSpc>
                <a:spcPct val="150000"/>
              </a:lnSpc>
              <a:buFont typeface="Wingdings" panose="05000000000000000000" pitchFamily="2" charset="2"/>
              <a:buChar char="§"/>
            </a:pPr>
            <a:r>
              <a:rPr lang="en-US" sz="1600" b="1" dirty="0" err="1">
                <a:solidFill>
                  <a:schemeClr val="bg2">
                    <a:lumMod val="10000"/>
                  </a:schemeClr>
                </a:solidFill>
                <a:latin typeface="+mj-lt"/>
              </a:rPr>
              <a:t>keydown</a:t>
            </a:r>
            <a:r>
              <a:rPr lang="en-US" sz="1600" b="1" dirty="0">
                <a:solidFill>
                  <a:schemeClr val="bg2">
                    <a:lumMod val="10000"/>
                  </a:schemeClr>
                </a:solidFill>
                <a:latin typeface="+mj-lt"/>
              </a:rPr>
              <a:t>: The moment the key is pressed (even if held down, it will repeat continuously).</a:t>
            </a:r>
          </a:p>
          <a:p>
            <a:pPr marL="285750" indent="-285750">
              <a:lnSpc>
                <a:spcPct val="150000"/>
              </a:lnSpc>
              <a:buFont typeface="Wingdings" panose="05000000000000000000" pitchFamily="2" charset="2"/>
              <a:buChar char="§"/>
            </a:pPr>
            <a:r>
              <a:rPr lang="en-US" sz="1600" b="1" dirty="0" err="1">
                <a:solidFill>
                  <a:schemeClr val="bg2">
                    <a:lumMod val="10000"/>
                  </a:schemeClr>
                </a:solidFill>
                <a:latin typeface="+mj-lt"/>
              </a:rPr>
              <a:t>keyup</a:t>
            </a:r>
            <a:r>
              <a:rPr lang="en-US" sz="1600" b="1" dirty="0">
                <a:solidFill>
                  <a:schemeClr val="bg2">
                    <a:lumMod val="10000"/>
                  </a:schemeClr>
                </a:solidFill>
                <a:latin typeface="+mj-lt"/>
              </a:rPr>
              <a:t>: The moment the user lifts their hand off the key.</a:t>
            </a:r>
          </a:p>
        </p:txBody>
      </p:sp>
    </p:spTree>
    <p:extLst>
      <p:ext uri="{BB962C8B-B14F-4D97-AF65-F5344CB8AC3E}">
        <p14:creationId xmlns:p14="http://schemas.microsoft.com/office/powerpoint/2010/main" val="1653664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788462" y="783955"/>
            <a:ext cx="10615076" cy="3378104"/>
          </a:xfrm>
          <a:prstGeom prst="rect">
            <a:avLst/>
          </a:prstGeom>
          <a:noFill/>
        </p:spPr>
        <p:txBody>
          <a:bodyPr wrap="square" rtlCol="0">
            <a:spAutoFit/>
          </a:bodyPr>
          <a:lstStyle/>
          <a:p>
            <a:pPr>
              <a:lnSpc>
                <a:spcPct val="150000"/>
              </a:lnSpc>
            </a:pPr>
            <a:r>
              <a:rPr lang="en-US" sz="1600" b="1" dirty="0">
                <a:solidFill>
                  <a:srgbClr val="FF99CC"/>
                </a:solidFill>
              </a:rPr>
              <a:t>Events</a:t>
            </a:r>
            <a:r>
              <a:rPr lang="fa-IR" sz="1600" b="1" dirty="0">
                <a:solidFill>
                  <a:srgbClr val="FF99CC"/>
                </a:solidFill>
              </a:rPr>
              <a:t>:</a:t>
            </a:r>
            <a:endParaRPr lang="en-US" sz="1600" b="1" dirty="0">
              <a:solidFill>
                <a:srgbClr val="FF99CC"/>
              </a:solidFill>
            </a:endParaRPr>
          </a:p>
          <a:p>
            <a:pPr>
              <a:lnSpc>
                <a:spcPct val="150000"/>
              </a:lnSpc>
            </a:pPr>
            <a:r>
              <a:rPr lang="en-US" sz="1600" b="1" dirty="0">
                <a:solidFill>
                  <a:srgbClr val="FF99CC"/>
                </a:solidFill>
                <a:latin typeface="+mj-lt"/>
              </a:rPr>
              <a:t>3.</a:t>
            </a:r>
            <a:r>
              <a:rPr lang="en-US" sz="1600" b="1" dirty="0"/>
              <a:t> </a:t>
            </a:r>
            <a:r>
              <a:rPr lang="en-US" sz="1600" b="1" dirty="0">
                <a:solidFill>
                  <a:srgbClr val="FF99CC"/>
                </a:solidFill>
              </a:rPr>
              <a:t>Form Events</a:t>
            </a:r>
            <a:r>
              <a:rPr lang="en-US" sz="1600" b="1" dirty="0">
                <a:solidFill>
                  <a:srgbClr val="FF99CC"/>
                </a:solidFill>
                <a:latin typeface="+mj-lt"/>
              </a:rPr>
              <a:t> </a:t>
            </a:r>
          </a:p>
          <a:p>
            <a:pPr marL="285750" indent="-285750">
              <a:lnSpc>
                <a:spcPct val="150000"/>
              </a:lnSpc>
              <a:buFont typeface="Wingdings" panose="05000000000000000000" pitchFamily="2" charset="2"/>
              <a:buChar char="§"/>
            </a:pPr>
            <a:r>
              <a:rPr lang="en-US" sz="1600" dirty="0">
                <a:solidFill>
                  <a:schemeClr val="bg2">
                    <a:lumMod val="10000"/>
                  </a:schemeClr>
                </a:solidFill>
              </a:rPr>
              <a:t>submit: When the form is submitted. (Reminder: Be sure to call </a:t>
            </a:r>
            <a:r>
              <a:rPr lang="en-US" sz="1600" dirty="0" err="1">
                <a:solidFill>
                  <a:schemeClr val="bg2">
                    <a:lumMod val="10000"/>
                  </a:schemeClr>
                </a:solidFill>
              </a:rPr>
              <a:t>e.preventDefault</a:t>
            </a:r>
            <a:r>
              <a:rPr lang="en-US" sz="1600" dirty="0">
                <a:solidFill>
                  <a:schemeClr val="bg2">
                    <a:lumMod val="10000"/>
                  </a:schemeClr>
                </a:solidFill>
              </a:rPr>
              <a:t>() here to avoid a page refresh.)</a:t>
            </a:r>
          </a:p>
          <a:p>
            <a:pPr marL="285750" indent="-285750">
              <a:lnSpc>
                <a:spcPct val="150000"/>
              </a:lnSpc>
              <a:buFont typeface="Wingdings" panose="05000000000000000000" pitchFamily="2" charset="2"/>
              <a:buChar char="§"/>
            </a:pPr>
            <a:r>
              <a:rPr lang="en-US" sz="1600" dirty="0">
                <a:solidFill>
                  <a:schemeClr val="tx1">
                    <a:lumMod val="95000"/>
                    <a:lumOff val="5000"/>
                  </a:schemeClr>
                </a:solidFill>
              </a:rPr>
              <a:t>input: Every time the content of an input changes (even by one character). Best for Live Search.</a:t>
            </a:r>
          </a:p>
          <a:p>
            <a:pPr marL="285750" indent="-285750">
              <a:lnSpc>
                <a:spcPct val="150000"/>
              </a:lnSpc>
              <a:buFont typeface="Wingdings" panose="05000000000000000000" pitchFamily="2" charset="2"/>
              <a:buChar char="§"/>
            </a:pPr>
            <a:r>
              <a:rPr lang="en-US" sz="1600" dirty="0">
                <a:solidFill>
                  <a:schemeClr val="tx1">
                    <a:lumMod val="95000"/>
                    <a:lumOff val="5000"/>
                  </a:schemeClr>
                </a:solidFill>
              </a:rPr>
              <a:t>change: When the user changes the value and exits the field (Blur). Great for Checkboxes and Select Boxes.</a:t>
            </a:r>
          </a:p>
          <a:p>
            <a:pPr marL="285750" indent="-285750">
              <a:lnSpc>
                <a:spcPct val="150000"/>
              </a:lnSpc>
              <a:buFont typeface="Wingdings" panose="05000000000000000000" pitchFamily="2" charset="2"/>
              <a:buChar char="§"/>
            </a:pPr>
            <a:r>
              <a:rPr lang="en-US" sz="1600" dirty="0">
                <a:solidFill>
                  <a:schemeClr val="tx1">
                    <a:lumMod val="95000"/>
                    <a:lumOff val="5000"/>
                  </a:schemeClr>
                </a:solidFill>
              </a:rPr>
              <a:t>focus : When the user clicks on a field (enters) and when they exit it.2. Keyboard Events</a:t>
            </a:r>
            <a:endParaRPr lang="en-US" sz="1600" b="1" dirty="0">
              <a:solidFill>
                <a:schemeClr val="tx1">
                  <a:lumMod val="95000"/>
                  <a:lumOff val="5000"/>
                </a:schemeClr>
              </a:solidFill>
            </a:endParaRPr>
          </a:p>
          <a:p>
            <a:pPr>
              <a:lnSpc>
                <a:spcPct val="150000"/>
              </a:lnSpc>
            </a:pPr>
            <a:r>
              <a:rPr lang="en-US" sz="1600" b="1" dirty="0">
                <a:solidFill>
                  <a:srgbClr val="FF99CC"/>
                </a:solidFill>
              </a:rPr>
              <a:t>4. Window &amp; Document Events</a:t>
            </a:r>
          </a:p>
          <a:p>
            <a:pPr>
              <a:lnSpc>
                <a:spcPct val="150000"/>
              </a:lnSpc>
            </a:pPr>
            <a:r>
              <a:rPr lang="en-US" sz="1600" b="1" dirty="0">
                <a:solidFill>
                  <a:schemeClr val="tx1">
                    <a:lumMod val="95000"/>
                    <a:lumOff val="5000"/>
                  </a:schemeClr>
                </a:solidFill>
                <a:latin typeface="+mj-lt"/>
              </a:rPr>
              <a:t>These events are for the entire page, not a specific element.</a:t>
            </a:r>
          </a:p>
          <a:p>
            <a:pPr marL="285750" indent="-285750">
              <a:lnSpc>
                <a:spcPct val="150000"/>
              </a:lnSpc>
              <a:buFont typeface="Wingdings" panose="05000000000000000000" pitchFamily="2" charset="2"/>
              <a:buChar char="§"/>
            </a:pPr>
            <a:r>
              <a:rPr lang="en-US" sz="1600" b="1" dirty="0" err="1">
                <a:solidFill>
                  <a:schemeClr val="tx1">
                    <a:lumMod val="95000"/>
                    <a:lumOff val="5000"/>
                  </a:schemeClr>
                </a:solidFill>
                <a:latin typeface="+mj-lt"/>
              </a:rPr>
              <a:t>DOMContentLoaded</a:t>
            </a:r>
            <a:r>
              <a:rPr lang="en-US" sz="1600" b="1" dirty="0">
                <a:solidFill>
                  <a:schemeClr val="tx1">
                    <a:lumMod val="95000"/>
                    <a:lumOff val="5000"/>
                  </a:schemeClr>
                </a:solidFill>
                <a:latin typeface="+mj-lt"/>
              </a:rPr>
              <a:t>: When the HTML structure is fully loaded (without waiting for images). Best place to start JS code</a:t>
            </a:r>
            <a:r>
              <a:rPr lang="en-US" sz="1600" b="1" dirty="0">
                <a:solidFill>
                  <a:srgbClr val="FF99CC"/>
                </a:solidFill>
                <a:latin typeface="+mj-lt"/>
              </a:rPr>
              <a:t>.</a:t>
            </a:r>
          </a:p>
        </p:txBody>
      </p:sp>
    </p:spTree>
    <p:extLst>
      <p:ext uri="{BB962C8B-B14F-4D97-AF65-F5344CB8AC3E}">
        <p14:creationId xmlns:p14="http://schemas.microsoft.com/office/powerpoint/2010/main" val="936648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661462" y="462222"/>
            <a:ext cx="10615076" cy="3378104"/>
          </a:xfrm>
          <a:prstGeom prst="rect">
            <a:avLst/>
          </a:prstGeom>
          <a:noFill/>
        </p:spPr>
        <p:txBody>
          <a:bodyPr wrap="square" rtlCol="0">
            <a:spAutoFit/>
          </a:bodyPr>
          <a:lstStyle/>
          <a:p>
            <a:pPr>
              <a:lnSpc>
                <a:spcPct val="150000"/>
              </a:lnSpc>
            </a:pPr>
            <a:r>
              <a:rPr lang="en-US" sz="1600" b="1" dirty="0" err="1">
                <a:solidFill>
                  <a:schemeClr val="accent6">
                    <a:lumMod val="60000"/>
                    <a:lumOff val="40000"/>
                  </a:schemeClr>
                </a:solidFill>
              </a:rPr>
              <a:t>e.preventDefault</a:t>
            </a:r>
            <a:r>
              <a:rPr lang="en-US" sz="1600" b="1" dirty="0">
                <a:solidFill>
                  <a:schemeClr val="accent6">
                    <a:lumMod val="60000"/>
                    <a:lumOff val="40000"/>
                  </a:schemeClr>
                </a:solidFill>
              </a:rPr>
              <a:t>() </a:t>
            </a:r>
          </a:p>
          <a:p>
            <a:pPr>
              <a:lnSpc>
                <a:spcPct val="150000"/>
              </a:lnSpc>
            </a:pPr>
            <a:r>
              <a:rPr lang="en-US" sz="1600" dirty="0">
                <a:solidFill>
                  <a:schemeClr val="tx1">
                    <a:lumMod val="95000"/>
                    <a:lumOff val="5000"/>
                  </a:schemeClr>
                </a:solidFill>
              </a:rPr>
              <a:t>In HTML, some elements have a default behavior. This means that the browser is programmed to do a specific thing when something happens to them.</a:t>
            </a:r>
          </a:p>
          <a:p>
            <a:pPr>
              <a:lnSpc>
                <a:spcPct val="150000"/>
              </a:lnSpc>
            </a:pPr>
            <a:r>
              <a:rPr lang="en-US" sz="1600" dirty="0">
                <a:solidFill>
                  <a:schemeClr val="tx1">
                    <a:lumMod val="95000"/>
                    <a:lumOff val="5000"/>
                  </a:schemeClr>
                </a:solidFill>
              </a:rPr>
              <a:t>Two very important examples:</a:t>
            </a:r>
          </a:p>
          <a:p>
            <a:pPr marL="285750" indent="-285750">
              <a:lnSpc>
                <a:spcPct val="150000"/>
              </a:lnSpc>
              <a:buFont typeface="Wingdings" panose="05000000000000000000" pitchFamily="2" charset="2"/>
              <a:buChar char="§"/>
            </a:pPr>
            <a:r>
              <a:rPr lang="en-US" sz="1600" dirty="0">
                <a:solidFill>
                  <a:schemeClr val="tx1">
                    <a:lumMod val="95000"/>
                    <a:lumOff val="5000"/>
                  </a:schemeClr>
                </a:solidFill>
              </a:rPr>
              <a:t>Forms (&lt;form&gt;): When the Submit button is clicked, the browser collects information and sends it to the action address and refreshes the page.</a:t>
            </a:r>
          </a:p>
          <a:p>
            <a:pPr marL="285750" indent="-285750">
              <a:lnSpc>
                <a:spcPct val="150000"/>
              </a:lnSpc>
              <a:buFont typeface="Wingdings" panose="05000000000000000000" pitchFamily="2" charset="2"/>
              <a:buChar char="§"/>
            </a:pPr>
            <a:r>
              <a:rPr lang="en-US" sz="1600" dirty="0">
                <a:solidFill>
                  <a:schemeClr val="tx1">
                    <a:lumMod val="95000"/>
                    <a:lumOff val="5000"/>
                  </a:schemeClr>
                </a:solidFill>
              </a:rPr>
              <a:t>Links (&lt;a&gt;): When you click on a link, the browser takes you to the </a:t>
            </a:r>
            <a:r>
              <a:rPr lang="en-US" sz="1600" dirty="0" err="1">
                <a:solidFill>
                  <a:schemeClr val="tx1">
                    <a:lumMod val="95000"/>
                    <a:lumOff val="5000"/>
                  </a:schemeClr>
                </a:solidFill>
              </a:rPr>
              <a:t>href</a:t>
            </a:r>
            <a:r>
              <a:rPr lang="en-US" sz="1600" dirty="0">
                <a:solidFill>
                  <a:schemeClr val="tx1">
                    <a:lumMod val="95000"/>
                    <a:lumOff val="5000"/>
                  </a:schemeClr>
                </a:solidFill>
              </a:rPr>
              <a:t> address.</a:t>
            </a:r>
          </a:p>
          <a:p>
            <a:pPr>
              <a:lnSpc>
                <a:spcPct val="150000"/>
              </a:lnSpc>
            </a:pPr>
            <a:r>
              <a:rPr lang="en-US" sz="1600" b="1" dirty="0" err="1">
                <a:solidFill>
                  <a:schemeClr val="accent6">
                    <a:lumMod val="60000"/>
                    <a:lumOff val="40000"/>
                  </a:schemeClr>
                </a:solidFill>
              </a:rPr>
              <a:t>e.preventDefault</a:t>
            </a:r>
            <a:r>
              <a:rPr lang="en-US" sz="1600" b="1" dirty="0">
                <a:solidFill>
                  <a:schemeClr val="accent6">
                    <a:lumMod val="60000"/>
                    <a:lumOff val="40000"/>
                  </a:schemeClr>
                </a:solidFill>
              </a:rPr>
              <a:t>() is a message to the browser that says: "Stop! Don't do your usual behavior, I'm going to handle this myself with JavaScript."</a:t>
            </a:r>
            <a:endParaRPr lang="en-US" sz="1600" b="1" dirty="0">
              <a:solidFill>
                <a:schemeClr val="accent6">
                  <a:lumMod val="60000"/>
                  <a:lumOff val="40000"/>
                </a:schemeClr>
              </a:solidFill>
              <a:latin typeface="+mj-lt"/>
            </a:endParaRPr>
          </a:p>
        </p:txBody>
      </p:sp>
      <p:pic>
        <p:nvPicPr>
          <p:cNvPr id="5" name="Picture 4">
            <a:extLst>
              <a:ext uri="{FF2B5EF4-FFF2-40B4-BE49-F238E27FC236}">
                <a16:creationId xmlns:a16="http://schemas.microsoft.com/office/drawing/2014/main" id="{FF5511B7-18E0-46F9-A11E-12EC7DF064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839" y="4079406"/>
            <a:ext cx="5465161" cy="2426308"/>
          </a:xfrm>
          <a:prstGeom prst="rect">
            <a:avLst/>
          </a:prstGeom>
        </p:spPr>
      </p:pic>
      <p:pic>
        <p:nvPicPr>
          <p:cNvPr id="7" name="Picture 6">
            <a:extLst>
              <a:ext uri="{FF2B5EF4-FFF2-40B4-BE49-F238E27FC236}">
                <a16:creationId xmlns:a16="http://schemas.microsoft.com/office/drawing/2014/main" id="{FC687CA8-5D57-4EC7-9219-3D4E60C1B777}"/>
              </a:ext>
            </a:extLst>
          </p:cNvPr>
          <p:cNvPicPr>
            <a:picLocks noChangeAspect="1"/>
          </p:cNvPicPr>
          <p:nvPr/>
        </p:nvPicPr>
        <p:blipFill rotWithShape="1">
          <a:blip r:embed="rId3">
            <a:extLst>
              <a:ext uri="{28A0092B-C50C-407E-A947-70E740481C1C}">
                <a14:useLocalDpi xmlns:a14="http://schemas.microsoft.com/office/drawing/2010/main" val="0"/>
              </a:ext>
            </a:extLst>
          </a:blip>
          <a:srcRect r="19764"/>
          <a:stretch/>
        </p:blipFill>
        <p:spPr>
          <a:xfrm>
            <a:off x="6096000" y="4079406"/>
            <a:ext cx="5465161" cy="2426308"/>
          </a:xfrm>
          <a:prstGeom prst="rect">
            <a:avLst/>
          </a:prstGeom>
        </p:spPr>
      </p:pic>
    </p:spTree>
    <p:extLst>
      <p:ext uri="{BB962C8B-B14F-4D97-AF65-F5344CB8AC3E}">
        <p14:creationId xmlns:p14="http://schemas.microsoft.com/office/powerpoint/2010/main" val="3066610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661462" y="724689"/>
            <a:ext cx="10615076" cy="1531445"/>
          </a:xfrm>
          <a:prstGeom prst="rect">
            <a:avLst/>
          </a:prstGeom>
          <a:noFill/>
        </p:spPr>
        <p:txBody>
          <a:bodyPr wrap="square" rtlCol="0">
            <a:spAutoFit/>
          </a:bodyPr>
          <a:lstStyle/>
          <a:p>
            <a:pPr>
              <a:lnSpc>
                <a:spcPct val="150000"/>
              </a:lnSpc>
            </a:pPr>
            <a:r>
              <a:rPr lang="en-US" sz="1600" b="1" dirty="0">
                <a:solidFill>
                  <a:srgbClr val="456328"/>
                </a:solidFill>
              </a:rPr>
              <a:t>E or Event :</a:t>
            </a:r>
          </a:p>
          <a:p>
            <a:pPr>
              <a:lnSpc>
                <a:spcPct val="150000"/>
              </a:lnSpc>
            </a:pPr>
            <a:r>
              <a:rPr lang="en-US" sz="1600" dirty="0">
                <a:solidFill>
                  <a:schemeClr val="bg2">
                    <a:lumMod val="10000"/>
                  </a:schemeClr>
                </a:solidFill>
              </a:rPr>
              <a:t>When we create an event listener, JavaScript automatically passes an object containing information about that event to our function. We usually call it e or event. The </a:t>
            </a:r>
            <a:r>
              <a:rPr lang="en-US" sz="1600" dirty="0" err="1">
                <a:solidFill>
                  <a:schemeClr val="bg2">
                    <a:lumMod val="10000"/>
                  </a:schemeClr>
                </a:solidFill>
              </a:rPr>
              <a:t>preventDefault</a:t>
            </a:r>
            <a:r>
              <a:rPr lang="en-US" sz="1600" dirty="0">
                <a:solidFill>
                  <a:schemeClr val="bg2">
                    <a:lumMod val="10000"/>
                  </a:schemeClr>
                </a:solidFill>
              </a:rPr>
              <a:t>() method is one of the tools inside this object.</a:t>
            </a:r>
          </a:p>
          <a:p>
            <a:pPr>
              <a:lnSpc>
                <a:spcPct val="150000"/>
              </a:lnSpc>
            </a:pPr>
            <a:endParaRPr lang="en-US" sz="1600" b="1" dirty="0">
              <a:solidFill>
                <a:schemeClr val="accent6">
                  <a:lumMod val="60000"/>
                  <a:lumOff val="40000"/>
                </a:schemeClr>
              </a:solidFill>
              <a:latin typeface="+mj-lt"/>
            </a:endParaRPr>
          </a:p>
        </p:txBody>
      </p:sp>
      <p:pic>
        <p:nvPicPr>
          <p:cNvPr id="3" name="Picture 2">
            <a:extLst>
              <a:ext uri="{FF2B5EF4-FFF2-40B4-BE49-F238E27FC236}">
                <a16:creationId xmlns:a16="http://schemas.microsoft.com/office/drawing/2014/main" id="{3B822B88-C396-43AA-B87E-3E38C62F32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3709" y="2526161"/>
            <a:ext cx="5734850" cy="1162212"/>
          </a:xfrm>
          <a:prstGeom prst="rect">
            <a:avLst/>
          </a:prstGeom>
        </p:spPr>
      </p:pic>
    </p:spTree>
    <p:extLst>
      <p:ext uri="{BB962C8B-B14F-4D97-AF65-F5344CB8AC3E}">
        <p14:creationId xmlns:p14="http://schemas.microsoft.com/office/powerpoint/2010/main" val="30762838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8155</TotalTime>
  <Words>1558</Words>
  <Application>Microsoft Office PowerPoint</Application>
  <PresentationFormat>Widescreen</PresentationFormat>
  <Paragraphs>123</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Google Sans Text</vt:lpstr>
      <vt:lpstr>Wingdings</vt:lpstr>
      <vt:lpstr>Office Theme</vt:lpstr>
      <vt:lpstr>Special topics  Session 12    Al-Zahra university  Maryam zim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maryam.zim@PART.LOCAL</dc:creator>
  <cp:lastModifiedBy>maryam.zim@PART.LOCAL</cp:lastModifiedBy>
  <cp:revision>123</cp:revision>
  <dcterms:created xsi:type="dcterms:W3CDTF">2025-10-04T12:24:50Z</dcterms:created>
  <dcterms:modified xsi:type="dcterms:W3CDTF">2025-12-24T16:17:56Z</dcterms:modified>
</cp:coreProperties>
</file>