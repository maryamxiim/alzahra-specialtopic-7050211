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5" r:id="rId3"/>
    <p:sldId id="256" r:id="rId4"/>
    <p:sldId id="318" r:id="rId5"/>
    <p:sldId id="319" r:id="rId6"/>
    <p:sldId id="320" r:id="rId7"/>
    <p:sldId id="315" r:id="rId8"/>
    <p:sldId id="317" r:id="rId9"/>
    <p:sldId id="321" r:id="rId10"/>
    <p:sldId id="322" r:id="rId11"/>
    <p:sldId id="323" r:id="rId12"/>
    <p:sldId id="324" r:id="rId13"/>
    <p:sldId id="316" r:id="rId14"/>
    <p:sldId id="326" r:id="rId15"/>
    <p:sldId id="327" r:id="rId16"/>
    <p:sldId id="328" r:id="rId17"/>
    <p:sldId id="329" r:id="rId18"/>
    <p:sldId id="330" r:id="rId19"/>
    <p:sldId id="331" r:id="rId20"/>
    <p:sldId id="33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FF6699"/>
    <a:srgbClr val="6666FF"/>
    <a:srgbClr val="0099CC"/>
    <a:srgbClr val="FF99CC"/>
    <a:srgbClr val="AC1455"/>
    <a:srgbClr val="9D2F23"/>
    <a:srgbClr val="456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83" autoAdjust="0"/>
    <p:restoredTop sz="94660"/>
  </p:normalViewPr>
  <p:slideViewPr>
    <p:cSldViewPr snapToGrid="0">
      <p:cViewPr>
        <p:scale>
          <a:sx n="100" d="100"/>
          <a:sy n="100" d="100"/>
        </p:scale>
        <p:origin x="138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 dirty="0"/>
              <a:t>Session 8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2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611358" y="576152"/>
            <a:ext cx="10615076" cy="1665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2D050"/>
                </a:solidFill>
              </a:rPr>
              <a:t>Operator 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Operators are a special symbol or keyword that tells JavaScript to perform an action on one or more operands.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79E9D51A-3741-4F10-AA04-E53731288C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9FAC69F-BAD6-48C2-8BDB-1A6D90F93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117" y="1787525"/>
            <a:ext cx="42291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83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26690" y="394488"/>
            <a:ext cx="10615076" cy="157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Operator:</a:t>
            </a: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JavaScript has several categories of operators, categorized by the type of operation they perform: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1. Arithmetic Operators: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These operators perform basic mathematical calculations on numbers.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871754-95BF-45B9-8A59-4E8055D86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639486"/>
              </p:ext>
            </p:extLst>
          </p:nvPr>
        </p:nvGraphicFramePr>
        <p:xfrm>
          <a:off x="702734" y="2612762"/>
          <a:ext cx="10515600" cy="29870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393977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84934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708163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1828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Operator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Result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84196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+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Addition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5 + 3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5851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-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Subtraction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10 - 4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0930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*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Multiplication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6 * 2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12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9912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/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Division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10 / 2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50021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++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Increment (adds 1)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x++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x = x + 1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45290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--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Decrement (subtracts 1)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x--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x = x - 1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8617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9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6DF4CA-0A76-45E3-9931-0B4FDAAACE6C}"/>
              </a:ext>
            </a:extLst>
          </p:cNvPr>
          <p:cNvSpPr txBox="1"/>
          <p:nvPr/>
        </p:nvSpPr>
        <p:spPr>
          <a:xfrm>
            <a:off x="524934" y="440266"/>
            <a:ext cx="9050867" cy="3424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Increment (++) and Decrement (--)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Both ++ and -- are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unary operators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(they operate on a single operand).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++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adds 1 to the variable.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--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subtracts 1 from the variable.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 difference appears when these operators are used within a larger expression that returns a value.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Postfix Operators (x++ or x--)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 postfix form, the operator comes after the variable (e.g., x++).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Timing: The variable is incremented/decremented after the value of the expression is returned.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Return Value: The expression evaluates to the variable's original value (before the change).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4AC15C-9C6B-4E16-97E6-593C1CEB8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496" y="3997195"/>
            <a:ext cx="6701904" cy="254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4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6DF4CA-0A76-45E3-9931-0B4FDAAACE6C}"/>
              </a:ext>
            </a:extLst>
          </p:cNvPr>
          <p:cNvSpPr txBox="1"/>
          <p:nvPr/>
        </p:nvSpPr>
        <p:spPr>
          <a:xfrm>
            <a:off x="533400" y="626532"/>
            <a:ext cx="9050867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Prefix Operators (++x or --x)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 prefix form, the operator comes before the variable (e.g., ++x).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Timing: The variable is incremented/decremented before the value of the expression is returned.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Return Value: The expression evaluates to the variable's new value (after the change).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D1DC3-D2CA-4C71-8C14-4971D23E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551" y="2809454"/>
            <a:ext cx="7487695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785F3D-0491-4DD3-BCD6-BE15E2700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47128"/>
              </p:ext>
            </p:extLst>
          </p:nvPr>
        </p:nvGraphicFramePr>
        <p:xfrm>
          <a:off x="601133" y="2070894"/>
          <a:ext cx="10515600" cy="16154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892115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444037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0212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US" b="1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Postfix (x++)</a:t>
                      </a:r>
                      <a:endParaRPr lang="en-US" b="1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Prefix (++x)</a:t>
                      </a:r>
                      <a:endParaRPr lang="en-US" b="1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6275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Operation Position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After the variable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Before the variable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9469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Variable Change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Happens after the expression returns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Happens before the expression returns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1933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600" b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Value Returned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original value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new value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241926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C211DA-846D-4A7F-9018-7EF0CB473B82}"/>
              </a:ext>
            </a:extLst>
          </p:cNvPr>
          <p:cNvSpPr txBox="1"/>
          <p:nvPr/>
        </p:nvSpPr>
        <p:spPr>
          <a:xfrm>
            <a:off x="601133" y="618067"/>
            <a:ext cx="8322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Soooooooo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: 🤯 </a:t>
            </a:r>
          </a:p>
        </p:txBody>
      </p:sp>
    </p:spTree>
    <p:extLst>
      <p:ext uri="{BB962C8B-B14F-4D97-AF65-F5344CB8AC3E}">
        <p14:creationId xmlns:p14="http://schemas.microsoft.com/office/powerpoint/2010/main" val="4200379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35B130-FBE3-4ACE-A896-F13B1D185D28}"/>
              </a:ext>
            </a:extLst>
          </p:cNvPr>
          <p:cNvSpPr txBox="1"/>
          <p:nvPr/>
        </p:nvSpPr>
        <p:spPr>
          <a:xfrm>
            <a:off x="526690" y="394488"/>
            <a:ext cx="10615076" cy="120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Operator:</a:t>
            </a: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2. Assignment Operators: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These operators are used to assign a value to a variable. The most common is the simple assignment operator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(=).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AF797E-E219-492C-A42B-FDA37A268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28615"/>
              </p:ext>
            </p:extLst>
          </p:nvPr>
        </p:nvGraphicFramePr>
        <p:xfrm>
          <a:off x="626166" y="2106454"/>
          <a:ext cx="10515600" cy="365442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17877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949442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68381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3596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Operator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Equivalent to...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3275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=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Assigns the value on the right to the variable on the left.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let x = 10;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-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9950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+=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Addition assignment.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x += 5;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x = x + 5;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8276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-=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Subtraction assignment.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x -= 2;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x = x - 2;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9220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*=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Multiplication assignment.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x *= 3;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x = x * 3;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0859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/=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Division assignment.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x /= 2;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x = x / 2;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98994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14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35B130-FBE3-4ACE-A896-F13B1D185D28}"/>
              </a:ext>
            </a:extLst>
          </p:cNvPr>
          <p:cNvSpPr txBox="1"/>
          <p:nvPr/>
        </p:nvSpPr>
        <p:spPr>
          <a:xfrm>
            <a:off x="526690" y="394488"/>
            <a:ext cx="10615076" cy="157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Operator:</a:t>
            </a: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3. Comparison Operators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These operators compare two operands and return a Boolean value (true or false). They are essential for control flow structures like if statements.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2A6AA8-0ABF-4893-AF67-B934DFC47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758977"/>
              </p:ext>
            </p:extLst>
          </p:nvPr>
        </p:nvGraphicFramePr>
        <p:xfrm>
          <a:off x="1760473" y="2216668"/>
          <a:ext cx="7942920" cy="444978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985730">
                  <a:extLst>
                    <a:ext uri="{9D8B030D-6E8A-4147-A177-3AD203B41FA5}">
                      <a16:colId xmlns:a16="http://schemas.microsoft.com/office/drawing/2014/main" val="1556260539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2457686759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1713959686"/>
                    </a:ext>
                  </a:extLst>
                </a:gridCol>
                <a:gridCol w="1985730">
                  <a:extLst>
                    <a:ext uri="{9D8B030D-6E8A-4147-A177-3AD203B41FA5}">
                      <a16:colId xmlns:a16="http://schemas.microsoft.com/office/drawing/2014/main" val="3717726175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Operator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Example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Result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1448521322"/>
                  </a:ext>
                </a:extLst>
              </a:tr>
              <a:tr h="736734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==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Equal to (checks value, but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ignores type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- avoided in modern JS).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5 == "5"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3398516079"/>
                  </a:ext>
                </a:extLst>
              </a:tr>
              <a:tr h="736734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===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Strict Equal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(checks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both value AND type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- preferred).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5 === "5"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991631642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!=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Not equal to (ignores type).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5 != 6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2798811669"/>
                  </a:ext>
                </a:extLst>
              </a:tr>
              <a:tr h="736734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!==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Strict Not Equal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(checks both value AND type - preferred).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5 !== "5"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3554064088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&gt;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Greater than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7 &gt; 3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4005743046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&lt;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Less than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2 &lt; 8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1868137333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&gt;=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Greater than or equal to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4 &gt;= 4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314920324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&lt;=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Less than or equal to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5 &lt;= 1</a:t>
                      </a:r>
                    </a:p>
                  </a:txBody>
                  <a:tcPr marL="86336" marR="86336" marT="57557" marB="5755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</a:p>
                  </a:txBody>
                  <a:tcPr marL="86336" marR="86336" marT="57557" marB="57557" anchor="ctr"/>
                </a:tc>
                <a:extLst>
                  <a:ext uri="{0D108BD9-81ED-4DB2-BD59-A6C34878D82A}">
                    <a16:rowId xmlns:a16="http://schemas.microsoft.com/office/drawing/2014/main" val="3624563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989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288FEB-A7F7-4CEB-B1C6-D0872A405F19}"/>
              </a:ext>
            </a:extLst>
          </p:cNvPr>
          <p:cNvSpPr txBox="1"/>
          <p:nvPr/>
        </p:nvSpPr>
        <p:spPr>
          <a:xfrm>
            <a:off x="736600" y="618067"/>
            <a:ext cx="10295467" cy="5732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Before we know about last operator(logical operator) we should know about truthy and </a:t>
            </a:r>
            <a:r>
              <a:rPr lang="en-US" b="1" dirty="0" err="1"/>
              <a:t>falsy</a:t>
            </a:r>
            <a:r>
              <a:rPr lang="en-US" b="1" dirty="0"/>
              <a:t> in </a:t>
            </a:r>
            <a:r>
              <a:rPr lang="en-US" b="1" dirty="0" err="1"/>
              <a:t>javascript</a:t>
            </a:r>
            <a:r>
              <a:rPr lang="en-US" b="1" dirty="0"/>
              <a:t> :</a:t>
            </a:r>
          </a:p>
          <a:p>
            <a:pPr>
              <a:lnSpc>
                <a:spcPct val="150000"/>
              </a:lnSpc>
            </a:pPr>
            <a:r>
              <a:rPr lang="en-US" dirty="0"/>
              <a:t>So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99CC"/>
                </a:solidFill>
              </a:rPr>
              <a:t>What is truthy and </a:t>
            </a:r>
            <a:r>
              <a:rPr lang="en-US" b="1" dirty="0" err="1">
                <a:solidFill>
                  <a:srgbClr val="0099CC"/>
                </a:solidFill>
              </a:rPr>
              <a:t>falsy</a:t>
            </a:r>
            <a:r>
              <a:rPr lang="en-US" b="1" dirty="0">
                <a:solidFill>
                  <a:srgbClr val="0099CC"/>
                </a:solidFill>
              </a:rPr>
              <a:t> ?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Truthy and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Falsy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are concepts in JavaScript that define how values—even non-Boolean values like numbers and strings—are treated when evaluated in a Boolean context.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This evaluation happens automatically in control flow statements, such as if conditions, while loops, or when using logical operators like &amp;&amp; or ||.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99CC"/>
                </a:solidFill>
              </a:rPr>
              <a:t>1. </a:t>
            </a:r>
            <a:r>
              <a:rPr lang="en-US" sz="1600" dirty="0" err="1">
                <a:solidFill>
                  <a:srgbClr val="0099CC"/>
                </a:solidFill>
              </a:rPr>
              <a:t>Falsy</a:t>
            </a:r>
            <a:r>
              <a:rPr lang="en-US" sz="1600" dirty="0">
                <a:solidFill>
                  <a:srgbClr val="0099CC"/>
                </a:solidFill>
              </a:rPr>
              <a:t> Values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Falsy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value is a value that is considered false when encountered in a Boolean context.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There are only six values in JavaScript that are inherently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falsy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. Every other value is truthy.</a:t>
            </a:r>
          </a:p>
          <a:p>
            <a:pPr>
              <a:lnSpc>
                <a:spcPct val="150000"/>
              </a:lnSpc>
            </a:pPr>
            <a:r>
              <a:rPr lang="en-US" sz="6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Please look at next page 👀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385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12FE8E-01FD-47DD-BD40-E7B4FF9A2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19314"/>
              </p:ext>
            </p:extLst>
          </p:nvPr>
        </p:nvGraphicFramePr>
        <p:xfrm>
          <a:off x="648758" y="703908"/>
          <a:ext cx="10515600" cy="36271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289648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35237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3084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</a:rPr>
                        <a:t>Falsy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 Value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Data Type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2650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false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Boolean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The Boolean value itself.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797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number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The number zero.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44960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""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string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An empty string (zero length).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1877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null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object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Represents the intentional absence of an object value.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3822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undefined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undefined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A variable that has been declared but not assigned a value.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67463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NaN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</a:rPr>
                        <a:t>number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Stands for "Not a Number" (e.g., the result of 0/0).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775375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15A995-4173-4089-B376-79C7C70CFD33}"/>
              </a:ext>
            </a:extLst>
          </p:cNvPr>
          <p:cNvSpPr txBox="1"/>
          <p:nvPr/>
        </p:nvSpPr>
        <p:spPr>
          <a:xfrm>
            <a:off x="355599" y="71304"/>
            <a:ext cx="6096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99CC"/>
                </a:solidFill>
              </a:rPr>
              <a:t>1. </a:t>
            </a:r>
            <a:r>
              <a:rPr lang="en-US" sz="1800" dirty="0" err="1">
                <a:solidFill>
                  <a:srgbClr val="0099CC"/>
                </a:solidFill>
              </a:rPr>
              <a:t>Falsy</a:t>
            </a:r>
            <a:r>
              <a:rPr lang="en-US" sz="1800" dirty="0">
                <a:solidFill>
                  <a:srgbClr val="0099CC"/>
                </a:solidFill>
              </a:rPr>
              <a:t> Values: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F15EF1-EE99-4F8D-A1E6-59D85B2F3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353" y="4484998"/>
            <a:ext cx="5199038" cy="20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9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288FEB-A7F7-4CEB-B1C6-D0872A405F19}"/>
              </a:ext>
            </a:extLst>
          </p:cNvPr>
          <p:cNvSpPr txBox="1"/>
          <p:nvPr/>
        </p:nvSpPr>
        <p:spPr>
          <a:xfrm>
            <a:off x="736600" y="618067"/>
            <a:ext cx="10295467" cy="157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99CC"/>
                </a:solidFill>
              </a:rPr>
              <a:t>What is truthy and </a:t>
            </a:r>
            <a:r>
              <a:rPr lang="en-US" b="1" dirty="0" err="1">
                <a:solidFill>
                  <a:srgbClr val="0099CC"/>
                </a:solidFill>
              </a:rPr>
              <a:t>falsy</a:t>
            </a:r>
            <a:r>
              <a:rPr lang="en-US" b="1" dirty="0">
                <a:solidFill>
                  <a:srgbClr val="0099CC"/>
                </a:solidFill>
              </a:rPr>
              <a:t> ?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99CC"/>
                </a:solidFill>
              </a:rPr>
              <a:t>1. Truthy Values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 Truthy value is any value that is considered true when encountered in a Boolean context.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If a value is not one of the six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falsy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values listed above, it is truthy.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77B3FC-7CBA-494F-A3EB-3FE9C2724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798390"/>
              </p:ext>
            </p:extLst>
          </p:nvPr>
        </p:nvGraphicFramePr>
        <p:xfrm>
          <a:off x="838200" y="2736374"/>
          <a:ext cx="10515600" cy="2529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335255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21912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32757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Truthy Value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Examples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83023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All objects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Including arrays and functions.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{}, [], function() {}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82854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Non-empty strings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Any string with one or more characters, including strings containing only whitespace or "0".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"hello", "</a:t>
                      </a:r>
                      <a:r>
                        <a:rPr lang="en-US" sz="1800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(space)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", "0"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4361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Non-zero numbers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Any positive or negative number, including fractions.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1, -5, 3.14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51236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51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6C2228-244F-4B8A-8F6A-3E348EFC8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5" y="1461765"/>
            <a:ext cx="8249199" cy="4544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9F523C-F836-4E2E-805F-6B9E4A1D1A7B}"/>
              </a:ext>
            </a:extLst>
          </p:cNvPr>
          <p:cNvSpPr txBox="1"/>
          <p:nvPr/>
        </p:nvSpPr>
        <p:spPr>
          <a:xfrm>
            <a:off x="866775" y="514350"/>
            <a:ext cx="694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99CC"/>
                </a:solidFill>
              </a:rPr>
              <a:t>Example Truthy :</a:t>
            </a:r>
          </a:p>
        </p:txBody>
      </p:sp>
    </p:spTree>
    <p:extLst>
      <p:ext uri="{BB962C8B-B14F-4D97-AF65-F5344CB8AC3E}">
        <p14:creationId xmlns:p14="http://schemas.microsoft.com/office/powerpoint/2010/main" val="3261793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35B130-FBE3-4ACE-A896-F13B1D185D28}"/>
              </a:ext>
            </a:extLst>
          </p:cNvPr>
          <p:cNvSpPr txBox="1"/>
          <p:nvPr/>
        </p:nvSpPr>
        <p:spPr>
          <a:xfrm>
            <a:off x="526690" y="394488"/>
            <a:ext cx="10615076" cy="120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Operator: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4. Logical Operators: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These operators are used to combine or manipulate Boolean values, often combining the results of comparison operations.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A72899-7C62-4391-AF64-84165510B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19926"/>
              </p:ext>
            </p:extLst>
          </p:nvPr>
        </p:nvGraphicFramePr>
        <p:xfrm>
          <a:off x="626166" y="1965907"/>
          <a:ext cx="10515600" cy="25298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404974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276423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44932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64804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Operator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Example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Result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5920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&amp;&amp;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AND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: Returns true if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both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operands are true.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(x &gt; 0) &amp;&amp; (y &lt; 10)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 or false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2344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||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OR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: Returns true if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at least one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 operand is true.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(x &gt; 0) || (y &lt; 10)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 or false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27157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!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NOT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: Reverses the logical state.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!true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414544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506996-1ACE-48E2-BD6E-EF36B8FED729}"/>
              </a:ext>
            </a:extLst>
          </p:cNvPr>
          <p:cNvSpPr txBox="1"/>
          <p:nvPr/>
        </p:nvSpPr>
        <p:spPr>
          <a:xfrm>
            <a:off x="626166" y="4919133"/>
            <a:ext cx="99741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NOTE: </a:t>
            </a:r>
          </a:p>
          <a:p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!!</a:t>
            </a:r>
            <a:r>
              <a:rPr lang="en-US" sz="1600" dirty="0">
                <a:latin typeface="+mj-lt"/>
              </a:rPr>
              <a:t> operator in JavaScript is a shorthand way to explicitly convert any value into its corresponding Boolean equivalent (true or false).</a:t>
            </a:r>
          </a:p>
        </p:txBody>
      </p:sp>
    </p:spTree>
    <p:extLst>
      <p:ext uri="{BB962C8B-B14F-4D97-AF65-F5344CB8AC3E}">
        <p14:creationId xmlns:p14="http://schemas.microsoft.com/office/powerpoint/2010/main" val="1862188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740D9A-71DF-41A3-A62A-B68B5FDED3AF}"/>
              </a:ext>
            </a:extLst>
          </p:cNvPr>
          <p:cNvSpPr txBox="1"/>
          <p:nvPr/>
        </p:nvSpPr>
        <p:spPr>
          <a:xfrm>
            <a:off x="771525" y="619125"/>
            <a:ext cx="994410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6666FF"/>
                </a:solidFill>
              </a:rPr>
              <a:t>Logical AND (&amp;&amp;):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&amp;&amp; operator requires both operands to be true for the expression to evaluate to true. If even one operand is false, the entire expression is false.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0F63B3-6DDD-4707-9509-775EB1821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92598"/>
              </p:ext>
            </p:extLst>
          </p:nvPr>
        </p:nvGraphicFramePr>
        <p:xfrm>
          <a:off x="1609725" y="2362200"/>
          <a:ext cx="8972550" cy="260667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990850">
                  <a:extLst>
                    <a:ext uri="{9D8B030D-6E8A-4147-A177-3AD203B41FA5}">
                      <a16:colId xmlns:a16="http://schemas.microsoft.com/office/drawing/2014/main" val="2945211593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748133164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3735025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Expression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Result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Explanation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84920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 &amp;&amp; 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Both are true.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60001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 &amp;&amp; false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second operand is false.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5208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 &amp;&amp; 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first operand is false.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90056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 &amp;&amp; false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Both are false.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65619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174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740D9A-71DF-41A3-A62A-B68B5FDED3AF}"/>
              </a:ext>
            </a:extLst>
          </p:cNvPr>
          <p:cNvSpPr txBox="1"/>
          <p:nvPr/>
        </p:nvSpPr>
        <p:spPr>
          <a:xfrm>
            <a:off x="771525" y="619125"/>
            <a:ext cx="994410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6666FF"/>
                </a:solidFill>
              </a:rPr>
              <a:t>Logical OR (||):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|| operator requires only one operand to be true for the expression to evaluate to true. It only evaluates to false if both operands are false.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FFFB97-CC01-46DA-99D4-2909D05E3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152312"/>
              </p:ext>
            </p:extLst>
          </p:nvPr>
        </p:nvGraphicFramePr>
        <p:xfrm>
          <a:off x="1781175" y="2629694"/>
          <a:ext cx="7924800" cy="301815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3734099873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683217296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4020527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Expression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Result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Explanation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8394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 || 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Both are true.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66548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 || False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Both are false.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82048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 || False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first operand is true.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98788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False || 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true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The second operand is true.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85553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124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740D9A-71DF-41A3-A62A-B68B5FDED3AF}"/>
              </a:ext>
            </a:extLst>
          </p:cNvPr>
          <p:cNvSpPr txBox="1"/>
          <p:nvPr/>
        </p:nvSpPr>
        <p:spPr>
          <a:xfrm>
            <a:off x="771525" y="619125"/>
            <a:ext cx="99441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6699"/>
                </a:solidFill>
              </a:rPr>
              <a:t>Operator Precedence: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B5E1B4-E3E2-4410-A65B-52227A918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351637"/>
              </p:ext>
            </p:extLst>
          </p:nvPr>
        </p:nvGraphicFramePr>
        <p:xfrm>
          <a:off x="1592192" y="1416050"/>
          <a:ext cx="7023212" cy="4707589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755803">
                  <a:extLst>
                    <a:ext uri="{9D8B030D-6E8A-4147-A177-3AD203B41FA5}">
                      <a16:colId xmlns:a16="http://schemas.microsoft.com/office/drawing/2014/main" val="764215625"/>
                    </a:ext>
                  </a:extLst>
                </a:gridCol>
                <a:gridCol w="1755803">
                  <a:extLst>
                    <a:ext uri="{9D8B030D-6E8A-4147-A177-3AD203B41FA5}">
                      <a16:colId xmlns:a16="http://schemas.microsoft.com/office/drawing/2014/main" val="2643306850"/>
                    </a:ext>
                  </a:extLst>
                </a:gridCol>
                <a:gridCol w="1755803">
                  <a:extLst>
                    <a:ext uri="{9D8B030D-6E8A-4147-A177-3AD203B41FA5}">
                      <a16:colId xmlns:a16="http://schemas.microsoft.com/office/drawing/2014/main" val="3645819962"/>
                    </a:ext>
                  </a:extLst>
                </a:gridCol>
                <a:gridCol w="1755803">
                  <a:extLst>
                    <a:ext uri="{9D8B030D-6E8A-4147-A177-3AD203B41FA5}">
                      <a16:colId xmlns:a16="http://schemas.microsoft.com/office/drawing/2014/main" val="3677789738"/>
                    </a:ext>
                  </a:extLst>
                </a:gridCol>
              </a:tblGrid>
              <a:tr h="356250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Operators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Result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2450352729"/>
                  </a:ext>
                </a:extLst>
              </a:tr>
              <a:tr h="585268"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()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Grouping (always executed first)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2 * (3 + 1)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744579848"/>
                  </a:ext>
                </a:extLst>
              </a:tr>
              <a:tr h="814285"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++, --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Unary Increment/Decrement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x++ 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-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2379590231"/>
                  </a:ext>
                </a:extLst>
              </a:tr>
              <a:tr h="585268"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*, /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Multiplication, Division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10 + 2 * 3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16 (2*3 is done first)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917706082"/>
                  </a:ext>
                </a:extLst>
              </a:tr>
              <a:tr h="585268"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+, -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Addition, Subtraction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5 - 3 + 1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3 (Left-to-right)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849001681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&lt;=, &gt;=, &lt;, &gt;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Comparison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x &gt; y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-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872095077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== , === , != , !==</a:t>
                      </a: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Comparison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x == y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3061143108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&amp;&amp;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Logical AND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true &amp;&amp; false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false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839296008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||</a:t>
                      </a: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Logical Or</a:t>
                      </a: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 || false</a:t>
                      </a: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3189262192"/>
                  </a:ext>
                </a:extLst>
              </a:tr>
              <a:tr h="356250"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=, +=, -=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Assignment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x = 5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-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5424" marR="95424" marT="63616" marB="63616" anchor="ctr"/>
                </a:tc>
                <a:extLst>
                  <a:ext uri="{0D108BD9-81ED-4DB2-BD59-A6C34878D82A}">
                    <a16:rowId xmlns:a16="http://schemas.microsoft.com/office/drawing/2014/main" val="536249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56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67FEF-BE72-44F5-B5E4-16E529F08A4F}"/>
              </a:ext>
            </a:extLst>
          </p:cNvPr>
          <p:cNvSpPr txBox="1"/>
          <p:nvPr/>
        </p:nvSpPr>
        <p:spPr>
          <a:xfrm>
            <a:off x="561975" y="571500"/>
            <a:ext cx="10487025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Conditional: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A conditional in JavaScript is a programming structure that allows you to execute different blocks of code based on whether a specified condition evaluates to true or false.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Key Conditional Structures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JavaScript provides main ways to implement conditional logic: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1. if...else if...else Statement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This is the most common way to execute code based on one or more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993366"/>
                </a:solidFill>
                <a:latin typeface="+mj-lt"/>
              </a:rPr>
              <a:t>if: </a:t>
            </a:r>
            <a:r>
              <a:rPr lang="en-US" dirty="0">
                <a:latin typeface="+mj-lt"/>
              </a:rPr>
              <a:t>The code block inside the if statement is executed only if its condition is true.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993366"/>
                </a:solidFill>
                <a:latin typeface="+mj-lt"/>
              </a:rPr>
              <a:t>else if: </a:t>
            </a:r>
            <a:r>
              <a:rPr lang="en-US" dirty="0">
                <a:latin typeface="+mj-lt"/>
              </a:rPr>
              <a:t>(Optional) Used to check a second condition if the preceding if condition was false. You can have multiple else if blocks.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993366"/>
                </a:solidFill>
                <a:latin typeface="+mj-lt"/>
              </a:rPr>
              <a:t>else: (Optional) </a:t>
            </a:r>
            <a:r>
              <a:rPr lang="en-US" dirty="0">
                <a:latin typeface="+mj-lt"/>
              </a:rPr>
              <a:t>The code block inside the else statement is executed if all preceding if and else if conditions were false.</a:t>
            </a:r>
          </a:p>
        </p:txBody>
      </p:sp>
    </p:spTree>
    <p:extLst>
      <p:ext uri="{BB962C8B-B14F-4D97-AF65-F5344CB8AC3E}">
        <p14:creationId xmlns:p14="http://schemas.microsoft.com/office/powerpoint/2010/main" val="1475138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BD9C92-E82A-4389-A381-1F8E75993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600" y="1733549"/>
            <a:ext cx="9044163" cy="44272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58BFE6-B52C-4C88-A231-86B0D05D932D}"/>
              </a:ext>
            </a:extLst>
          </p:cNvPr>
          <p:cNvSpPr txBox="1"/>
          <p:nvPr/>
        </p:nvSpPr>
        <p:spPr>
          <a:xfrm>
            <a:off x="1028700" y="697180"/>
            <a:ext cx="6096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Example if...else if...else Statement:</a:t>
            </a:r>
          </a:p>
        </p:txBody>
      </p:sp>
    </p:spTree>
    <p:extLst>
      <p:ext uri="{BB962C8B-B14F-4D97-AF65-F5344CB8AC3E}">
        <p14:creationId xmlns:p14="http://schemas.microsoft.com/office/powerpoint/2010/main" val="2097811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67FEF-BE72-44F5-B5E4-16E529F08A4F}"/>
              </a:ext>
            </a:extLst>
          </p:cNvPr>
          <p:cNvSpPr txBox="1"/>
          <p:nvPr/>
        </p:nvSpPr>
        <p:spPr>
          <a:xfrm>
            <a:off x="561975" y="571500"/>
            <a:ext cx="1048702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Conditional: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2. switch Statement: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 switch statement is used to perform different actions based on different possible values of a single expression. It's often cleaner than using a long series of else if statements to check the exact value of one variable.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case:</a:t>
            </a:r>
            <a:r>
              <a:rPr lang="en-US" dirty="0">
                <a:solidFill>
                  <a:srgbClr val="993366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 block of code to execute if the expression matches the case value.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break: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Crucially, the break keyword stops the execution inside the switch block once a match is found.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default: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(Optional) The code to execute if none of the case values match the expression.</a:t>
            </a:r>
          </a:p>
        </p:txBody>
      </p:sp>
    </p:spTree>
    <p:extLst>
      <p:ext uri="{BB962C8B-B14F-4D97-AF65-F5344CB8AC3E}">
        <p14:creationId xmlns:p14="http://schemas.microsoft.com/office/powerpoint/2010/main" val="1551642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AFF7B-D296-4263-B669-21FB8B139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67" y="1352550"/>
            <a:ext cx="8444465" cy="4825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42F424-A943-4014-94EA-7249F50EF624}"/>
              </a:ext>
            </a:extLst>
          </p:cNvPr>
          <p:cNvSpPr txBox="1"/>
          <p:nvPr/>
        </p:nvSpPr>
        <p:spPr>
          <a:xfrm>
            <a:off x="1009650" y="447795"/>
            <a:ext cx="6096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93366"/>
                </a:solidFill>
              </a:rPr>
              <a:t>Example switch:</a:t>
            </a:r>
          </a:p>
        </p:txBody>
      </p:sp>
    </p:spTree>
    <p:extLst>
      <p:ext uri="{BB962C8B-B14F-4D97-AF65-F5344CB8AC3E}">
        <p14:creationId xmlns:p14="http://schemas.microsoft.com/office/powerpoint/2010/main" val="236533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7717</TotalTime>
  <Words>1520</Words>
  <Application>Microsoft Office PowerPoint</Application>
  <PresentationFormat>Widescreen</PresentationFormat>
  <Paragraphs>288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Google Sans Text</vt:lpstr>
      <vt:lpstr>Office Theme</vt:lpstr>
      <vt:lpstr>Special topics  Session 8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maryam.zim@PART.LOCAL</cp:lastModifiedBy>
  <cp:revision>89</cp:revision>
  <dcterms:created xsi:type="dcterms:W3CDTF">2025-10-04T12:24:50Z</dcterms:created>
  <dcterms:modified xsi:type="dcterms:W3CDTF">2025-11-26T11:50:29Z</dcterms:modified>
</cp:coreProperties>
</file>