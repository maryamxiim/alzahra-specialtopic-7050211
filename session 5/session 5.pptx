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99" r:id="rId3"/>
    <p:sldId id="305" r:id="rId4"/>
    <p:sldId id="306" r:id="rId5"/>
    <p:sldId id="307" r:id="rId6"/>
    <p:sldId id="308" r:id="rId7"/>
    <p:sldId id="256" r:id="rId8"/>
    <p:sldId id="273" r:id="rId9"/>
    <p:sldId id="274" r:id="rId10"/>
    <p:sldId id="275" r:id="rId11"/>
    <p:sldId id="276" r:id="rId12"/>
    <p:sldId id="277" r:id="rId13"/>
    <p:sldId id="278" r:id="rId14"/>
    <p:sldId id="279" r:id="rId15"/>
    <p:sldId id="280"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A8D5"/>
    <a:srgbClr val="DD8B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83" autoAdjust="0"/>
    <p:restoredTop sz="97872"/>
  </p:normalViewPr>
  <p:slideViewPr>
    <p:cSldViewPr snapToGrid="0">
      <p:cViewPr varScale="1">
        <p:scale>
          <a:sx n="222" d="100"/>
          <a:sy n="222" d="100"/>
        </p:scale>
        <p:origin x="9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0:40:33.97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32,'88'12,"4"-3,-15-9,10 6,9-4,-35-2,4-1,1-7,1-1,12 0,1-1,-9 1,-2 2,-2 1,-5 4,18 9,-1 1,-32 0,1-2,-14 0,-17-5,-7 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0:40:33.97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32,'88'12,"4"-3,-15-9,10 6,9-4,-35-2,4-1,1-7,1-1,12 0,1-1,-9 1,-2 2,-2 1,-5 4,18 9,-1 1,-32 0,1-2,-14 0,-17-5,-7 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0:40:33.97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32,'88'12,"4"-3,-15-9,10 6,9-4,-35-2,4-1,1-7,1-1,12 0,1-1,-9 1,-2 2,-2 1,-5 4,18 9,-1 1,-32 0,1-2,-14 0,-17-5,-7 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0:40:33.97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32,'88'12,"4"-3,-15-9,10 6,9-4,-35-2,4-1,1-7,1-1,12 0,1-1,-9 1,-2 2,-2 1,-5 4,18 9,-1 1,-32 0,1-2,-14 0,-17-5,-7 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3T10:40:33.97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 32,'88'12,"4"-3,-15-9,10 6,9-4,-35-2,4-1,1-7,1-1,12 0,1-1,-9 1,-2 2,-2 1,-5 4,18 9,-1 1,-32 0,1-2,-14 0,-17-5,-7 5</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621A7-1297-4B3D-AA39-F5C0DF1593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F210B9-4796-4874-9BB8-15F35183EC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4B7682-B92C-4941-BF14-1CC126B0A813}"/>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5" name="Footer Placeholder 4">
            <a:extLst>
              <a:ext uri="{FF2B5EF4-FFF2-40B4-BE49-F238E27FC236}">
                <a16:creationId xmlns:a16="http://schemas.microsoft.com/office/drawing/2014/main" id="{E394EDB1-FFF8-4366-8956-44B1F03997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D50CC4-F01F-49B0-B16E-FB8D42E76007}"/>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013080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8765F-E9B9-4ED1-9E9E-EBBE0338D1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A57D5-DD8D-4939-A68C-92AF9510BB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36BAA-6F97-4E6F-B61B-7E4CF543618E}"/>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5" name="Footer Placeholder 4">
            <a:extLst>
              <a:ext uri="{FF2B5EF4-FFF2-40B4-BE49-F238E27FC236}">
                <a16:creationId xmlns:a16="http://schemas.microsoft.com/office/drawing/2014/main" id="{39EA5917-50CC-4C33-A243-F3EC0293F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C1BB40-3BBA-4F2F-BF06-08662F15231B}"/>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59718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C94DA-872A-4221-BA19-E07B6B95A3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027956-B24A-4F79-A497-786703A03A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C01D3C-2A54-43A4-B4AA-E3578A5F02D2}"/>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5" name="Footer Placeholder 4">
            <a:extLst>
              <a:ext uri="{FF2B5EF4-FFF2-40B4-BE49-F238E27FC236}">
                <a16:creationId xmlns:a16="http://schemas.microsoft.com/office/drawing/2014/main" id="{23ABF451-B11A-429E-AE89-A29A040D4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09344F-0B35-47EF-B676-F7D6EFD51B71}"/>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62070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B749-E171-424D-95A4-107569D207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AE049-633C-4EE9-9C60-6E549F603B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E85B50-1331-4886-879E-3B49F84073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6F5FF1-B6E1-4969-8EA6-3540B5C095BE}"/>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6" name="Footer Placeholder 5">
            <a:extLst>
              <a:ext uri="{FF2B5EF4-FFF2-40B4-BE49-F238E27FC236}">
                <a16:creationId xmlns:a16="http://schemas.microsoft.com/office/drawing/2014/main" id="{6FE9DCB5-B792-438D-BC09-99FA3302AE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21F8EF-9BA1-4D3A-8856-9E1F28F9F090}"/>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714095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523B0-D53A-4FB3-A0FA-3AA650170B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861986-7E35-4BFD-AE5C-731845CE20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DB44A9-6B54-44C0-B2D5-AB7D848EF5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CF03A4-F8A4-4A2B-B519-1F7A15433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6FA89C-42F2-4E57-9927-53867109DF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C8D43E-DE9B-4462-9805-C8D17DE09B3F}"/>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8" name="Footer Placeholder 7">
            <a:extLst>
              <a:ext uri="{FF2B5EF4-FFF2-40B4-BE49-F238E27FC236}">
                <a16:creationId xmlns:a16="http://schemas.microsoft.com/office/drawing/2014/main" id="{508FD1DA-4390-4E8E-9A61-060979A913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0717FB-EF17-43FB-8605-E12CCEEDECA6}"/>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884108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E3E59-9915-476C-B0F8-EB3A25E6D1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460F27-09EE-485F-A74C-6A6BD7FDD323}"/>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4" name="Footer Placeholder 3">
            <a:extLst>
              <a:ext uri="{FF2B5EF4-FFF2-40B4-BE49-F238E27FC236}">
                <a16:creationId xmlns:a16="http://schemas.microsoft.com/office/drawing/2014/main" id="{A9765843-65D3-4667-B615-FD1F6B5C2E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C674E2-122C-48F8-9EF8-E6146682F3A1}"/>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1469304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B7D829-74FC-4444-AFD6-536A86FD1D7F}"/>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3" name="Footer Placeholder 2">
            <a:extLst>
              <a:ext uri="{FF2B5EF4-FFF2-40B4-BE49-F238E27FC236}">
                <a16:creationId xmlns:a16="http://schemas.microsoft.com/office/drawing/2014/main" id="{8A9E63DD-C7A8-44E9-9536-DA1E149966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F2B870-EF9E-4D10-9908-985BE1401045}"/>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304548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AF71-5FE8-47EF-BAE7-4E48FB03CC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704D18-94CC-4C61-8AA2-0F0BA6A0E0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F63AB8-9CB2-4DC0-8619-82C66AB04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A9CBA3-20B9-4D09-ACA4-F5CEF556311D}"/>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6" name="Footer Placeholder 5">
            <a:extLst>
              <a:ext uri="{FF2B5EF4-FFF2-40B4-BE49-F238E27FC236}">
                <a16:creationId xmlns:a16="http://schemas.microsoft.com/office/drawing/2014/main" id="{4E4BCDAA-722B-42B1-AB5B-4104181CB2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24DEFB-4003-4080-A9E6-42AD178C9EF9}"/>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515680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5A2CF-E225-4AA2-9996-E97E5DA064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5EB8C8-2BA5-4DF3-A3A3-873EAA04F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D1B52-B572-4655-9E7F-D7EA05728A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31BB40-94C9-4CB5-A0F8-6A46E661BEEE}"/>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6" name="Footer Placeholder 5">
            <a:extLst>
              <a:ext uri="{FF2B5EF4-FFF2-40B4-BE49-F238E27FC236}">
                <a16:creationId xmlns:a16="http://schemas.microsoft.com/office/drawing/2014/main" id="{CF83C2F9-22D4-46CF-B08D-134F301D03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59A7B-D3AF-42CC-BAE5-CDA0DD8EE9E3}"/>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4173746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281F0-3D68-4BF4-B5AB-CFC8A80A33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C818F2-79A6-4F9C-8E66-E20F9B5DF0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B9898E-CF68-4BA9-953F-8142C596F48B}"/>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5" name="Footer Placeholder 4">
            <a:extLst>
              <a:ext uri="{FF2B5EF4-FFF2-40B4-BE49-F238E27FC236}">
                <a16:creationId xmlns:a16="http://schemas.microsoft.com/office/drawing/2014/main" id="{DC90293A-8B19-473E-BCA1-11F92655F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4F1BF-9DEB-49A9-A123-D6CD830287B0}"/>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2249364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5B366D-8EC1-428A-85D4-129DE2C092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9E9B1A-AB28-446F-BB0F-3C4EE0113F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451CD6-A1AE-4BB4-98F6-1EEA62944D0A}"/>
              </a:ext>
            </a:extLst>
          </p:cNvPr>
          <p:cNvSpPr>
            <a:spLocks noGrp="1"/>
          </p:cNvSpPr>
          <p:nvPr>
            <p:ph type="dt" sz="half" idx="10"/>
          </p:nvPr>
        </p:nvSpPr>
        <p:spPr/>
        <p:txBody>
          <a:bodyPr/>
          <a:lstStyle/>
          <a:p>
            <a:fld id="{807B2B08-B017-4EEC-B17F-079F487C2A94}" type="datetimeFigureOut">
              <a:rPr lang="en-US" smtClean="0"/>
              <a:t>11/13/25</a:t>
            </a:fld>
            <a:endParaRPr lang="en-US"/>
          </a:p>
        </p:txBody>
      </p:sp>
      <p:sp>
        <p:nvSpPr>
          <p:cNvPr id="5" name="Footer Placeholder 4">
            <a:extLst>
              <a:ext uri="{FF2B5EF4-FFF2-40B4-BE49-F238E27FC236}">
                <a16:creationId xmlns:a16="http://schemas.microsoft.com/office/drawing/2014/main" id="{5ACB7E9E-4950-4891-8590-A9FC4063CF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CD1937-6B22-45E0-8722-8BCFDA6AD669}"/>
              </a:ext>
            </a:extLst>
          </p:cNvPr>
          <p:cNvSpPr>
            <a:spLocks noGrp="1"/>
          </p:cNvSpPr>
          <p:nvPr>
            <p:ph type="sldNum" sz="quarter" idx="12"/>
          </p:nvPr>
        </p:nvSpPr>
        <p:spPr/>
        <p:txBody>
          <a:bodyPr/>
          <a:lstStyle/>
          <a:p>
            <a:fld id="{0D04CCB9-2627-4E8D-81FB-E1D3575DD0F9}" type="slidenum">
              <a:rPr lang="en-US" smtClean="0"/>
              <a:t>‹#›</a:t>
            </a:fld>
            <a:endParaRPr lang="en-US"/>
          </a:p>
        </p:txBody>
      </p:sp>
    </p:spTree>
    <p:extLst>
      <p:ext uri="{BB962C8B-B14F-4D97-AF65-F5344CB8AC3E}">
        <p14:creationId xmlns:p14="http://schemas.microsoft.com/office/powerpoint/2010/main" val="4225955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E6A79B-B1C2-4FC9-8C3A-F43EC7D4F5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C36324-1315-477A-9FFD-ECA6522C7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BAE13F-AC62-445F-A16D-ED4215451F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B2B08-B017-4EEC-B17F-079F487C2A94}" type="datetimeFigureOut">
              <a:rPr lang="en-US" smtClean="0"/>
              <a:t>11/13/25</a:t>
            </a:fld>
            <a:endParaRPr lang="en-US"/>
          </a:p>
        </p:txBody>
      </p:sp>
      <p:sp>
        <p:nvSpPr>
          <p:cNvPr id="5" name="Footer Placeholder 4">
            <a:extLst>
              <a:ext uri="{FF2B5EF4-FFF2-40B4-BE49-F238E27FC236}">
                <a16:creationId xmlns:a16="http://schemas.microsoft.com/office/drawing/2014/main" id="{F84B1C2D-8020-42C2-998D-4313F62E31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C0E827-9FF1-43A7-A9E2-B0C00B12F5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04CCB9-2627-4E8D-81FB-E1D3575DD0F9}" type="slidenum">
              <a:rPr lang="en-US" smtClean="0"/>
              <a:t>‹#›</a:t>
            </a:fld>
            <a:endParaRPr lang="en-US"/>
          </a:p>
        </p:txBody>
      </p:sp>
    </p:spTree>
    <p:extLst>
      <p:ext uri="{BB962C8B-B14F-4D97-AF65-F5344CB8AC3E}">
        <p14:creationId xmlns:p14="http://schemas.microsoft.com/office/powerpoint/2010/main" val="284325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C456-2368-04EF-CB18-5B4BA1953C93}"/>
              </a:ext>
            </a:extLst>
          </p:cNvPr>
          <p:cNvSpPr>
            <a:spLocks noGrp="1"/>
          </p:cNvSpPr>
          <p:nvPr>
            <p:ph type="ctrTitle"/>
          </p:nvPr>
        </p:nvSpPr>
        <p:spPr>
          <a:xfrm>
            <a:off x="1079864" y="240060"/>
            <a:ext cx="9144000" cy="5786006"/>
          </a:xfrm>
        </p:spPr>
        <p:txBody>
          <a:bodyPr>
            <a:normAutofit/>
          </a:bodyPr>
          <a:lstStyle/>
          <a:p>
            <a:r>
              <a:rPr lang="en-US" b="1" dirty="0"/>
              <a:t>Special topics</a:t>
            </a:r>
            <a:br>
              <a:rPr lang="en-US" dirty="0"/>
            </a:br>
            <a:br>
              <a:rPr lang="en-US" dirty="0"/>
            </a:br>
            <a:r>
              <a:rPr lang="en-US" sz="3200" b="1" dirty="0"/>
              <a:t>Session 5</a:t>
            </a:r>
            <a:br>
              <a:rPr lang="en-US" sz="3200" b="1" dirty="0"/>
            </a:br>
            <a:br>
              <a:rPr lang="en-US" dirty="0"/>
            </a:br>
            <a:br>
              <a:rPr lang="en-US" dirty="0"/>
            </a:br>
            <a:br>
              <a:rPr lang="en-US" dirty="0"/>
            </a:br>
            <a:r>
              <a:rPr lang="en-US" sz="2000" dirty="0"/>
              <a:t>Al-Zahra university </a:t>
            </a:r>
            <a:br>
              <a:rPr lang="en-US" sz="2000" dirty="0"/>
            </a:br>
            <a:r>
              <a:rPr lang="en-US" sz="2000" dirty="0"/>
              <a:t>Maryam </a:t>
            </a:r>
            <a:r>
              <a:rPr lang="en-US" sz="2000" dirty="0" err="1"/>
              <a:t>zim</a:t>
            </a:r>
            <a:r>
              <a:rPr lang="en-US" sz="2000" dirty="0"/>
              <a:t> </a:t>
            </a:r>
          </a:p>
        </p:txBody>
      </p:sp>
      <p:sp>
        <p:nvSpPr>
          <p:cNvPr id="3" name="TextBox 2">
            <a:extLst>
              <a:ext uri="{FF2B5EF4-FFF2-40B4-BE49-F238E27FC236}">
                <a16:creationId xmlns:a16="http://schemas.microsoft.com/office/drawing/2014/main" id="{64A49644-702C-104B-A3C2-E81A66E02B10}"/>
              </a:ext>
            </a:extLst>
          </p:cNvPr>
          <p:cNvSpPr txBox="1"/>
          <p:nvPr/>
        </p:nvSpPr>
        <p:spPr>
          <a:xfrm>
            <a:off x="333555" y="6331012"/>
            <a:ext cx="2179608" cy="430887"/>
          </a:xfrm>
          <a:prstGeom prst="rect">
            <a:avLst/>
          </a:prstGeom>
          <a:noFill/>
        </p:spPr>
        <p:txBody>
          <a:bodyPr wrap="square" rtlCol="0">
            <a:spAutoFit/>
          </a:bodyPr>
          <a:lstStyle/>
          <a:p>
            <a:r>
              <a:rPr lang="en-US" sz="1100" dirty="0">
                <a:latin typeface="+mj-lt"/>
              </a:rPr>
              <a:t>@</a:t>
            </a:r>
            <a:r>
              <a:rPr lang="en-US" sz="1100" dirty="0" err="1">
                <a:latin typeface="+mj-lt"/>
              </a:rPr>
              <a:t>maryamzim</a:t>
            </a:r>
            <a:r>
              <a:rPr lang="en-US" sz="1100" dirty="0">
                <a:latin typeface="+mj-lt"/>
              </a:rPr>
              <a:t> </a:t>
            </a:r>
            <a:r>
              <a:rPr lang="en-US" sz="1100" dirty="0" err="1">
                <a:latin typeface="+mj-lt"/>
              </a:rPr>
              <a:t>maryamxiim@gmail.com</a:t>
            </a:r>
            <a:endParaRPr lang="en-US" sz="1100" dirty="0">
              <a:latin typeface="+mj-lt"/>
            </a:endParaRPr>
          </a:p>
        </p:txBody>
      </p:sp>
      <p:cxnSp>
        <p:nvCxnSpPr>
          <p:cNvPr id="5" name="Straight Connector 4">
            <a:extLst>
              <a:ext uri="{FF2B5EF4-FFF2-40B4-BE49-F238E27FC236}">
                <a16:creationId xmlns:a16="http://schemas.microsoft.com/office/drawing/2014/main" id="{9139A4A4-6725-59CF-7099-1F9127951243}"/>
              </a:ext>
            </a:extLst>
          </p:cNvPr>
          <p:cNvCxnSpPr>
            <a:cxnSpLocks/>
          </p:cNvCxnSpPr>
          <p:nvPr/>
        </p:nvCxnSpPr>
        <p:spPr>
          <a:xfrm>
            <a:off x="0" y="6239774"/>
            <a:ext cx="12192000" cy="0"/>
          </a:xfrm>
          <a:prstGeom prst="line">
            <a:avLst/>
          </a:prstGeom>
        </p:spPr>
        <p:style>
          <a:lnRef idx="1">
            <a:schemeClr val="dk1"/>
          </a:lnRef>
          <a:fillRef idx="0">
            <a:schemeClr val="dk1"/>
          </a:fillRef>
          <a:effectRef idx="0">
            <a:schemeClr val="dk1"/>
          </a:effectRef>
          <a:fontRef idx="minor">
            <a:schemeClr val="tx1"/>
          </a:fontRef>
        </p:style>
      </p:cxnSp>
      <p:pic>
        <p:nvPicPr>
          <p:cNvPr id="20482" name="Picture 2">
            <a:extLst>
              <a:ext uri="{FF2B5EF4-FFF2-40B4-BE49-F238E27FC236}">
                <a16:creationId xmlns:a16="http://schemas.microsoft.com/office/drawing/2014/main" id="{C0C7CD75-3CDC-8F39-FAB2-BC9933D5B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580" y="6406516"/>
            <a:ext cx="139939" cy="139939"/>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a:extLst>
              <a:ext uri="{FF2B5EF4-FFF2-40B4-BE49-F238E27FC236}">
                <a16:creationId xmlns:a16="http://schemas.microsoft.com/office/drawing/2014/main" id="{897B446E-8E4A-1444-0B25-280230FC1E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36" y="6593099"/>
            <a:ext cx="138983" cy="99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9985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63825" y="326942"/>
            <a:ext cx="11420144" cy="3793603"/>
          </a:xfrm>
          <a:prstGeom prst="rect">
            <a:avLst/>
          </a:prstGeom>
          <a:noFill/>
        </p:spPr>
        <p:txBody>
          <a:bodyPr wrap="square" rtlCol="0">
            <a:spAutoFit/>
          </a:bodyPr>
          <a:lstStyle/>
          <a:p>
            <a:pPr>
              <a:lnSpc>
                <a:spcPct val="150000"/>
              </a:lnSpc>
            </a:pPr>
            <a:r>
              <a:rPr lang="en-US" b="1" dirty="0">
                <a:solidFill>
                  <a:srgbClr val="7030A0"/>
                </a:solidFill>
              </a:rPr>
              <a:t>Flex items:</a:t>
            </a:r>
            <a:endParaRPr lang="en-US" b="1" i="0" dirty="0">
              <a:solidFill>
                <a:srgbClr val="7030A0"/>
              </a:solidFill>
              <a:effectLst/>
            </a:endParaRPr>
          </a:p>
          <a:p>
            <a:pPr>
              <a:lnSpc>
                <a:spcPct val="150000"/>
              </a:lnSpc>
            </a:pPr>
            <a:r>
              <a:rPr lang="en-US" sz="1600" b="1" dirty="0"/>
              <a:t>Flex Items</a:t>
            </a:r>
            <a:r>
              <a:rPr lang="en-US" sz="1600" dirty="0"/>
              <a:t> are the direct children of a Flex Container (display: flex). The properties applied directly to these items control their individual sizing, alignment, and order within the container, overriding the container's default settings where applicable.</a:t>
            </a:r>
          </a:p>
          <a:p>
            <a:pPr>
              <a:lnSpc>
                <a:spcPct val="150000"/>
              </a:lnSpc>
            </a:pPr>
            <a:r>
              <a:rPr lang="en-US" sz="1600" dirty="0">
                <a:solidFill>
                  <a:srgbClr val="7030A0"/>
                </a:solidFill>
                <a:latin typeface="+mj-lt"/>
              </a:rPr>
              <a:t>1- </a:t>
            </a:r>
            <a:r>
              <a:rPr lang="en-US" sz="1600" b="1" dirty="0">
                <a:solidFill>
                  <a:srgbClr val="7030A0"/>
                </a:solidFill>
                <a:latin typeface="+mj-lt"/>
              </a:rPr>
              <a:t>flex-grow:</a:t>
            </a:r>
          </a:p>
          <a:p>
            <a:pPr>
              <a:lnSpc>
                <a:spcPct val="150000"/>
              </a:lnSpc>
            </a:pPr>
            <a:r>
              <a:rPr lang="en-US" sz="1600" dirty="0"/>
              <a:t>This defines the ability of a flex item to </a:t>
            </a:r>
            <a:r>
              <a:rPr lang="en-US" sz="1600" b="1" dirty="0"/>
              <a:t>grow</a:t>
            </a:r>
            <a:r>
              <a:rPr lang="en-US" sz="1600" dirty="0"/>
              <a:t> if there is </a:t>
            </a:r>
            <a:r>
              <a:rPr lang="en-US" sz="1600" b="1" dirty="0"/>
              <a:t>extra space</a:t>
            </a:r>
            <a:r>
              <a:rPr lang="en-US" sz="1600" dirty="0"/>
              <a:t> remaining in the container (along the main axis).</a:t>
            </a:r>
          </a:p>
          <a:p>
            <a:pPr>
              <a:lnSpc>
                <a:spcPct val="150000"/>
              </a:lnSpc>
            </a:pPr>
            <a:r>
              <a:rPr lang="en-US" sz="1600" b="1" dirty="0"/>
              <a:t>Value:</a:t>
            </a:r>
            <a:r>
              <a:rPr lang="en-US" sz="1600" dirty="0"/>
              <a:t> A unitless number.</a:t>
            </a:r>
          </a:p>
          <a:p>
            <a:pPr>
              <a:lnSpc>
                <a:spcPct val="150000"/>
              </a:lnSpc>
            </a:pPr>
            <a:r>
              <a:rPr lang="en-US" sz="1600" b="1" dirty="0"/>
              <a:t>Default:</a:t>
            </a:r>
            <a:r>
              <a:rPr lang="en-US" sz="1600" dirty="0"/>
              <a:t> 0. The item will not grow beyond its content size.</a:t>
            </a:r>
          </a:p>
          <a:p>
            <a:pPr>
              <a:lnSpc>
                <a:spcPct val="150000"/>
              </a:lnSpc>
            </a:pPr>
            <a:r>
              <a:rPr lang="en-US" sz="1600" b="1" dirty="0"/>
              <a:t>Behavior:</a:t>
            </a:r>
            <a:r>
              <a:rPr lang="en-US" sz="1600" dirty="0"/>
              <a:t> If all items have flex-grow: 1, they share the extra space equally. If one item has flex-grow: 2 and the others have 1, the item with 2 will take twice as much extra space as the others.</a:t>
            </a:r>
          </a:p>
          <a:p>
            <a:pPr>
              <a:lnSpc>
                <a:spcPct val="150000"/>
              </a:lnSpc>
            </a:pPr>
            <a:endParaRPr lang="en-US" sz="1600" dirty="0">
              <a:solidFill>
                <a:schemeClr val="tx1">
                  <a:lumMod val="65000"/>
                  <a:lumOff val="35000"/>
                </a:schemeClr>
              </a:solidFill>
              <a:latin typeface="+mj-l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FBFB9E2-90AA-03CE-BA86-BE95FF72856B}"/>
                  </a:ext>
                </a:extLst>
              </p14:cNvPr>
              <p14:cNvContentPartPr/>
              <p14:nvPr/>
            </p14:nvContentPartPr>
            <p14:xfrm>
              <a:off x="9378470" y="3474939"/>
              <a:ext cx="519480" cy="22320"/>
            </p14:xfrm>
          </p:contentPart>
        </mc:Choice>
        <mc:Fallback xmlns="">
          <p:pic>
            <p:nvPicPr>
              <p:cNvPr id="3" name="Ink 2">
                <a:extLst>
                  <a:ext uri="{FF2B5EF4-FFF2-40B4-BE49-F238E27FC236}">
                    <a16:creationId xmlns:a16="http://schemas.microsoft.com/office/drawing/2014/main" id="{5FBFB9E2-90AA-03CE-BA86-BE95FF72856B}"/>
                  </a:ext>
                </a:extLst>
              </p:cNvPr>
              <p:cNvPicPr/>
              <p:nvPr/>
            </p:nvPicPr>
            <p:blipFill>
              <a:blip r:embed="rId3"/>
              <a:stretch>
                <a:fillRect/>
              </a:stretch>
            </p:blipFill>
            <p:spPr>
              <a:xfrm>
                <a:off x="9288830" y="3294939"/>
                <a:ext cx="699120" cy="381960"/>
              </a:xfrm>
              <a:prstGeom prst="rect">
                <a:avLst/>
              </a:prstGeom>
            </p:spPr>
          </p:pic>
        </mc:Fallback>
      </mc:AlternateContent>
      <p:sp>
        <p:nvSpPr>
          <p:cNvPr id="7" name="AutoShape 8">
            <a:extLst>
              <a:ext uri="{FF2B5EF4-FFF2-40B4-BE49-F238E27FC236}">
                <a16:creationId xmlns:a16="http://schemas.microsoft.com/office/drawing/2014/main" id="{9730CB75-4BDF-47BC-E642-74FE459519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0">
            <a:extLst>
              <a:ext uri="{FF2B5EF4-FFF2-40B4-BE49-F238E27FC236}">
                <a16:creationId xmlns:a16="http://schemas.microsoft.com/office/drawing/2014/main" id="{075534DA-2BC7-2089-90DE-CB52D86D2B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DA72E6DE-BBE3-1A0B-65B5-3BC95350DBF8}"/>
              </a:ext>
            </a:extLst>
          </p:cNvPr>
          <p:cNvPicPr>
            <a:picLocks noChangeAspect="1"/>
          </p:cNvPicPr>
          <p:nvPr/>
        </p:nvPicPr>
        <p:blipFill>
          <a:blip r:embed="rId4"/>
          <a:stretch>
            <a:fillRect/>
          </a:stretch>
        </p:blipFill>
        <p:spPr>
          <a:xfrm>
            <a:off x="2626599" y="4015075"/>
            <a:ext cx="5214668" cy="2406769"/>
          </a:xfrm>
          <a:prstGeom prst="rect">
            <a:avLst/>
          </a:prstGeom>
        </p:spPr>
      </p:pic>
    </p:spTree>
    <p:extLst>
      <p:ext uri="{BB962C8B-B14F-4D97-AF65-F5344CB8AC3E}">
        <p14:creationId xmlns:p14="http://schemas.microsoft.com/office/powerpoint/2010/main" val="1284728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63825" y="326942"/>
            <a:ext cx="11420144" cy="3054939"/>
          </a:xfrm>
          <a:prstGeom prst="rect">
            <a:avLst/>
          </a:prstGeom>
          <a:noFill/>
        </p:spPr>
        <p:txBody>
          <a:bodyPr wrap="square" rtlCol="0">
            <a:spAutoFit/>
          </a:bodyPr>
          <a:lstStyle/>
          <a:p>
            <a:pPr>
              <a:lnSpc>
                <a:spcPct val="150000"/>
              </a:lnSpc>
            </a:pPr>
            <a:r>
              <a:rPr lang="en-US" b="1" dirty="0">
                <a:solidFill>
                  <a:srgbClr val="7030A0"/>
                </a:solidFill>
              </a:rPr>
              <a:t>Flex items:</a:t>
            </a:r>
            <a:endParaRPr lang="en-US" sz="1600" b="1" dirty="0">
              <a:solidFill>
                <a:srgbClr val="7030A0"/>
              </a:solidFill>
            </a:endParaRPr>
          </a:p>
          <a:p>
            <a:pPr>
              <a:lnSpc>
                <a:spcPct val="150000"/>
              </a:lnSpc>
            </a:pPr>
            <a:r>
              <a:rPr lang="en-US" sz="1600" dirty="0">
                <a:solidFill>
                  <a:srgbClr val="7030A0"/>
                </a:solidFill>
                <a:latin typeface="+mj-lt"/>
              </a:rPr>
              <a:t>2- </a:t>
            </a:r>
            <a:r>
              <a:rPr lang="en-US" sz="1600" b="1" dirty="0">
                <a:solidFill>
                  <a:srgbClr val="7030A0"/>
                </a:solidFill>
                <a:latin typeface="+mj-lt"/>
              </a:rPr>
              <a:t>flex-shrink:</a:t>
            </a:r>
          </a:p>
          <a:p>
            <a:pPr>
              <a:lnSpc>
                <a:spcPct val="150000"/>
              </a:lnSpc>
            </a:pPr>
            <a:r>
              <a:rPr lang="en-US" sz="1600" dirty="0"/>
              <a:t>This defines the ability of a flex item to </a:t>
            </a:r>
            <a:r>
              <a:rPr lang="en-US" sz="1600" b="1" dirty="0"/>
              <a:t>shrink</a:t>
            </a:r>
            <a:r>
              <a:rPr lang="en-US" sz="1600" dirty="0"/>
              <a:t> if there is </a:t>
            </a:r>
            <a:r>
              <a:rPr lang="en-US" sz="1600" b="1" dirty="0"/>
              <a:t>not enough space</a:t>
            </a:r>
            <a:r>
              <a:rPr lang="en-US" sz="1600" dirty="0"/>
              <a:t> in the container (along the main axis).</a:t>
            </a:r>
          </a:p>
          <a:p>
            <a:pPr>
              <a:lnSpc>
                <a:spcPct val="150000"/>
              </a:lnSpc>
              <a:buFont typeface="Arial" panose="020B0604020202020204" pitchFamily="34" charset="0"/>
              <a:buChar char="•"/>
            </a:pPr>
            <a:r>
              <a:rPr lang="en-US" sz="1600" b="1" dirty="0"/>
              <a:t>Value:</a:t>
            </a:r>
            <a:r>
              <a:rPr lang="en-US" sz="1600" dirty="0"/>
              <a:t> A unitless number.</a:t>
            </a:r>
          </a:p>
          <a:p>
            <a:pPr>
              <a:lnSpc>
                <a:spcPct val="150000"/>
              </a:lnSpc>
              <a:buFont typeface="Arial" panose="020B0604020202020204" pitchFamily="34" charset="0"/>
              <a:buChar char="•"/>
            </a:pPr>
            <a:r>
              <a:rPr lang="en-US" sz="1600" b="1" dirty="0"/>
              <a:t>Default:</a:t>
            </a:r>
            <a:r>
              <a:rPr lang="en-US" sz="1600" dirty="0"/>
              <a:t> 1. The item will shrink proportionally if needed.</a:t>
            </a:r>
          </a:p>
          <a:p>
            <a:pPr>
              <a:lnSpc>
                <a:spcPct val="150000"/>
              </a:lnSpc>
              <a:buFont typeface="Arial" panose="020B0604020202020204" pitchFamily="34" charset="0"/>
              <a:buChar char="•"/>
            </a:pPr>
            <a:r>
              <a:rPr lang="en-US" sz="1600" b="1" dirty="0"/>
              <a:t>Behavior:</a:t>
            </a:r>
            <a:r>
              <a:rPr lang="en-US" sz="1600" dirty="0"/>
              <a:t> A value of 0 prevents the item from shrinking at all, potentially causing overflow if the total width of all items exceeds the container's width.</a:t>
            </a:r>
          </a:p>
          <a:p>
            <a:pPr>
              <a:lnSpc>
                <a:spcPct val="150000"/>
              </a:lnSpc>
            </a:pPr>
            <a:endParaRPr lang="en-US" sz="1600" dirty="0">
              <a:solidFill>
                <a:schemeClr val="tx1">
                  <a:lumMod val="65000"/>
                  <a:lumOff val="35000"/>
                </a:schemeClr>
              </a:solidFill>
              <a:latin typeface="+mj-l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FBFB9E2-90AA-03CE-BA86-BE95FF72856B}"/>
                  </a:ext>
                </a:extLst>
              </p14:cNvPr>
              <p14:cNvContentPartPr/>
              <p14:nvPr/>
            </p14:nvContentPartPr>
            <p14:xfrm>
              <a:off x="9378470" y="3474939"/>
              <a:ext cx="519480" cy="22320"/>
            </p14:xfrm>
          </p:contentPart>
        </mc:Choice>
        <mc:Fallback xmlns="">
          <p:pic>
            <p:nvPicPr>
              <p:cNvPr id="3" name="Ink 2">
                <a:extLst>
                  <a:ext uri="{FF2B5EF4-FFF2-40B4-BE49-F238E27FC236}">
                    <a16:creationId xmlns:a16="http://schemas.microsoft.com/office/drawing/2014/main" id="{5FBFB9E2-90AA-03CE-BA86-BE95FF72856B}"/>
                  </a:ext>
                </a:extLst>
              </p:cNvPr>
              <p:cNvPicPr/>
              <p:nvPr/>
            </p:nvPicPr>
            <p:blipFill>
              <a:blip r:embed="rId3"/>
              <a:stretch>
                <a:fillRect/>
              </a:stretch>
            </p:blipFill>
            <p:spPr>
              <a:xfrm>
                <a:off x="9288830" y="3294939"/>
                <a:ext cx="699120" cy="381960"/>
              </a:xfrm>
              <a:prstGeom prst="rect">
                <a:avLst/>
              </a:prstGeom>
            </p:spPr>
          </p:pic>
        </mc:Fallback>
      </mc:AlternateContent>
      <p:sp>
        <p:nvSpPr>
          <p:cNvPr id="7" name="AutoShape 8">
            <a:extLst>
              <a:ext uri="{FF2B5EF4-FFF2-40B4-BE49-F238E27FC236}">
                <a16:creationId xmlns:a16="http://schemas.microsoft.com/office/drawing/2014/main" id="{9730CB75-4BDF-47BC-E642-74FE459519C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0">
            <a:extLst>
              <a:ext uri="{FF2B5EF4-FFF2-40B4-BE49-F238E27FC236}">
                <a16:creationId xmlns:a16="http://schemas.microsoft.com/office/drawing/2014/main" id="{075534DA-2BC7-2089-90DE-CB52D86D2B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66" name="Picture 2" descr="Default flexbox - what does display flex do? - DEV Community">
            <a:extLst>
              <a:ext uri="{FF2B5EF4-FFF2-40B4-BE49-F238E27FC236}">
                <a16:creationId xmlns:a16="http://schemas.microsoft.com/office/drawing/2014/main" id="{32AB9A43-CE54-BF5A-2159-6A2EE14305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7403" y="3082466"/>
            <a:ext cx="6583699" cy="3324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520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63825" y="326942"/>
            <a:ext cx="11420144" cy="3178049"/>
          </a:xfrm>
          <a:prstGeom prst="rect">
            <a:avLst/>
          </a:prstGeom>
          <a:noFill/>
        </p:spPr>
        <p:txBody>
          <a:bodyPr wrap="square" rtlCol="0">
            <a:spAutoFit/>
          </a:bodyPr>
          <a:lstStyle/>
          <a:p>
            <a:pPr>
              <a:lnSpc>
                <a:spcPct val="150000"/>
              </a:lnSpc>
            </a:pPr>
            <a:r>
              <a:rPr lang="en-US" b="1" dirty="0">
                <a:solidFill>
                  <a:srgbClr val="7030A0"/>
                </a:solidFill>
              </a:rPr>
              <a:t>Flex items:</a:t>
            </a:r>
            <a:endParaRPr lang="en-US" sz="1600" b="1" dirty="0">
              <a:solidFill>
                <a:srgbClr val="7030A0"/>
              </a:solidFill>
            </a:endParaRPr>
          </a:p>
          <a:p>
            <a:pPr>
              <a:lnSpc>
                <a:spcPct val="150000"/>
              </a:lnSpc>
            </a:pPr>
            <a:r>
              <a:rPr lang="en-US" sz="1600" dirty="0">
                <a:solidFill>
                  <a:srgbClr val="7030A0"/>
                </a:solidFill>
                <a:latin typeface="+mj-lt"/>
              </a:rPr>
              <a:t>3- </a:t>
            </a:r>
            <a:r>
              <a:rPr lang="en-US" sz="1600" b="1" dirty="0">
                <a:solidFill>
                  <a:srgbClr val="7030A0"/>
                </a:solidFill>
                <a:latin typeface="+mj-lt"/>
              </a:rPr>
              <a:t>flex-basis:</a:t>
            </a:r>
          </a:p>
          <a:p>
            <a:pPr>
              <a:lnSpc>
                <a:spcPct val="150000"/>
              </a:lnSpc>
            </a:pPr>
            <a:r>
              <a:rPr lang="en-US" sz="1600" dirty="0"/>
              <a:t>This defines the </a:t>
            </a:r>
            <a:r>
              <a:rPr lang="en-US" sz="1600" b="1" dirty="0"/>
              <a:t>initial size</a:t>
            </a:r>
            <a:r>
              <a:rPr lang="en-US" sz="1600" dirty="0"/>
              <a:t> of a flex item before the remaining space is distributed according to flex-grow and flex-shrink.</a:t>
            </a:r>
          </a:p>
          <a:p>
            <a:pPr>
              <a:lnSpc>
                <a:spcPct val="150000"/>
              </a:lnSpc>
              <a:buFont typeface="Arial" panose="020B0604020202020204" pitchFamily="34" charset="0"/>
              <a:buChar char="•"/>
            </a:pPr>
            <a:r>
              <a:rPr lang="en-US" sz="1600" b="1" dirty="0"/>
              <a:t>Value:</a:t>
            </a:r>
            <a:r>
              <a:rPr lang="en-US" sz="1600" dirty="0"/>
              <a:t> A length unit (e.g., 100px, 20%) or the keyword auto.</a:t>
            </a:r>
          </a:p>
          <a:p>
            <a:pPr>
              <a:lnSpc>
                <a:spcPct val="150000"/>
              </a:lnSpc>
              <a:buFont typeface="Arial" panose="020B0604020202020204" pitchFamily="34" charset="0"/>
              <a:buChar char="•"/>
            </a:pPr>
            <a:r>
              <a:rPr lang="en-US" sz="1600" b="1" dirty="0"/>
              <a:t>Default:</a:t>
            </a:r>
            <a:r>
              <a:rPr lang="en-US" sz="1600" dirty="0"/>
              <a:t> auto. The initial size is based on the item's content size or any explicitly set width/height.</a:t>
            </a:r>
          </a:p>
          <a:p>
            <a:pPr>
              <a:lnSpc>
                <a:spcPct val="150000"/>
              </a:lnSpc>
              <a:buFont typeface="Arial" panose="020B0604020202020204" pitchFamily="34" charset="0"/>
              <a:buChar char="•"/>
            </a:pPr>
            <a:r>
              <a:rPr lang="en-US" sz="1600" b="1" dirty="0"/>
              <a:t>Behavior:</a:t>
            </a:r>
            <a:r>
              <a:rPr lang="en-US" sz="1600" dirty="0"/>
              <a:t> If set to a specific length, it acts as the starting size from which the browser calculates growth or shrinkage.</a:t>
            </a:r>
          </a:p>
          <a:p>
            <a:endParaRPr lang="en-US" sz="1600" dirty="0"/>
          </a:p>
          <a:p>
            <a:r>
              <a:rPr lang="en-US" sz="1600" b="1" dirty="0">
                <a:solidFill>
                  <a:srgbClr val="7030A0"/>
                </a:solidFill>
              </a:rPr>
              <a:t>Flex-basis vs width:</a:t>
            </a:r>
          </a:p>
          <a:p>
            <a:pPr>
              <a:lnSpc>
                <a:spcPct val="150000"/>
              </a:lnSpc>
            </a:pPr>
            <a:endParaRPr lang="en-US" sz="1600" dirty="0">
              <a:solidFill>
                <a:schemeClr val="tx1">
                  <a:lumMod val="65000"/>
                  <a:lumOff val="35000"/>
                </a:schemeClr>
              </a:solidFill>
              <a:latin typeface="+mj-l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FBFB9E2-90AA-03CE-BA86-BE95FF72856B}"/>
                  </a:ext>
                </a:extLst>
              </p14:cNvPr>
              <p14:cNvContentPartPr/>
              <p14:nvPr/>
            </p14:nvContentPartPr>
            <p14:xfrm>
              <a:off x="9378470" y="3474939"/>
              <a:ext cx="519480" cy="22320"/>
            </p14:xfrm>
          </p:contentPart>
        </mc:Choice>
        <mc:Fallback xmlns="">
          <p:pic>
            <p:nvPicPr>
              <p:cNvPr id="3" name="Ink 2">
                <a:extLst>
                  <a:ext uri="{FF2B5EF4-FFF2-40B4-BE49-F238E27FC236}">
                    <a16:creationId xmlns:a16="http://schemas.microsoft.com/office/drawing/2014/main" id="{5FBFB9E2-90AA-03CE-BA86-BE95FF72856B}"/>
                  </a:ext>
                </a:extLst>
              </p:cNvPr>
              <p:cNvPicPr/>
              <p:nvPr/>
            </p:nvPicPr>
            <p:blipFill>
              <a:blip r:embed="rId3"/>
              <a:stretch>
                <a:fillRect/>
              </a:stretch>
            </p:blipFill>
            <p:spPr>
              <a:xfrm>
                <a:off x="9288830" y="3294939"/>
                <a:ext cx="699120" cy="381960"/>
              </a:xfrm>
              <a:prstGeom prst="rect">
                <a:avLst/>
              </a:prstGeom>
            </p:spPr>
          </p:pic>
        </mc:Fallback>
      </mc:AlternateContent>
      <p:sp>
        <p:nvSpPr>
          <p:cNvPr id="7" name="AutoShape 8">
            <a:extLst>
              <a:ext uri="{FF2B5EF4-FFF2-40B4-BE49-F238E27FC236}">
                <a16:creationId xmlns:a16="http://schemas.microsoft.com/office/drawing/2014/main" id="{9730CB75-4BDF-47BC-E642-74FE459519CA}"/>
              </a:ext>
            </a:extLst>
          </p:cNvPr>
          <p:cNvSpPr>
            <a:spLocks noChangeAspect="1" noChangeArrowheads="1"/>
          </p:cNvSpPr>
          <p:nvPr/>
        </p:nvSpPr>
        <p:spPr bwMode="auto">
          <a:xfrm>
            <a:off x="6998898" y="2931544"/>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0">
            <a:extLst>
              <a:ext uri="{FF2B5EF4-FFF2-40B4-BE49-F238E27FC236}">
                <a16:creationId xmlns:a16="http://schemas.microsoft.com/office/drawing/2014/main" id="{075534DA-2BC7-2089-90DE-CB52D86D2B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0" name="Picture 2" descr="Day 26: flex-basis vs widths | SamanthaMing.com">
            <a:extLst>
              <a:ext uri="{FF2B5EF4-FFF2-40B4-BE49-F238E27FC236}">
                <a16:creationId xmlns:a16="http://schemas.microsoft.com/office/drawing/2014/main" id="{4BA61AEA-7064-5A63-FB61-F0B34B78AFE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264"/>
          <a:stretch/>
        </p:blipFill>
        <p:spPr bwMode="auto">
          <a:xfrm>
            <a:off x="3416061" y="3214382"/>
            <a:ext cx="3429000" cy="3248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37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63825" y="326942"/>
            <a:ext cx="11420144" cy="2685607"/>
          </a:xfrm>
          <a:prstGeom prst="rect">
            <a:avLst/>
          </a:prstGeom>
          <a:noFill/>
        </p:spPr>
        <p:txBody>
          <a:bodyPr wrap="square" rtlCol="0">
            <a:spAutoFit/>
          </a:bodyPr>
          <a:lstStyle/>
          <a:p>
            <a:pPr>
              <a:lnSpc>
                <a:spcPct val="150000"/>
              </a:lnSpc>
            </a:pPr>
            <a:r>
              <a:rPr lang="en-US" b="1" dirty="0">
                <a:solidFill>
                  <a:srgbClr val="7030A0"/>
                </a:solidFill>
              </a:rPr>
              <a:t>Flex items:</a:t>
            </a:r>
            <a:endParaRPr lang="en-US" sz="1600" b="1" dirty="0">
              <a:solidFill>
                <a:srgbClr val="7030A0"/>
              </a:solidFill>
            </a:endParaRPr>
          </a:p>
          <a:p>
            <a:pPr>
              <a:lnSpc>
                <a:spcPct val="150000"/>
              </a:lnSpc>
            </a:pPr>
            <a:r>
              <a:rPr lang="en-US" sz="1600" b="1" dirty="0">
                <a:solidFill>
                  <a:srgbClr val="7030A0"/>
                </a:solidFill>
                <a:latin typeface="+mj-lt"/>
              </a:rPr>
              <a:t>4-flex (Shorthand):</a:t>
            </a:r>
          </a:p>
          <a:p>
            <a:pPr>
              <a:lnSpc>
                <a:spcPct val="150000"/>
              </a:lnSpc>
            </a:pPr>
            <a:r>
              <a:rPr lang="en-US" sz="1600" dirty="0"/>
              <a:t>The flex property is a shorthand for setting the three sizing properties together: </a:t>
            </a:r>
            <a:r>
              <a:rPr lang="en-US" sz="1600" b="1" dirty="0"/>
              <a:t>flex-grow</a:t>
            </a:r>
            <a:r>
              <a:rPr lang="en-US" sz="1600" dirty="0"/>
              <a:t>, </a:t>
            </a:r>
            <a:r>
              <a:rPr lang="en-US" sz="1600" b="1" dirty="0"/>
              <a:t>flex-shrink</a:t>
            </a:r>
            <a:r>
              <a:rPr lang="en-US" sz="1600" dirty="0"/>
              <a:t>, and </a:t>
            </a:r>
            <a:r>
              <a:rPr lang="en-US" sz="1600" b="1" dirty="0"/>
              <a:t>flex-basis</a:t>
            </a:r>
            <a:r>
              <a:rPr lang="en-US" sz="1600" dirty="0"/>
              <a:t> (in that specific order).</a:t>
            </a:r>
          </a:p>
          <a:p>
            <a:pPr>
              <a:lnSpc>
                <a:spcPct val="150000"/>
              </a:lnSpc>
              <a:buFont typeface="Arial" panose="020B0604020202020204" pitchFamily="34" charset="0"/>
              <a:buChar char="•"/>
            </a:pPr>
            <a:r>
              <a:rPr lang="en-US" sz="1600" b="1" dirty="0"/>
              <a:t>Syntax:</a:t>
            </a:r>
            <a:r>
              <a:rPr lang="en-US" sz="1600" dirty="0"/>
              <a:t>  flex: &lt;flex-grow&gt; &lt;flex-shrink&gt; &lt;flex-basis&gt;;</a:t>
            </a:r>
          </a:p>
          <a:p>
            <a:pPr>
              <a:lnSpc>
                <a:spcPct val="150000"/>
              </a:lnSpc>
              <a:buFont typeface="Arial" panose="020B0604020202020204" pitchFamily="34" charset="0"/>
              <a:buChar char="•"/>
            </a:pPr>
            <a:r>
              <a:rPr lang="en-US" sz="1600" b="1" dirty="0"/>
              <a:t>Example:</a:t>
            </a:r>
            <a:r>
              <a:rPr lang="en-US" sz="1600" dirty="0"/>
              <a:t> flex: 1 1 200px; (Grows 1x, Shrinks 1x, Initial size 200px)</a:t>
            </a:r>
          </a:p>
          <a:p>
            <a:pPr>
              <a:lnSpc>
                <a:spcPct val="150000"/>
              </a:lnSpc>
            </a:pPr>
            <a:endParaRPr lang="en-US" sz="1600" dirty="0">
              <a:solidFill>
                <a:schemeClr val="tx1">
                  <a:lumMod val="65000"/>
                  <a:lumOff val="35000"/>
                </a:schemeClr>
              </a:solidFill>
              <a:latin typeface="+mj-l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FBFB9E2-90AA-03CE-BA86-BE95FF72856B}"/>
                  </a:ext>
                </a:extLst>
              </p14:cNvPr>
              <p14:cNvContentPartPr/>
              <p14:nvPr/>
            </p14:nvContentPartPr>
            <p14:xfrm>
              <a:off x="9378470" y="3474939"/>
              <a:ext cx="519480" cy="22320"/>
            </p14:xfrm>
          </p:contentPart>
        </mc:Choice>
        <mc:Fallback xmlns="">
          <p:pic>
            <p:nvPicPr>
              <p:cNvPr id="3" name="Ink 2">
                <a:extLst>
                  <a:ext uri="{FF2B5EF4-FFF2-40B4-BE49-F238E27FC236}">
                    <a16:creationId xmlns:a16="http://schemas.microsoft.com/office/drawing/2014/main" id="{5FBFB9E2-90AA-03CE-BA86-BE95FF72856B}"/>
                  </a:ext>
                </a:extLst>
              </p:cNvPr>
              <p:cNvPicPr/>
              <p:nvPr/>
            </p:nvPicPr>
            <p:blipFill>
              <a:blip r:embed="rId3"/>
              <a:stretch>
                <a:fillRect/>
              </a:stretch>
            </p:blipFill>
            <p:spPr>
              <a:xfrm>
                <a:off x="9288830" y="3294939"/>
                <a:ext cx="699120" cy="381960"/>
              </a:xfrm>
              <a:prstGeom prst="rect">
                <a:avLst/>
              </a:prstGeom>
            </p:spPr>
          </p:pic>
        </mc:Fallback>
      </mc:AlternateContent>
      <p:sp>
        <p:nvSpPr>
          <p:cNvPr id="7" name="AutoShape 8">
            <a:extLst>
              <a:ext uri="{FF2B5EF4-FFF2-40B4-BE49-F238E27FC236}">
                <a16:creationId xmlns:a16="http://schemas.microsoft.com/office/drawing/2014/main" id="{9730CB75-4BDF-47BC-E642-74FE459519CA}"/>
              </a:ext>
            </a:extLst>
          </p:cNvPr>
          <p:cNvSpPr>
            <a:spLocks noChangeAspect="1" noChangeArrowheads="1"/>
          </p:cNvSpPr>
          <p:nvPr/>
        </p:nvSpPr>
        <p:spPr bwMode="auto">
          <a:xfrm>
            <a:off x="6998898" y="2931544"/>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0">
            <a:extLst>
              <a:ext uri="{FF2B5EF4-FFF2-40B4-BE49-F238E27FC236}">
                <a16:creationId xmlns:a16="http://schemas.microsoft.com/office/drawing/2014/main" id="{075534DA-2BC7-2089-90DE-CB52D86D2B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D0D6B8EA-4707-D744-C0D7-D99E29F52DEA}"/>
              </a:ext>
            </a:extLst>
          </p:cNvPr>
          <p:cNvGraphicFramePr>
            <a:graphicFrameLocks noGrp="1"/>
          </p:cNvGraphicFramePr>
          <p:nvPr/>
        </p:nvGraphicFramePr>
        <p:xfrm>
          <a:off x="2207141" y="2931544"/>
          <a:ext cx="7690809" cy="3322320"/>
        </p:xfrm>
        <a:graphic>
          <a:graphicData uri="http://schemas.openxmlformats.org/drawingml/2006/table">
            <a:tbl>
              <a:tblPr>
                <a:tableStyleId>{D7AC3CCA-C797-4891-BE02-D94E43425B78}</a:tableStyleId>
              </a:tblPr>
              <a:tblGrid>
                <a:gridCol w="2563603">
                  <a:extLst>
                    <a:ext uri="{9D8B030D-6E8A-4147-A177-3AD203B41FA5}">
                      <a16:colId xmlns:a16="http://schemas.microsoft.com/office/drawing/2014/main" val="1173594034"/>
                    </a:ext>
                  </a:extLst>
                </a:gridCol>
                <a:gridCol w="2563603">
                  <a:extLst>
                    <a:ext uri="{9D8B030D-6E8A-4147-A177-3AD203B41FA5}">
                      <a16:colId xmlns:a16="http://schemas.microsoft.com/office/drawing/2014/main" val="1528808156"/>
                    </a:ext>
                  </a:extLst>
                </a:gridCol>
                <a:gridCol w="2563603">
                  <a:extLst>
                    <a:ext uri="{9D8B030D-6E8A-4147-A177-3AD203B41FA5}">
                      <a16:colId xmlns:a16="http://schemas.microsoft.com/office/drawing/2014/main" val="2668267384"/>
                    </a:ext>
                  </a:extLst>
                </a:gridCol>
              </a:tblGrid>
              <a:tr h="382875">
                <a:tc>
                  <a:txBody>
                    <a:bodyPr/>
                    <a:lstStyle/>
                    <a:p>
                      <a:pPr rtl="0"/>
                      <a:r>
                        <a:rPr lang="en-US" b="1" dirty="0">
                          <a:solidFill>
                            <a:srgbClr val="1B1C1D"/>
                          </a:solidFill>
                          <a:effectLst/>
                        </a:rPr>
                        <a:t>Shorthand</a:t>
                      </a:r>
                      <a:endParaRPr lang="en-US" dirty="0">
                        <a:solidFill>
                          <a:srgbClr val="1B1C1D"/>
                        </a:solidFill>
                        <a:effectLst/>
                        <a:latin typeface="+mj-lt"/>
                      </a:endParaRPr>
                    </a:p>
                  </a:txBody>
                  <a:tcPr marL="114300" marR="114300" marT="76200" marB="76200" anchor="ctr"/>
                </a:tc>
                <a:tc>
                  <a:txBody>
                    <a:bodyPr/>
                    <a:lstStyle/>
                    <a:p>
                      <a:pPr rtl="0"/>
                      <a:r>
                        <a:rPr lang="en-US" b="1">
                          <a:solidFill>
                            <a:srgbClr val="1B1C1D"/>
                          </a:solidFill>
                          <a:effectLst/>
                        </a:rPr>
                        <a:t>Expands to...</a:t>
                      </a:r>
                      <a:endParaRPr lang="en-US">
                        <a:solidFill>
                          <a:srgbClr val="1B1C1D"/>
                        </a:solidFill>
                        <a:effectLst/>
                        <a:latin typeface="+mj-lt"/>
                      </a:endParaRPr>
                    </a:p>
                  </a:txBody>
                  <a:tcPr marL="114300" marR="114300" marT="76200" marB="76200" anchor="ctr"/>
                </a:tc>
                <a:tc>
                  <a:txBody>
                    <a:bodyPr/>
                    <a:lstStyle/>
                    <a:p>
                      <a:pPr rtl="0"/>
                      <a:r>
                        <a:rPr lang="en-US" b="1">
                          <a:solidFill>
                            <a:srgbClr val="1B1C1D"/>
                          </a:solidFill>
                          <a:effectLst/>
                        </a:rPr>
                        <a:t>Description</a:t>
                      </a:r>
                      <a:endParaRPr lang="en-US">
                        <a:solidFill>
                          <a:srgbClr val="1B1C1D"/>
                        </a:solidFill>
                        <a:effectLst/>
                        <a:latin typeface="+mj-lt"/>
                      </a:endParaRPr>
                    </a:p>
                  </a:txBody>
                  <a:tcPr marL="114300" marR="114300" marT="76200" marB="76200" anchor="ctr"/>
                </a:tc>
                <a:extLst>
                  <a:ext uri="{0D108BD9-81ED-4DB2-BD59-A6C34878D82A}">
                    <a16:rowId xmlns:a16="http://schemas.microsoft.com/office/drawing/2014/main" val="3679158710"/>
                  </a:ext>
                </a:extLst>
              </a:tr>
              <a:tr h="576163">
                <a:tc>
                  <a:txBody>
                    <a:bodyPr/>
                    <a:lstStyle/>
                    <a:p>
                      <a:pPr rtl="0"/>
                      <a:r>
                        <a:rPr lang="en-US" sz="1600" b="1" dirty="0">
                          <a:solidFill>
                            <a:srgbClr val="1B1C1D"/>
                          </a:solidFill>
                          <a:effectLst/>
                        </a:rPr>
                        <a:t>flex: auto;</a:t>
                      </a:r>
                      <a:endParaRPr lang="en-US" sz="1600" dirty="0">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1 1 auto</a:t>
                      </a:r>
                      <a:endParaRPr lang="en-US" sz="1600" dirty="0">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Item can grow and shrink from its content size.</a:t>
                      </a:r>
                      <a:endParaRPr lang="en-US" sz="1600" dirty="0">
                        <a:solidFill>
                          <a:srgbClr val="1B1C1D"/>
                        </a:solidFill>
                        <a:effectLst/>
                        <a:latin typeface="+mj-lt"/>
                      </a:endParaRPr>
                    </a:p>
                  </a:txBody>
                  <a:tcPr marL="114300" marR="114300" marT="76200" marB="76200" anchor="ctr"/>
                </a:tc>
                <a:extLst>
                  <a:ext uri="{0D108BD9-81ED-4DB2-BD59-A6C34878D82A}">
                    <a16:rowId xmlns:a16="http://schemas.microsoft.com/office/drawing/2014/main" val="1087404489"/>
                  </a:ext>
                </a:extLst>
              </a:tr>
              <a:tr h="801618">
                <a:tc>
                  <a:txBody>
                    <a:bodyPr/>
                    <a:lstStyle/>
                    <a:p>
                      <a:pPr rtl="0"/>
                      <a:r>
                        <a:rPr lang="en-US" sz="1600" b="1" dirty="0">
                          <a:solidFill>
                            <a:srgbClr val="1B1C1D"/>
                          </a:solidFill>
                          <a:effectLst/>
                        </a:rPr>
                        <a:t>flex: none;</a:t>
                      </a:r>
                      <a:endParaRPr lang="en-US" sz="1600" dirty="0">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0 0 auto</a:t>
                      </a:r>
                      <a:endParaRPr lang="en-US" sz="1600" dirty="0">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Item maintains its content size and cannot grow or shrink.</a:t>
                      </a:r>
                      <a:endParaRPr lang="en-US" sz="1600" dirty="0">
                        <a:solidFill>
                          <a:srgbClr val="1B1C1D"/>
                        </a:solidFill>
                        <a:effectLst/>
                        <a:latin typeface="+mj-lt"/>
                      </a:endParaRPr>
                    </a:p>
                  </a:txBody>
                  <a:tcPr marL="114300" marR="114300" marT="76200" marB="76200" anchor="ctr"/>
                </a:tc>
                <a:extLst>
                  <a:ext uri="{0D108BD9-81ED-4DB2-BD59-A6C34878D82A}">
                    <a16:rowId xmlns:a16="http://schemas.microsoft.com/office/drawing/2014/main" val="2704083979"/>
                  </a:ext>
                </a:extLst>
              </a:tr>
              <a:tr h="1252528">
                <a:tc>
                  <a:txBody>
                    <a:bodyPr/>
                    <a:lstStyle/>
                    <a:p>
                      <a:pPr rtl="0"/>
                      <a:r>
                        <a:rPr lang="en-US" sz="1600" b="1">
                          <a:solidFill>
                            <a:srgbClr val="1B1C1D"/>
                          </a:solidFill>
                          <a:effectLst/>
                        </a:rPr>
                        <a:t>flex: 1;</a:t>
                      </a:r>
                      <a:endParaRPr lang="en-US" sz="1600">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1 1 0;</a:t>
                      </a:r>
                      <a:endParaRPr lang="en-US" sz="1600" dirty="0">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Item can grow and shrink, and its base size is considered 0, forcing the extra space to be evenly divided.</a:t>
                      </a:r>
                      <a:endParaRPr lang="en-US" sz="1600" dirty="0">
                        <a:solidFill>
                          <a:srgbClr val="1B1C1D"/>
                        </a:solidFill>
                        <a:effectLst/>
                        <a:latin typeface="+mj-lt"/>
                      </a:endParaRPr>
                    </a:p>
                  </a:txBody>
                  <a:tcPr marL="114300" marR="114300" marT="76200" marB="76200" anchor="ctr"/>
                </a:tc>
                <a:extLst>
                  <a:ext uri="{0D108BD9-81ED-4DB2-BD59-A6C34878D82A}">
                    <a16:rowId xmlns:a16="http://schemas.microsoft.com/office/drawing/2014/main" val="3107951309"/>
                  </a:ext>
                </a:extLst>
              </a:tr>
            </a:tbl>
          </a:graphicData>
        </a:graphic>
      </p:graphicFrame>
    </p:spTree>
    <p:extLst>
      <p:ext uri="{BB962C8B-B14F-4D97-AF65-F5344CB8AC3E}">
        <p14:creationId xmlns:p14="http://schemas.microsoft.com/office/powerpoint/2010/main" val="3312742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63825" y="326942"/>
            <a:ext cx="11420144" cy="2316275"/>
          </a:xfrm>
          <a:prstGeom prst="rect">
            <a:avLst/>
          </a:prstGeom>
          <a:noFill/>
        </p:spPr>
        <p:txBody>
          <a:bodyPr wrap="square" rtlCol="0">
            <a:spAutoFit/>
          </a:bodyPr>
          <a:lstStyle/>
          <a:p>
            <a:pPr>
              <a:lnSpc>
                <a:spcPct val="150000"/>
              </a:lnSpc>
            </a:pPr>
            <a:r>
              <a:rPr lang="en-US" b="1" dirty="0">
                <a:solidFill>
                  <a:srgbClr val="7030A0"/>
                </a:solidFill>
              </a:rPr>
              <a:t>Flex items:</a:t>
            </a:r>
            <a:endParaRPr lang="en-US" sz="1600" b="1" dirty="0">
              <a:solidFill>
                <a:srgbClr val="7030A0"/>
              </a:solidFill>
            </a:endParaRPr>
          </a:p>
          <a:p>
            <a:pPr>
              <a:lnSpc>
                <a:spcPct val="150000"/>
              </a:lnSpc>
            </a:pPr>
            <a:r>
              <a:rPr lang="en-US" sz="1600" b="1" dirty="0">
                <a:solidFill>
                  <a:srgbClr val="7030A0"/>
                </a:solidFill>
                <a:latin typeface="+mj-lt"/>
              </a:rPr>
              <a:t>4-align-self:</a:t>
            </a:r>
          </a:p>
          <a:p>
            <a:pPr>
              <a:lnSpc>
                <a:spcPct val="150000"/>
              </a:lnSpc>
            </a:pPr>
            <a:r>
              <a:rPr lang="en-US" sz="1600" dirty="0"/>
              <a:t>This property allows a specific flex item to </a:t>
            </a:r>
            <a:r>
              <a:rPr lang="en-US" sz="1600" b="1" dirty="0"/>
              <a:t>override</a:t>
            </a:r>
            <a:r>
              <a:rPr lang="en-US" sz="1600" dirty="0"/>
              <a:t> the container's </a:t>
            </a:r>
            <a:r>
              <a:rPr lang="en-US" sz="1600" b="1" dirty="0"/>
              <a:t>align-items</a:t>
            </a:r>
            <a:r>
              <a:rPr lang="en-US" sz="1600" dirty="0"/>
              <a:t> property (alignment along the cross axis).</a:t>
            </a:r>
          </a:p>
          <a:p>
            <a:pPr>
              <a:lnSpc>
                <a:spcPct val="150000"/>
              </a:lnSpc>
              <a:buFont typeface="Arial" panose="020B0604020202020204" pitchFamily="34" charset="0"/>
              <a:buChar char="•"/>
            </a:pPr>
            <a:r>
              <a:rPr lang="en-US" sz="1600" b="1" dirty="0"/>
              <a:t>Value:</a:t>
            </a:r>
            <a:r>
              <a:rPr lang="en-US" sz="1600" dirty="0"/>
              <a:t> Accepts the same values as align-items (flex-start, flex-end, center, stretch, baseline).</a:t>
            </a:r>
          </a:p>
          <a:p>
            <a:pPr>
              <a:lnSpc>
                <a:spcPct val="150000"/>
              </a:lnSpc>
              <a:buFont typeface="Arial" panose="020B0604020202020204" pitchFamily="34" charset="0"/>
              <a:buChar char="•"/>
            </a:pPr>
            <a:r>
              <a:rPr lang="en-US" sz="1600" b="1" dirty="0"/>
              <a:t>Use:</a:t>
            </a:r>
            <a:r>
              <a:rPr lang="en-US" sz="1600" dirty="0"/>
              <a:t> Perfect for centering one element vertically while the rest of the items align to the start.</a:t>
            </a:r>
          </a:p>
          <a:p>
            <a:pPr>
              <a:lnSpc>
                <a:spcPct val="150000"/>
              </a:lnSpc>
            </a:pPr>
            <a:endParaRPr lang="en-US" sz="1600" dirty="0">
              <a:solidFill>
                <a:schemeClr val="tx1">
                  <a:lumMod val="65000"/>
                  <a:lumOff val="35000"/>
                </a:schemeClr>
              </a:solidFill>
              <a:latin typeface="+mj-lt"/>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FBFB9E2-90AA-03CE-BA86-BE95FF72856B}"/>
                  </a:ext>
                </a:extLst>
              </p14:cNvPr>
              <p14:cNvContentPartPr/>
              <p14:nvPr/>
            </p14:nvContentPartPr>
            <p14:xfrm>
              <a:off x="9378470" y="3474939"/>
              <a:ext cx="519480" cy="22320"/>
            </p14:xfrm>
          </p:contentPart>
        </mc:Choice>
        <mc:Fallback xmlns="">
          <p:pic>
            <p:nvPicPr>
              <p:cNvPr id="3" name="Ink 2">
                <a:extLst>
                  <a:ext uri="{FF2B5EF4-FFF2-40B4-BE49-F238E27FC236}">
                    <a16:creationId xmlns:a16="http://schemas.microsoft.com/office/drawing/2014/main" id="{5FBFB9E2-90AA-03CE-BA86-BE95FF72856B}"/>
                  </a:ext>
                </a:extLst>
              </p:cNvPr>
              <p:cNvPicPr/>
              <p:nvPr/>
            </p:nvPicPr>
            <p:blipFill>
              <a:blip r:embed="rId3"/>
              <a:stretch>
                <a:fillRect/>
              </a:stretch>
            </p:blipFill>
            <p:spPr>
              <a:xfrm>
                <a:off x="9288830" y="3294939"/>
                <a:ext cx="699120" cy="381960"/>
              </a:xfrm>
              <a:prstGeom prst="rect">
                <a:avLst/>
              </a:prstGeom>
            </p:spPr>
          </p:pic>
        </mc:Fallback>
      </mc:AlternateContent>
      <p:sp>
        <p:nvSpPr>
          <p:cNvPr id="7" name="AutoShape 8">
            <a:extLst>
              <a:ext uri="{FF2B5EF4-FFF2-40B4-BE49-F238E27FC236}">
                <a16:creationId xmlns:a16="http://schemas.microsoft.com/office/drawing/2014/main" id="{9730CB75-4BDF-47BC-E642-74FE459519CA}"/>
              </a:ext>
            </a:extLst>
          </p:cNvPr>
          <p:cNvSpPr>
            <a:spLocks noChangeAspect="1" noChangeArrowheads="1"/>
          </p:cNvSpPr>
          <p:nvPr/>
        </p:nvSpPr>
        <p:spPr bwMode="auto">
          <a:xfrm>
            <a:off x="6998898" y="2931544"/>
            <a:ext cx="152400" cy="152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10">
            <a:extLst>
              <a:ext uri="{FF2B5EF4-FFF2-40B4-BE49-F238E27FC236}">
                <a16:creationId xmlns:a16="http://schemas.microsoft.com/office/drawing/2014/main" id="{075534DA-2BC7-2089-90DE-CB52D86D2BA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6F3264FC-1CC8-59B8-ED03-8062E23BE20A}"/>
              </a:ext>
            </a:extLst>
          </p:cNvPr>
          <p:cNvPicPr>
            <a:picLocks noChangeAspect="1"/>
          </p:cNvPicPr>
          <p:nvPr/>
        </p:nvPicPr>
        <p:blipFill>
          <a:blip r:embed="rId4"/>
          <a:stretch>
            <a:fillRect/>
          </a:stretch>
        </p:blipFill>
        <p:spPr>
          <a:xfrm>
            <a:off x="3158706" y="3276600"/>
            <a:ext cx="4789098" cy="2564948"/>
          </a:xfrm>
          <a:prstGeom prst="rect">
            <a:avLst/>
          </a:prstGeom>
        </p:spPr>
      </p:pic>
    </p:spTree>
    <p:extLst>
      <p:ext uri="{BB962C8B-B14F-4D97-AF65-F5344CB8AC3E}">
        <p14:creationId xmlns:p14="http://schemas.microsoft.com/office/powerpoint/2010/main" val="4197539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52490" y="226961"/>
            <a:ext cx="11055148" cy="3511859"/>
          </a:xfrm>
          <a:prstGeom prst="rect">
            <a:avLst/>
          </a:prstGeom>
          <a:noFill/>
        </p:spPr>
        <p:txBody>
          <a:bodyPr wrap="square" rtlCol="0">
            <a:spAutoFit/>
          </a:bodyPr>
          <a:lstStyle/>
          <a:p>
            <a:pPr>
              <a:lnSpc>
                <a:spcPct val="150000"/>
              </a:lnSpc>
            </a:pPr>
            <a:r>
              <a:rPr lang="en-US" b="1" dirty="0">
                <a:solidFill>
                  <a:srgbClr val="0070C0"/>
                </a:solidFill>
              </a:rPr>
              <a:t>Pseudo class:</a:t>
            </a:r>
          </a:p>
          <a:p>
            <a:pPr>
              <a:lnSpc>
                <a:spcPct val="150000"/>
              </a:lnSpc>
            </a:pPr>
            <a:r>
              <a:rPr lang="en-US" sz="1600" dirty="0">
                <a:latin typeface="+mj-lt"/>
              </a:rPr>
              <a:t>A </a:t>
            </a:r>
            <a:r>
              <a:rPr lang="en-US" sz="1600" b="1" dirty="0">
                <a:latin typeface="+mj-lt"/>
              </a:rPr>
              <a:t>pseudo-class</a:t>
            </a:r>
            <a:r>
              <a:rPr lang="en-US" sz="1600" dirty="0">
                <a:latin typeface="+mj-lt"/>
              </a:rPr>
              <a:t> is a keyword added to a CSS selector that specifies a special state of the selected HTML element. They allow you to apply styles based on factors other than the simple name, ID, or class of the element, such as its interaction state (e.g., being hovered over) or its position within a document tree (e.g., being the first child).</a:t>
            </a:r>
          </a:p>
          <a:p>
            <a:pPr>
              <a:lnSpc>
                <a:spcPct val="150000"/>
              </a:lnSpc>
            </a:pPr>
            <a:r>
              <a:rPr lang="en-US" sz="1600" dirty="0">
                <a:latin typeface="+mj-lt"/>
              </a:rPr>
              <a:t>Pseudo-classes begin with a single colon (:) and are attached directly to a selector.</a:t>
            </a:r>
          </a:p>
          <a:p>
            <a:pPr>
              <a:lnSpc>
                <a:spcPct val="150000"/>
              </a:lnSpc>
            </a:pPr>
            <a:endParaRPr lang="en-US" sz="1600" dirty="0">
              <a:latin typeface="+mj-lt"/>
            </a:endParaRPr>
          </a:p>
          <a:p>
            <a:pPr>
              <a:lnSpc>
                <a:spcPct val="150000"/>
              </a:lnSpc>
            </a:pPr>
            <a:r>
              <a:rPr lang="en-US" sz="1600" b="1" dirty="0">
                <a:solidFill>
                  <a:srgbClr val="0070C0"/>
                </a:solidFill>
                <a:latin typeface="+mj-lt"/>
              </a:rPr>
              <a:t>This is pseudo class syntax :</a:t>
            </a:r>
          </a:p>
          <a:p>
            <a:pPr>
              <a:lnSpc>
                <a:spcPct val="150000"/>
              </a:lnSpc>
            </a:pPr>
            <a:endParaRPr lang="en-US" dirty="0">
              <a:solidFill>
                <a:schemeClr val="tx1">
                  <a:lumMod val="65000"/>
                  <a:lumOff val="35000"/>
                </a:schemeClr>
              </a:solidFill>
              <a:latin typeface="+mj-lt"/>
            </a:endParaRPr>
          </a:p>
          <a:p>
            <a:pPr>
              <a:lnSpc>
                <a:spcPct val="150000"/>
              </a:lnSpc>
            </a:pPr>
            <a:endParaRPr lang="en-US" dirty="0">
              <a:solidFill>
                <a:schemeClr val="tx1">
                  <a:lumMod val="65000"/>
                  <a:lumOff val="35000"/>
                </a:schemeClr>
              </a:solidFill>
              <a:latin typeface="+mj-lt"/>
            </a:endParaRPr>
          </a:p>
        </p:txBody>
      </p:sp>
      <p:pic>
        <p:nvPicPr>
          <p:cNvPr id="1026" name="Picture 2" descr="Pseudo Classes in CSS - Scientech Easy">
            <a:extLst>
              <a:ext uri="{FF2B5EF4-FFF2-40B4-BE49-F238E27FC236}">
                <a16:creationId xmlns:a16="http://schemas.microsoft.com/office/drawing/2014/main" id="{C324C71F-0296-61BF-C37B-EE46A5D415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49" t="17160" r="7086" b="15221"/>
          <a:stretch/>
        </p:blipFill>
        <p:spPr bwMode="auto">
          <a:xfrm>
            <a:off x="5025204" y="3111260"/>
            <a:ext cx="5344968" cy="280646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E00DBCD-722D-B6F2-6475-BFD04609FF10}"/>
              </a:ext>
            </a:extLst>
          </p:cNvPr>
          <p:cNvPicPr>
            <a:picLocks noChangeAspect="1"/>
          </p:cNvPicPr>
          <p:nvPr/>
        </p:nvPicPr>
        <p:blipFill>
          <a:blip r:embed="rId3"/>
          <a:stretch>
            <a:fillRect/>
          </a:stretch>
        </p:blipFill>
        <p:spPr>
          <a:xfrm>
            <a:off x="526813" y="3010619"/>
            <a:ext cx="3360925" cy="3007743"/>
          </a:xfrm>
          <a:prstGeom prst="rect">
            <a:avLst/>
          </a:prstGeom>
        </p:spPr>
      </p:pic>
    </p:spTree>
    <p:extLst>
      <p:ext uri="{BB962C8B-B14F-4D97-AF65-F5344CB8AC3E}">
        <p14:creationId xmlns:p14="http://schemas.microsoft.com/office/powerpoint/2010/main" val="892937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510396" y="456998"/>
            <a:ext cx="11055148" cy="1295868"/>
          </a:xfrm>
          <a:prstGeom prst="rect">
            <a:avLst/>
          </a:prstGeom>
          <a:noFill/>
        </p:spPr>
        <p:txBody>
          <a:bodyPr wrap="square" rtlCol="0">
            <a:spAutoFit/>
          </a:bodyPr>
          <a:lstStyle/>
          <a:p>
            <a:pPr>
              <a:lnSpc>
                <a:spcPct val="150000"/>
              </a:lnSpc>
            </a:pPr>
            <a:r>
              <a:rPr lang="en-US" b="1" dirty="0">
                <a:solidFill>
                  <a:srgbClr val="0070C0"/>
                </a:solidFill>
              </a:rPr>
              <a:t>Pseudo class</a:t>
            </a:r>
          </a:p>
          <a:p>
            <a:pPr>
              <a:lnSpc>
                <a:spcPct val="150000"/>
              </a:lnSpc>
            </a:pPr>
            <a:endParaRPr lang="en-US" dirty="0">
              <a:solidFill>
                <a:schemeClr val="tx1">
                  <a:lumMod val="65000"/>
                  <a:lumOff val="35000"/>
                </a:schemeClr>
              </a:solidFill>
              <a:latin typeface="+mj-lt"/>
            </a:endParaRPr>
          </a:p>
          <a:p>
            <a:pPr>
              <a:lnSpc>
                <a:spcPct val="150000"/>
              </a:lnSpc>
            </a:pPr>
            <a:endParaRPr lang="en-US" dirty="0">
              <a:solidFill>
                <a:schemeClr val="tx1">
                  <a:lumMod val="65000"/>
                  <a:lumOff val="35000"/>
                </a:schemeClr>
              </a:solidFill>
              <a:latin typeface="+mj-lt"/>
            </a:endParaRPr>
          </a:p>
        </p:txBody>
      </p:sp>
      <p:graphicFrame>
        <p:nvGraphicFramePr>
          <p:cNvPr id="3" name="Table 2">
            <a:extLst>
              <a:ext uri="{FF2B5EF4-FFF2-40B4-BE49-F238E27FC236}">
                <a16:creationId xmlns:a16="http://schemas.microsoft.com/office/drawing/2014/main" id="{886250A5-D87C-0920-114F-8048B89F1B2A}"/>
              </a:ext>
            </a:extLst>
          </p:cNvPr>
          <p:cNvGraphicFramePr>
            <a:graphicFrameLocks noGrp="1"/>
          </p:cNvGraphicFramePr>
          <p:nvPr>
            <p:extLst>
              <p:ext uri="{D42A27DB-BD31-4B8C-83A1-F6EECF244321}">
                <p14:modId xmlns:p14="http://schemas.microsoft.com/office/powerpoint/2010/main" val="300342237"/>
              </p:ext>
            </p:extLst>
          </p:nvPr>
        </p:nvGraphicFramePr>
        <p:xfrm>
          <a:off x="510396" y="1587048"/>
          <a:ext cx="10515600" cy="2346960"/>
        </p:xfrm>
        <a:graphic>
          <a:graphicData uri="http://schemas.openxmlformats.org/drawingml/2006/table">
            <a:tbl>
              <a:tblPr>
                <a:tableStyleId>{BC89EF96-8CEA-46FF-86C4-4CE0E7609802}</a:tableStyleId>
              </a:tblPr>
              <a:tblGrid>
                <a:gridCol w="3505200">
                  <a:extLst>
                    <a:ext uri="{9D8B030D-6E8A-4147-A177-3AD203B41FA5}">
                      <a16:colId xmlns:a16="http://schemas.microsoft.com/office/drawing/2014/main" val="2171203912"/>
                    </a:ext>
                  </a:extLst>
                </a:gridCol>
                <a:gridCol w="3505200">
                  <a:extLst>
                    <a:ext uri="{9D8B030D-6E8A-4147-A177-3AD203B41FA5}">
                      <a16:colId xmlns:a16="http://schemas.microsoft.com/office/drawing/2014/main" val="2004591472"/>
                    </a:ext>
                  </a:extLst>
                </a:gridCol>
                <a:gridCol w="3505200">
                  <a:extLst>
                    <a:ext uri="{9D8B030D-6E8A-4147-A177-3AD203B41FA5}">
                      <a16:colId xmlns:a16="http://schemas.microsoft.com/office/drawing/2014/main" val="2660904003"/>
                    </a:ext>
                  </a:extLst>
                </a:gridCol>
              </a:tblGrid>
              <a:tr h="0">
                <a:tc>
                  <a:txBody>
                    <a:bodyPr/>
                    <a:lstStyle/>
                    <a:p>
                      <a:pPr rtl="0"/>
                      <a:r>
                        <a:rPr lang="en-US" b="1" dirty="0">
                          <a:solidFill>
                            <a:srgbClr val="1B1C1D"/>
                          </a:solidFill>
                          <a:effectLst/>
                        </a:rPr>
                        <a:t>Pseudo-class</a:t>
                      </a:r>
                      <a:endParaRPr lang="en-US" dirty="0">
                        <a:solidFill>
                          <a:srgbClr val="1B1C1D"/>
                        </a:solidFill>
                        <a:effectLst/>
                        <a:latin typeface="+mj-lt"/>
                      </a:endParaRPr>
                    </a:p>
                  </a:txBody>
                  <a:tcPr marL="114300" marR="114300" marT="76200" marB="76200" anchor="ctr"/>
                </a:tc>
                <a:tc>
                  <a:txBody>
                    <a:bodyPr/>
                    <a:lstStyle/>
                    <a:p>
                      <a:pPr rtl="0"/>
                      <a:r>
                        <a:rPr lang="en-US" b="1">
                          <a:solidFill>
                            <a:srgbClr val="1B1C1D"/>
                          </a:solidFill>
                          <a:effectLst/>
                        </a:rPr>
                        <a:t>Description</a:t>
                      </a:r>
                      <a:endParaRPr lang="en-US">
                        <a:solidFill>
                          <a:srgbClr val="1B1C1D"/>
                        </a:solidFill>
                        <a:effectLst/>
                        <a:latin typeface="+mj-lt"/>
                      </a:endParaRPr>
                    </a:p>
                  </a:txBody>
                  <a:tcPr marL="114300" marR="114300" marT="76200" marB="76200" anchor="ctr"/>
                </a:tc>
                <a:tc>
                  <a:txBody>
                    <a:bodyPr/>
                    <a:lstStyle/>
                    <a:p>
                      <a:pPr rtl="0"/>
                      <a:r>
                        <a:rPr lang="en-US" b="1">
                          <a:solidFill>
                            <a:srgbClr val="1B1C1D"/>
                          </a:solidFill>
                          <a:effectLst/>
                        </a:rPr>
                        <a:t>Example Use</a:t>
                      </a:r>
                      <a:endParaRPr lang="en-US">
                        <a:solidFill>
                          <a:srgbClr val="1B1C1D"/>
                        </a:solidFill>
                        <a:effectLst/>
                        <a:latin typeface="+mj-lt"/>
                      </a:endParaRPr>
                    </a:p>
                  </a:txBody>
                  <a:tcPr marL="114300" marR="114300" marT="76200" marB="76200" anchor="ctr"/>
                </a:tc>
                <a:extLst>
                  <a:ext uri="{0D108BD9-81ED-4DB2-BD59-A6C34878D82A}">
                    <a16:rowId xmlns:a16="http://schemas.microsoft.com/office/drawing/2014/main" val="3505014996"/>
                  </a:ext>
                </a:extLst>
              </a:tr>
              <a:tr h="0">
                <a:tc>
                  <a:txBody>
                    <a:bodyPr/>
                    <a:lstStyle/>
                    <a:p>
                      <a:pPr rtl="0"/>
                      <a:r>
                        <a:rPr lang="en-US" b="1" dirty="0">
                          <a:solidFill>
                            <a:srgbClr val="1B1C1D"/>
                          </a:solidFill>
                          <a:effectLst/>
                        </a:rPr>
                        <a:t>:hover</a:t>
                      </a:r>
                      <a:endParaRPr lang="en-US" dirty="0">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Applies styles when the user's mouse pointer is over the element.</a:t>
                      </a:r>
                      <a:endParaRPr lang="en-US" sz="1600" dirty="0">
                        <a:solidFill>
                          <a:srgbClr val="1B1C1D"/>
                        </a:solidFill>
                        <a:effectLst/>
                        <a:latin typeface="+mj-lt"/>
                      </a:endParaRPr>
                    </a:p>
                  </a:txBody>
                  <a:tcPr marL="114300" marR="114300" marT="76200" marB="76200" anchor="ctr"/>
                </a:tc>
                <a:tc>
                  <a:txBody>
                    <a:bodyPr/>
                    <a:lstStyle/>
                    <a:p>
                      <a:pPr rtl="0"/>
                      <a:r>
                        <a:rPr lang="en-US" sz="1600">
                          <a:solidFill>
                            <a:srgbClr val="1B1C1D"/>
                          </a:solidFill>
                          <a:effectLst/>
                        </a:rPr>
                        <a:t>a:hover { color: red; }</a:t>
                      </a:r>
                      <a:endParaRPr lang="en-US" sz="1600">
                        <a:solidFill>
                          <a:srgbClr val="1B1C1D"/>
                        </a:solidFill>
                        <a:effectLst/>
                        <a:latin typeface="+mj-lt"/>
                      </a:endParaRPr>
                    </a:p>
                  </a:txBody>
                  <a:tcPr marL="114300" marR="114300" marT="76200" marB="76200" anchor="ctr"/>
                </a:tc>
                <a:extLst>
                  <a:ext uri="{0D108BD9-81ED-4DB2-BD59-A6C34878D82A}">
                    <a16:rowId xmlns:a16="http://schemas.microsoft.com/office/drawing/2014/main" val="368704247"/>
                  </a:ext>
                </a:extLst>
              </a:tr>
              <a:tr h="0">
                <a:tc>
                  <a:txBody>
                    <a:bodyPr/>
                    <a:lstStyle/>
                    <a:p>
                      <a:pPr rtl="0"/>
                      <a:r>
                        <a:rPr lang="en-US" b="1">
                          <a:solidFill>
                            <a:srgbClr val="1B1C1D"/>
                          </a:solidFill>
                          <a:effectLst/>
                        </a:rPr>
                        <a:t>:active</a:t>
                      </a:r>
                      <a:endParaRPr lang="en-US">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Applies styles when the element is being clicked or activated.</a:t>
                      </a:r>
                      <a:endParaRPr lang="en-US" sz="1600" dirty="0">
                        <a:solidFill>
                          <a:srgbClr val="1B1C1D"/>
                        </a:solidFill>
                        <a:effectLst/>
                        <a:latin typeface="+mj-lt"/>
                      </a:endParaRPr>
                    </a:p>
                  </a:txBody>
                  <a:tcPr marL="114300" marR="114300" marT="76200" marB="76200" anchor="ctr"/>
                </a:tc>
                <a:tc>
                  <a:txBody>
                    <a:bodyPr/>
                    <a:lstStyle/>
                    <a:p>
                      <a:pPr rtl="0"/>
                      <a:r>
                        <a:rPr lang="en-US" sz="1600">
                          <a:solidFill>
                            <a:srgbClr val="1B1C1D"/>
                          </a:solidFill>
                          <a:effectLst/>
                        </a:rPr>
                        <a:t>button:active { background: gray; }</a:t>
                      </a:r>
                      <a:endParaRPr lang="en-US" sz="1600">
                        <a:solidFill>
                          <a:srgbClr val="1B1C1D"/>
                        </a:solidFill>
                        <a:effectLst/>
                        <a:latin typeface="+mj-lt"/>
                      </a:endParaRPr>
                    </a:p>
                  </a:txBody>
                  <a:tcPr marL="114300" marR="114300" marT="76200" marB="76200" anchor="ctr"/>
                </a:tc>
                <a:extLst>
                  <a:ext uri="{0D108BD9-81ED-4DB2-BD59-A6C34878D82A}">
                    <a16:rowId xmlns:a16="http://schemas.microsoft.com/office/drawing/2014/main" val="778591323"/>
                  </a:ext>
                </a:extLst>
              </a:tr>
              <a:tr h="0">
                <a:tc>
                  <a:txBody>
                    <a:bodyPr/>
                    <a:lstStyle/>
                    <a:p>
                      <a:pPr rtl="0"/>
                      <a:r>
                        <a:rPr lang="en-US" b="1" dirty="0">
                          <a:solidFill>
                            <a:srgbClr val="1B1C1D"/>
                          </a:solidFill>
                          <a:effectLst/>
                        </a:rPr>
                        <a:t>:visited</a:t>
                      </a:r>
                      <a:endParaRPr lang="en-US" dirty="0">
                        <a:solidFill>
                          <a:srgbClr val="1B1C1D"/>
                        </a:solidFill>
                        <a:effectLst/>
                        <a:latin typeface="+mj-lt"/>
                      </a:endParaRPr>
                    </a:p>
                  </a:txBody>
                  <a:tcPr marL="114300" marR="114300" marT="76200" marB="76200" anchor="ctr"/>
                </a:tc>
                <a:tc>
                  <a:txBody>
                    <a:bodyPr/>
                    <a:lstStyle/>
                    <a:p>
                      <a:pPr rtl="0"/>
                      <a:r>
                        <a:rPr lang="en-US" sz="1600" dirty="0">
                          <a:solidFill>
                            <a:srgbClr val="1B1C1D"/>
                          </a:solidFill>
                          <a:effectLst/>
                        </a:rPr>
                        <a:t>Applies styles to links that the user </a:t>
                      </a:r>
                      <a:r>
                        <a:rPr lang="en-US" sz="1600" b="1" dirty="0">
                          <a:solidFill>
                            <a:srgbClr val="1B1C1D"/>
                          </a:solidFill>
                          <a:effectLst/>
                        </a:rPr>
                        <a:t>has already visited</a:t>
                      </a:r>
                      <a:r>
                        <a:rPr lang="en-US" sz="1600" dirty="0">
                          <a:solidFill>
                            <a:srgbClr val="1B1C1D"/>
                          </a:solidFill>
                          <a:effectLst/>
                        </a:rPr>
                        <a:t>.</a:t>
                      </a:r>
                      <a:endParaRPr lang="en-US" sz="1600" dirty="0">
                        <a:solidFill>
                          <a:srgbClr val="1B1C1D"/>
                        </a:solidFill>
                        <a:effectLst/>
                        <a:latin typeface="+mj-lt"/>
                      </a:endParaRPr>
                    </a:p>
                  </a:txBody>
                  <a:tcPr marL="114300" marR="114300" marT="76200" marB="76200" anchor="ctr"/>
                </a:tc>
                <a:tc>
                  <a:txBody>
                    <a:bodyPr/>
                    <a:lstStyle/>
                    <a:p>
                      <a:pPr rtl="0"/>
                      <a:r>
                        <a:rPr lang="en-US" sz="1600" b="1" dirty="0">
                          <a:solidFill>
                            <a:srgbClr val="1B1C1D"/>
                          </a:solidFill>
                          <a:effectLst/>
                        </a:rPr>
                        <a:t>:visited</a:t>
                      </a:r>
                      <a:endParaRPr lang="en-US" sz="1600" dirty="0">
                        <a:solidFill>
                          <a:srgbClr val="1B1C1D"/>
                        </a:solidFill>
                        <a:effectLst/>
                        <a:latin typeface="+mj-lt"/>
                      </a:endParaRPr>
                    </a:p>
                  </a:txBody>
                  <a:tcPr marL="114300" marR="114300" marT="76200" marB="76200" anchor="ctr"/>
                </a:tc>
                <a:extLst>
                  <a:ext uri="{0D108BD9-81ED-4DB2-BD59-A6C34878D82A}">
                    <a16:rowId xmlns:a16="http://schemas.microsoft.com/office/drawing/2014/main" val="2227796292"/>
                  </a:ext>
                </a:extLst>
              </a:tr>
            </a:tbl>
          </a:graphicData>
        </a:graphic>
      </p:graphicFrame>
      <p:pic>
        <p:nvPicPr>
          <p:cNvPr id="2050" name="Picture 2" descr="Pseudo-Classes for Links - Tutorial">
            <a:extLst>
              <a:ext uri="{FF2B5EF4-FFF2-40B4-BE49-F238E27FC236}">
                <a16:creationId xmlns:a16="http://schemas.microsoft.com/office/drawing/2014/main" id="{5DB470B3-5719-79A8-E3D5-68F4600016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8822" y="4354038"/>
            <a:ext cx="3667185" cy="2154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2354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52490" y="226961"/>
            <a:ext cx="11055148" cy="3142527"/>
          </a:xfrm>
          <a:prstGeom prst="rect">
            <a:avLst/>
          </a:prstGeom>
          <a:noFill/>
        </p:spPr>
        <p:txBody>
          <a:bodyPr wrap="square" rtlCol="0">
            <a:spAutoFit/>
          </a:bodyPr>
          <a:lstStyle/>
          <a:p>
            <a:pPr>
              <a:lnSpc>
                <a:spcPct val="150000"/>
              </a:lnSpc>
            </a:pPr>
            <a:r>
              <a:rPr lang="en-US" b="1" dirty="0">
                <a:solidFill>
                  <a:srgbClr val="DD8BC6"/>
                </a:solidFill>
              </a:rPr>
              <a:t>Position:</a:t>
            </a:r>
          </a:p>
          <a:p>
            <a:pPr>
              <a:lnSpc>
                <a:spcPct val="150000"/>
              </a:lnSpc>
            </a:pPr>
            <a:r>
              <a:rPr lang="en-US" sz="1600" dirty="0">
                <a:latin typeface="+mj-lt"/>
              </a:rPr>
              <a:t>The </a:t>
            </a:r>
            <a:r>
              <a:rPr lang="en-US" sz="1600" b="1" dirty="0">
                <a:latin typeface="+mj-lt"/>
              </a:rPr>
              <a:t>position</a:t>
            </a:r>
            <a:r>
              <a:rPr lang="en-US" sz="1600" dirty="0">
                <a:latin typeface="+mj-lt"/>
              </a:rPr>
              <a:t> CSS property defines how an element is positioned on a web page, specifying the element's position relative to its normal flow, its parent element, or the viewport (the browser window).</a:t>
            </a:r>
          </a:p>
          <a:p>
            <a:pPr>
              <a:lnSpc>
                <a:spcPct val="150000"/>
              </a:lnSpc>
            </a:pPr>
            <a:r>
              <a:rPr lang="en-US" sz="1600" dirty="0">
                <a:latin typeface="+mj-lt"/>
              </a:rPr>
              <a:t>Once the position is set to anything other than static, you use the offset properties (</a:t>
            </a:r>
            <a:r>
              <a:rPr lang="en-US" sz="1600" b="1" dirty="0">
                <a:latin typeface="+mj-lt"/>
              </a:rPr>
              <a:t>top</a:t>
            </a:r>
            <a:r>
              <a:rPr lang="en-US" sz="1600" dirty="0">
                <a:latin typeface="+mj-lt"/>
              </a:rPr>
              <a:t>, </a:t>
            </a:r>
            <a:r>
              <a:rPr lang="en-US" sz="1600" b="1" dirty="0">
                <a:latin typeface="+mj-lt"/>
              </a:rPr>
              <a:t>right</a:t>
            </a:r>
            <a:r>
              <a:rPr lang="en-US" sz="1600" dirty="0">
                <a:latin typeface="+mj-lt"/>
              </a:rPr>
              <a:t>, </a:t>
            </a:r>
            <a:r>
              <a:rPr lang="en-US" sz="1600" b="1" dirty="0">
                <a:latin typeface="+mj-lt"/>
              </a:rPr>
              <a:t>bottom</a:t>
            </a:r>
            <a:r>
              <a:rPr lang="en-US" sz="1600" dirty="0">
                <a:latin typeface="+mj-lt"/>
              </a:rPr>
              <a:t>, and </a:t>
            </a:r>
            <a:r>
              <a:rPr lang="en-US" sz="1600" b="1" dirty="0">
                <a:latin typeface="+mj-lt"/>
              </a:rPr>
              <a:t>left</a:t>
            </a:r>
            <a:r>
              <a:rPr lang="en-US" sz="1600" dirty="0">
                <a:latin typeface="+mj-lt"/>
              </a:rPr>
              <a:t>) to precisely control the element's final location.</a:t>
            </a:r>
          </a:p>
          <a:p>
            <a:pPr>
              <a:lnSpc>
                <a:spcPct val="150000"/>
              </a:lnSpc>
            </a:pPr>
            <a:endParaRPr lang="en-US" sz="1600" dirty="0">
              <a:latin typeface="+mj-lt"/>
            </a:endParaRPr>
          </a:p>
          <a:p>
            <a:pPr>
              <a:lnSpc>
                <a:spcPct val="150000"/>
              </a:lnSpc>
            </a:pPr>
            <a:endParaRPr lang="en-US" dirty="0">
              <a:solidFill>
                <a:schemeClr val="tx1">
                  <a:lumMod val="65000"/>
                  <a:lumOff val="35000"/>
                </a:schemeClr>
              </a:solidFill>
              <a:latin typeface="+mj-lt"/>
            </a:endParaRPr>
          </a:p>
          <a:p>
            <a:pPr>
              <a:lnSpc>
                <a:spcPct val="150000"/>
              </a:lnSpc>
            </a:pPr>
            <a:endParaRPr lang="en-US" dirty="0">
              <a:solidFill>
                <a:schemeClr val="tx1">
                  <a:lumMod val="65000"/>
                  <a:lumOff val="35000"/>
                </a:schemeClr>
              </a:solidFill>
              <a:latin typeface="+mj-lt"/>
            </a:endParaRPr>
          </a:p>
        </p:txBody>
      </p:sp>
      <p:pic>
        <p:nvPicPr>
          <p:cNvPr id="3074" name="Picture 2" descr="Where Am I? Understanding Position in CSS - DEV Community">
            <a:extLst>
              <a:ext uri="{FF2B5EF4-FFF2-40B4-BE49-F238E27FC236}">
                <a16:creationId xmlns:a16="http://schemas.microsoft.com/office/drawing/2014/main" id="{694F16B9-04C4-1C3F-C40B-EED883D982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261" y="2635853"/>
            <a:ext cx="5133948" cy="3420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657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52490" y="226961"/>
            <a:ext cx="11055148" cy="7574509"/>
          </a:xfrm>
          <a:prstGeom prst="rect">
            <a:avLst/>
          </a:prstGeom>
          <a:noFill/>
        </p:spPr>
        <p:txBody>
          <a:bodyPr wrap="square" rtlCol="0">
            <a:spAutoFit/>
          </a:bodyPr>
          <a:lstStyle/>
          <a:p>
            <a:pPr>
              <a:lnSpc>
                <a:spcPct val="150000"/>
              </a:lnSpc>
            </a:pPr>
            <a:r>
              <a:rPr lang="en-US" b="1" dirty="0">
                <a:solidFill>
                  <a:srgbClr val="DD8BC6"/>
                </a:solidFill>
              </a:rPr>
              <a:t>Values of Position:</a:t>
            </a:r>
          </a:p>
          <a:p>
            <a:pPr>
              <a:lnSpc>
                <a:spcPct val="150000"/>
              </a:lnSpc>
            </a:pPr>
            <a:r>
              <a:rPr lang="en-US" sz="1600" b="1" dirty="0">
                <a:solidFill>
                  <a:srgbClr val="DD8BC6"/>
                </a:solidFill>
              </a:rPr>
              <a:t>1. static (Default):</a:t>
            </a:r>
          </a:p>
          <a:p>
            <a:pPr>
              <a:lnSpc>
                <a:spcPct val="150000"/>
              </a:lnSpc>
              <a:buFont typeface="Arial" panose="020B0604020202020204" pitchFamily="34" charset="0"/>
              <a:buChar char="•"/>
            </a:pPr>
            <a:r>
              <a:rPr lang="en-US" sz="1600" b="1" dirty="0"/>
              <a:t>Behavior:</a:t>
            </a:r>
            <a:r>
              <a:rPr lang="en-US" sz="1600" dirty="0"/>
              <a:t> Elements are rendered in the </a:t>
            </a:r>
            <a:r>
              <a:rPr lang="en-US" sz="1600" b="1" dirty="0"/>
              <a:t>normal document flow</a:t>
            </a:r>
            <a:r>
              <a:rPr lang="en-US" sz="1600" dirty="0"/>
              <a:t> as they appear in the HTML.</a:t>
            </a:r>
          </a:p>
          <a:p>
            <a:pPr>
              <a:lnSpc>
                <a:spcPct val="150000"/>
              </a:lnSpc>
              <a:buFont typeface="Arial" panose="020B0604020202020204" pitchFamily="34" charset="0"/>
              <a:buChar char="•"/>
            </a:pPr>
            <a:r>
              <a:rPr lang="en-US" sz="1600" b="1" dirty="0"/>
              <a:t>Offset Properties:</a:t>
            </a:r>
            <a:r>
              <a:rPr lang="en-US" sz="1600" dirty="0"/>
              <a:t> top, right, bottom, and left have </a:t>
            </a:r>
            <a:r>
              <a:rPr lang="en-US" sz="1600" b="1" dirty="0"/>
              <a:t>no effect</a:t>
            </a:r>
            <a:r>
              <a:rPr lang="en-US" sz="1600" dirty="0"/>
              <a:t> when position is static.</a:t>
            </a:r>
          </a:p>
          <a:p>
            <a:pPr>
              <a:lnSpc>
                <a:spcPct val="150000"/>
              </a:lnSpc>
              <a:buFont typeface="Arial" panose="020B0604020202020204" pitchFamily="34" charset="0"/>
              <a:buChar char="•"/>
            </a:pPr>
            <a:r>
              <a:rPr lang="en-US" sz="1600" b="1" dirty="0"/>
              <a:t>Use:</a:t>
            </a:r>
            <a:r>
              <a:rPr lang="en-US" sz="1600" dirty="0"/>
              <a:t> This is the default state for every element.</a:t>
            </a:r>
          </a:p>
          <a:p>
            <a:pPr>
              <a:lnSpc>
                <a:spcPct val="150000"/>
              </a:lnSpc>
            </a:pPr>
            <a:r>
              <a:rPr lang="en-US" sz="1600" b="1" dirty="0">
                <a:solidFill>
                  <a:srgbClr val="DD8BC6"/>
                </a:solidFill>
              </a:rPr>
              <a:t>2. relative:</a:t>
            </a:r>
          </a:p>
          <a:p>
            <a:pPr>
              <a:lnSpc>
                <a:spcPct val="150000"/>
              </a:lnSpc>
              <a:buFont typeface="Arial" panose="020B0604020202020204" pitchFamily="34" charset="0"/>
              <a:buChar char="•"/>
            </a:pPr>
            <a:r>
              <a:rPr lang="en-US" sz="1600" b="1" dirty="0"/>
              <a:t>Behavior:</a:t>
            </a:r>
            <a:r>
              <a:rPr lang="en-US" sz="1600" dirty="0"/>
              <a:t> The element is positioned according to the </a:t>
            </a:r>
            <a:r>
              <a:rPr lang="en-US" sz="1600" b="1" dirty="0"/>
              <a:t>normal flow</a:t>
            </a:r>
            <a:r>
              <a:rPr lang="en-US" sz="1600" dirty="0"/>
              <a:t>, but is then </a:t>
            </a:r>
            <a:r>
              <a:rPr lang="en-US" sz="1600" b="1" dirty="0"/>
              <a:t>offset</a:t>
            </a:r>
            <a:r>
              <a:rPr lang="en-US" sz="1600" dirty="0"/>
              <a:t> from its original position based on the top/right/bottom/left values.</a:t>
            </a:r>
          </a:p>
          <a:p>
            <a:pPr>
              <a:lnSpc>
                <a:spcPct val="150000"/>
              </a:lnSpc>
              <a:buFont typeface="Arial" panose="020B0604020202020204" pitchFamily="34" charset="0"/>
              <a:buChar char="•"/>
            </a:pPr>
            <a:r>
              <a:rPr lang="en-US" sz="1600" b="1" dirty="0"/>
              <a:t>Flow:</a:t>
            </a:r>
            <a:r>
              <a:rPr lang="en-US" sz="1600" dirty="0"/>
              <a:t> The space the element </a:t>
            </a:r>
            <a:r>
              <a:rPr lang="en-US" sz="1600" b="1" dirty="0"/>
              <a:t>originally occupied remains reserved</a:t>
            </a:r>
            <a:r>
              <a:rPr lang="en-US" sz="1600" dirty="0"/>
              <a:t>; subsequent elements do not move into its initial space.</a:t>
            </a:r>
          </a:p>
          <a:p>
            <a:pPr>
              <a:lnSpc>
                <a:spcPct val="150000"/>
              </a:lnSpc>
              <a:buFont typeface="Arial" panose="020B0604020202020204" pitchFamily="34" charset="0"/>
              <a:buChar char="•"/>
            </a:pPr>
            <a:r>
              <a:rPr lang="en-US" sz="1600" b="1" dirty="0"/>
              <a:t>Use:</a:t>
            </a:r>
            <a:r>
              <a:rPr lang="en-US" sz="1600" dirty="0"/>
              <a:t> Often used as a positioning context for absolutely positioned children (see absolute).</a:t>
            </a:r>
          </a:p>
          <a:p>
            <a:pPr>
              <a:lnSpc>
                <a:spcPct val="150000"/>
              </a:lnSpc>
            </a:pPr>
            <a:r>
              <a:rPr lang="en-US" sz="1600" b="1" dirty="0">
                <a:solidFill>
                  <a:srgbClr val="DD8BC6"/>
                </a:solidFill>
              </a:rPr>
              <a:t>3. absolute:</a:t>
            </a:r>
          </a:p>
          <a:p>
            <a:pPr>
              <a:lnSpc>
                <a:spcPct val="150000"/>
              </a:lnSpc>
              <a:buFont typeface="Arial" panose="020B0604020202020204" pitchFamily="34" charset="0"/>
              <a:buChar char="•"/>
            </a:pPr>
            <a:r>
              <a:rPr lang="en-US" sz="1600" b="1" dirty="0"/>
              <a:t>Behavior:</a:t>
            </a:r>
            <a:r>
              <a:rPr lang="en-US" sz="1600" dirty="0"/>
              <a:t> The element is completely </a:t>
            </a:r>
            <a:r>
              <a:rPr lang="en-US" sz="1600" b="1" dirty="0"/>
              <a:t>removed from the normal document flow</a:t>
            </a:r>
            <a:r>
              <a:rPr lang="en-US" sz="1600" dirty="0"/>
              <a:t> and placed relative to its </a:t>
            </a:r>
            <a:r>
              <a:rPr lang="en-US" sz="1600" b="1" dirty="0"/>
              <a:t>nearest positioned ancestor</a:t>
            </a:r>
            <a:r>
              <a:rPr lang="en-US" sz="1600" dirty="0"/>
              <a:t> (any ancestor whose position is </a:t>
            </a:r>
            <a:r>
              <a:rPr lang="en-US" sz="1600" i="1" dirty="0"/>
              <a:t>not</a:t>
            </a:r>
            <a:r>
              <a:rPr lang="en-US" sz="1600" dirty="0"/>
              <a:t> static).</a:t>
            </a:r>
          </a:p>
          <a:p>
            <a:pPr>
              <a:lnSpc>
                <a:spcPct val="150000"/>
              </a:lnSpc>
              <a:buFont typeface="Arial" panose="020B0604020202020204" pitchFamily="34" charset="0"/>
              <a:buChar char="•"/>
            </a:pPr>
            <a:r>
              <a:rPr lang="en-US" sz="1600" b="1" dirty="0"/>
              <a:t>Flow:</a:t>
            </a:r>
            <a:r>
              <a:rPr lang="en-US" sz="1600" dirty="0"/>
              <a:t> The space the element originally occupied is </a:t>
            </a:r>
            <a:r>
              <a:rPr lang="en-US" sz="1600" b="1" dirty="0"/>
              <a:t>collapsed</a:t>
            </a:r>
            <a:r>
              <a:rPr lang="en-US" sz="1600" dirty="0"/>
              <a:t>, and subsequent elements behave as if the element was never there.</a:t>
            </a:r>
          </a:p>
          <a:p>
            <a:pPr>
              <a:lnSpc>
                <a:spcPct val="150000"/>
              </a:lnSpc>
              <a:buFont typeface="Arial" panose="020B0604020202020204" pitchFamily="34" charset="0"/>
              <a:buChar char="•"/>
            </a:pPr>
            <a:r>
              <a:rPr lang="en-US" sz="1600" b="1" dirty="0"/>
              <a:t>Context:</a:t>
            </a:r>
            <a:r>
              <a:rPr lang="en-US" sz="1600" dirty="0"/>
              <a:t> If no positioned ancestor is found, it positions itself relative to the initial containing block (usually the &lt;html&gt; element or the viewport).</a:t>
            </a:r>
          </a:p>
          <a:p>
            <a:pPr>
              <a:lnSpc>
                <a:spcPct val="150000"/>
              </a:lnSpc>
              <a:buFont typeface="Arial" panose="020B0604020202020204" pitchFamily="34" charset="0"/>
              <a:buChar char="•"/>
            </a:pPr>
            <a:r>
              <a:rPr lang="en-US" sz="1600" b="1" dirty="0"/>
              <a:t>Use:</a:t>
            </a:r>
            <a:r>
              <a:rPr lang="en-US" sz="1600" dirty="0"/>
              <a:t> Ideal for tooltips, modals, dropdowns, and components that need precise placement over other content.</a:t>
            </a:r>
          </a:p>
          <a:p>
            <a:pPr>
              <a:lnSpc>
                <a:spcPct val="150000"/>
              </a:lnSpc>
            </a:pPr>
            <a:endParaRPr lang="en-US" sz="1600" dirty="0">
              <a:latin typeface="+mj-lt"/>
            </a:endParaRPr>
          </a:p>
          <a:p>
            <a:pPr>
              <a:lnSpc>
                <a:spcPct val="150000"/>
              </a:lnSpc>
            </a:pPr>
            <a:endParaRPr lang="en-US" dirty="0">
              <a:solidFill>
                <a:schemeClr val="tx1">
                  <a:lumMod val="65000"/>
                  <a:lumOff val="35000"/>
                </a:schemeClr>
              </a:solidFill>
              <a:latin typeface="+mj-lt"/>
            </a:endParaRPr>
          </a:p>
          <a:p>
            <a:pPr>
              <a:lnSpc>
                <a:spcPct val="150000"/>
              </a:lnSpc>
            </a:pPr>
            <a:endParaRPr lang="en-US" dirty="0">
              <a:solidFill>
                <a:schemeClr val="tx1">
                  <a:lumMod val="65000"/>
                  <a:lumOff val="35000"/>
                </a:schemeClr>
              </a:solidFill>
              <a:latin typeface="+mj-lt"/>
            </a:endParaRPr>
          </a:p>
        </p:txBody>
      </p:sp>
    </p:spTree>
    <p:extLst>
      <p:ext uri="{BB962C8B-B14F-4D97-AF65-F5344CB8AC3E}">
        <p14:creationId xmlns:p14="http://schemas.microsoft.com/office/powerpoint/2010/main" val="3062571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70660" y="541991"/>
            <a:ext cx="11055148" cy="5774017"/>
          </a:xfrm>
          <a:prstGeom prst="rect">
            <a:avLst/>
          </a:prstGeom>
          <a:noFill/>
        </p:spPr>
        <p:txBody>
          <a:bodyPr wrap="square" rtlCol="0">
            <a:spAutoFit/>
          </a:bodyPr>
          <a:lstStyle/>
          <a:p>
            <a:pPr>
              <a:lnSpc>
                <a:spcPct val="150000"/>
              </a:lnSpc>
            </a:pPr>
            <a:r>
              <a:rPr lang="en-US" b="1" dirty="0">
                <a:solidFill>
                  <a:srgbClr val="DD8BC6"/>
                </a:solidFill>
              </a:rPr>
              <a:t>Values of Position:</a:t>
            </a:r>
          </a:p>
          <a:p>
            <a:pPr>
              <a:lnSpc>
                <a:spcPct val="150000"/>
              </a:lnSpc>
            </a:pPr>
            <a:endParaRPr lang="en-US" b="1" dirty="0">
              <a:solidFill>
                <a:srgbClr val="DD8BC6"/>
              </a:solidFill>
            </a:endParaRPr>
          </a:p>
          <a:p>
            <a:pPr>
              <a:lnSpc>
                <a:spcPct val="150000"/>
              </a:lnSpc>
            </a:pPr>
            <a:r>
              <a:rPr lang="en-US" sz="1600" b="1" dirty="0">
                <a:solidFill>
                  <a:srgbClr val="DD8BC6"/>
                </a:solidFill>
              </a:rPr>
              <a:t>4. fixed:</a:t>
            </a:r>
          </a:p>
          <a:p>
            <a:pPr>
              <a:lnSpc>
                <a:spcPct val="150000"/>
              </a:lnSpc>
              <a:buFont typeface="Arial" panose="020B0604020202020204" pitchFamily="34" charset="0"/>
              <a:buChar char="•"/>
            </a:pPr>
            <a:r>
              <a:rPr lang="en-US" sz="1600" b="1" dirty="0"/>
              <a:t>Behavior:</a:t>
            </a:r>
            <a:r>
              <a:rPr lang="en-US" sz="1600" dirty="0"/>
              <a:t> The element is completely </a:t>
            </a:r>
            <a:r>
              <a:rPr lang="en-US" sz="1600" b="1" dirty="0"/>
              <a:t>removed from the normal document flow</a:t>
            </a:r>
            <a:r>
              <a:rPr lang="en-US" sz="1600" dirty="0"/>
              <a:t> and positioned relative to the </a:t>
            </a:r>
            <a:r>
              <a:rPr lang="en-US" sz="1600" b="1" dirty="0"/>
              <a:t>viewport</a:t>
            </a:r>
            <a:r>
              <a:rPr lang="en-US" sz="1600" dirty="0"/>
              <a:t> (the browser window).</a:t>
            </a:r>
          </a:p>
          <a:p>
            <a:pPr>
              <a:lnSpc>
                <a:spcPct val="150000"/>
              </a:lnSpc>
              <a:buFont typeface="Arial" panose="020B0604020202020204" pitchFamily="34" charset="0"/>
              <a:buChar char="•"/>
            </a:pPr>
            <a:r>
              <a:rPr lang="en-US" sz="1600" b="1" dirty="0"/>
              <a:t>Scroll:</a:t>
            </a:r>
            <a:r>
              <a:rPr lang="en-US" sz="1600" dirty="0"/>
              <a:t> The element </a:t>
            </a:r>
            <a:r>
              <a:rPr lang="en-US" sz="1600" b="1" dirty="0"/>
              <a:t>stays in the same place</a:t>
            </a:r>
            <a:r>
              <a:rPr lang="en-US" sz="1600" dirty="0"/>
              <a:t> even when the page is scrolled.</a:t>
            </a:r>
          </a:p>
          <a:p>
            <a:pPr>
              <a:lnSpc>
                <a:spcPct val="150000"/>
              </a:lnSpc>
              <a:buFont typeface="Arial" panose="020B0604020202020204" pitchFamily="34" charset="0"/>
              <a:buChar char="•"/>
            </a:pPr>
            <a:r>
              <a:rPr lang="en-US" sz="1600" b="1" dirty="0"/>
              <a:t>Use:</a:t>
            </a:r>
            <a:r>
              <a:rPr lang="en-US" sz="1600" dirty="0"/>
              <a:t> Commonly used for creating persistent navigation bars, side menus, or "Back to Top" buttons that must remain visible.</a:t>
            </a:r>
          </a:p>
          <a:p>
            <a:pPr>
              <a:lnSpc>
                <a:spcPct val="150000"/>
              </a:lnSpc>
            </a:pPr>
            <a:r>
              <a:rPr lang="en-US" sz="1600" b="1" dirty="0">
                <a:solidFill>
                  <a:srgbClr val="DD8BC6"/>
                </a:solidFill>
              </a:rPr>
              <a:t>5. sticky:</a:t>
            </a:r>
          </a:p>
          <a:p>
            <a:pPr>
              <a:lnSpc>
                <a:spcPct val="150000"/>
              </a:lnSpc>
              <a:buFont typeface="Arial" panose="020B0604020202020204" pitchFamily="34" charset="0"/>
              <a:buChar char="•"/>
            </a:pPr>
            <a:r>
              <a:rPr lang="en-US" sz="1600" b="1" dirty="0"/>
              <a:t>Behavior:</a:t>
            </a:r>
            <a:r>
              <a:rPr lang="en-US" sz="1600" dirty="0"/>
              <a:t> This is a hybrid. The element is treated as </a:t>
            </a:r>
            <a:r>
              <a:rPr lang="en-US" sz="1600" b="1" dirty="0"/>
              <a:t>relative</a:t>
            </a:r>
            <a:r>
              <a:rPr lang="en-US" sz="1600" dirty="0"/>
              <a:t> until it reaches a specified offset (e.g., top: 0), at which point it becomes </a:t>
            </a:r>
            <a:r>
              <a:rPr lang="en-US" sz="1600" b="1" dirty="0"/>
              <a:t>fixed</a:t>
            </a:r>
            <a:r>
              <a:rPr lang="en-US" sz="1600" dirty="0"/>
              <a:t> relative to the viewport.</a:t>
            </a:r>
          </a:p>
          <a:p>
            <a:pPr>
              <a:lnSpc>
                <a:spcPct val="150000"/>
              </a:lnSpc>
              <a:buFont typeface="Arial" panose="020B0604020202020204" pitchFamily="34" charset="0"/>
              <a:buChar char="•"/>
            </a:pPr>
            <a:r>
              <a:rPr lang="en-US" sz="1600" b="1" dirty="0"/>
              <a:t>Use:</a:t>
            </a:r>
            <a:r>
              <a:rPr lang="en-US" sz="1600" dirty="0"/>
              <a:t> Perfect for creating headers that "stick" to the top of the viewport after the user scrolls past them, but only within their parent container. Requires specifying at least one offset property (top, right, bottom, or left) to define the sticking point.</a:t>
            </a:r>
          </a:p>
          <a:p>
            <a:pPr>
              <a:lnSpc>
                <a:spcPct val="150000"/>
              </a:lnSpc>
            </a:pPr>
            <a:endParaRPr lang="en-US" sz="1600" dirty="0">
              <a:latin typeface="+mj-lt"/>
            </a:endParaRPr>
          </a:p>
          <a:p>
            <a:pPr>
              <a:lnSpc>
                <a:spcPct val="150000"/>
              </a:lnSpc>
            </a:pPr>
            <a:endParaRPr lang="en-US" dirty="0">
              <a:solidFill>
                <a:schemeClr val="tx1">
                  <a:lumMod val="65000"/>
                  <a:lumOff val="35000"/>
                </a:schemeClr>
              </a:solidFill>
              <a:latin typeface="+mj-lt"/>
            </a:endParaRPr>
          </a:p>
          <a:p>
            <a:pPr>
              <a:lnSpc>
                <a:spcPct val="150000"/>
              </a:lnSpc>
            </a:pPr>
            <a:endParaRPr lang="en-US" dirty="0">
              <a:solidFill>
                <a:schemeClr val="tx1">
                  <a:lumMod val="65000"/>
                  <a:lumOff val="35000"/>
                </a:schemeClr>
              </a:solidFill>
              <a:latin typeface="+mj-lt"/>
            </a:endParaRPr>
          </a:p>
        </p:txBody>
      </p:sp>
    </p:spTree>
    <p:extLst>
      <p:ext uri="{BB962C8B-B14F-4D97-AF65-F5344CB8AC3E}">
        <p14:creationId xmlns:p14="http://schemas.microsoft.com/office/powerpoint/2010/main" val="3821883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69743" y="358278"/>
            <a:ext cx="11055148" cy="1665199"/>
          </a:xfrm>
          <a:prstGeom prst="rect">
            <a:avLst/>
          </a:prstGeom>
          <a:noFill/>
        </p:spPr>
        <p:txBody>
          <a:bodyPr wrap="square" rtlCol="0">
            <a:spAutoFit/>
          </a:bodyPr>
          <a:lstStyle/>
          <a:p>
            <a:pPr>
              <a:lnSpc>
                <a:spcPct val="150000"/>
              </a:lnSpc>
            </a:pPr>
            <a:r>
              <a:rPr lang="en-US" b="1" dirty="0">
                <a:solidFill>
                  <a:schemeClr val="accent2">
                    <a:lumMod val="75000"/>
                  </a:schemeClr>
                </a:solidFill>
              </a:rPr>
              <a:t>Values of Position:</a:t>
            </a:r>
          </a:p>
          <a:p>
            <a:pPr>
              <a:lnSpc>
                <a:spcPct val="150000"/>
              </a:lnSpc>
            </a:pPr>
            <a:endParaRPr lang="en-US" sz="1600" dirty="0">
              <a:latin typeface="+mj-lt"/>
            </a:endParaRPr>
          </a:p>
          <a:p>
            <a:pPr>
              <a:lnSpc>
                <a:spcPct val="150000"/>
              </a:lnSpc>
            </a:pPr>
            <a:endParaRPr lang="en-US" dirty="0">
              <a:solidFill>
                <a:schemeClr val="tx1">
                  <a:lumMod val="65000"/>
                  <a:lumOff val="35000"/>
                </a:schemeClr>
              </a:solidFill>
              <a:latin typeface="+mj-lt"/>
            </a:endParaRPr>
          </a:p>
          <a:p>
            <a:pPr>
              <a:lnSpc>
                <a:spcPct val="150000"/>
              </a:lnSpc>
            </a:pPr>
            <a:endParaRPr lang="en-US" dirty="0">
              <a:solidFill>
                <a:schemeClr val="tx1">
                  <a:lumMod val="65000"/>
                  <a:lumOff val="35000"/>
                </a:schemeClr>
              </a:solidFill>
              <a:latin typeface="+mj-lt"/>
            </a:endParaRPr>
          </a:p>
        </p:txBody>
      </p:sp>
      <p:graphicFrame>
        <p:nvGraphicFramePr>
          <p:cNvPr id="2" name="Table 1">
            <a:extLst>
              <a:ext uri="{FF2B5EF4-FFF2-40B4-BE49-F238E27FC236}">
                <a16:creationId xmlns:a16="http://schemas.microsoft.com/office/drawing/2014/main" id="{FA5BA53A-A171-7FDA-C881-51401A8AAF91}"/>
              </a:ext>
            </a:extLst>
          </p:cNvPr>
          <p:cNvGraphicFramePr>
            <a:graphicFrameLocks noGrp="1"/>
          </p:cNvGraphicFramePr>
          <p:nvPr>
            <p:extLst>
              <p:ext uri="{D42A27DB-BD31-4B8C-83A1-F6EECF244321}">
                <p14:modId xmlns:p14="http://schemas.microsoft.com/office/powerpoint/2010/main" val="123302923"/>
              </p:ext>
            </p:extLst>
          </p:nvPr>
        </p:nvGraphicFramePr>
        <p:xfrm>
          <a:off x="1518250" y="1294394"/>
          <a:ext cx="8264105" cy="4571567"/>
        </p:xfrm>
        <a:graphic>
          <a:graphicData uri="http://schemas.openxmlformats.org/drawingml/2006/table">
            <a:tbl>
              <a:tblPr>
                <a:tableStyleId>{5DA37D80-6434-44D0-A028-1B22A696006F}</a:tableStyleId>
              </a:tblPr>
              <a:tblGrid>
                <a:gridCol w="1652821">
                  <a:extLst>
                    <a:ext uri="{9D8B030D-6E8A-4147-A177-3AD203B41FA5}">
                      <a16:colId xmlns:a16="http://schemas.microsoft.com/office/drawing/2014/main" val="893008489"/>
                    </a:ext>
                  </a:extLst>
                </a:gridCol>
                <a:gridCol w="1652821">
                  <a:extLst>
                    <a:ext uri="{9D8B030D-6E8A-4147-A177-3AD203B41FA5}">
                      <a16:colId xmlns:a16="http://schemas.microsoft.com/office/drawing/2014/main" val="516325607"/>
                    </a:ext>
                  </a:extLst>
                </a:gridCol>
                <a:gridCol w="1652821">
                  <a:extLst>
                    <a:ext uri="{9D8B030D-6E8A-4147-A177-3AD203B41FA5}">
                      <a16:colId xmlns:a16="http://schemas.microsoft.com/office/drawing/2014/main" val="900091321"/>
                    </a:ext>
                  </a:extLst>
                </a:gridCol>
                <a:gridCol w="1652821">
                  <a:extLst>
                    <a:ext uri="{9D8B030D-6E8A-4147-A177-3AD203B41FA5}">
                      <a16:colId xmlns:a16="http://schemas.microsoft.com/office/drawing/2014/main" val="3544714877"/>
                    </a:ext>
                  </a:extLst>
                </a:gridCol>
                <a:gridCol w="1652821">
                  <a:extLst>
                    <a:ext uri="{9D8B030D-6E8A-4147-A177-3AD203B41FA5}">
                      <a16:colId xmlns:a16="http://schemas.microsoft.com/office/drawing/2014/main" val="3062922802"/>
                    </a:ext>
                  </a:extLst>
                </a:gridCol>
              </a:tblGrid>
              <a:tr h="446725">
                <a:tc>
                  <a:txBody>
                    <a:bodyPr/>
                    <a:lstStyle/>
                    <a:p>
                      <a:pPr rtl="0"/>
                      <a:r>
                        <a:rPr lang="en-US" sz="1100" b="1">
                          <a:solidFill>
                            <a:srgbClr val="1B1C1D"/>
                          </a:solidFill>
                          <a:effectLst/>
                        </a:rPr>
                        <a:t>Position Value</a:t>
                      </a:r>
                      <a:endParaRPr lang="en-US" sz="1100">
                        <a:solidFill>
                          <a:srgbClr val="1B1C1D"/>
                        </a:solidFill>
                        <a:effectLst/>
                        <a:latin typeface="+mj-lt"/>
                      </a:endParaRPr>
                    </a:p>
                  </a:txBody>
                  <a:tcPr marL="68850" marR="68850" marT="45900" marB="45900" anchor="ctr"/>
                </a:tc>
                <a:tc>
                  <a:txBody>
                    <a:bodyPr/>
                    <a:lstStyle/>
                    <a:p>
                      <a:pPr rtl="0"/>
                      <a:r>
                        <a:rPr lang="en-US" sz="1100" b="1">
                          <a:solidFill>
                            <a:srgbClr val="1B1C1D"/>
                          </a:solidFill>
                          <a:effectLst/>
                        </a:rPr>
                        <a:t>Reference Point</a:t>
                      </a:r>
                      <a:endParaRPr lang="en-US" sz="1100">
                        <a:solidFill>
                          <a:srgbClr val="1B1C1D"/>
                        </a:solidFill>
                        <a:effectLst/>
                        <a:latin typeface="+mj-lt"/>
                      </a:endParaRPr>
                    </a:p>
                  </a:txBody>
                  <a:tcPr marL="68850" marR="68850" marT="45900" marB="45900" anchor="ctr"/>
                </a:tc>
                <a:tc>
                  <a:txBody>
                    <a:bodyPr/>
                    <a:lstStyle/>
                    <a:p>
                      <a:pPr rtl="0"/>
                      <a:r>
                        <a:rPr lang="en-US" sz="1100" b="1">
                          <a:solidFill>
                            <a:srgbClr val="1B1C1D"/>
                          </a:solidFill>
                          <a:effectLst/>
                        </a:rPr>
                        <a:t>In Flow?</a:t>
                      </a:r>
                      <a:endParaRPr lang="en-US" sz="1100">
                        <a:solidFill>
                          <a:srgbClr val="1B1C1D"/>
                        </a:solidFill>
                        <a:effectLst/>
                        <a:latin typeface="+mj-lt"/>
                      </a:endParaRPr>
                    </a:p>
                  </a:txBody>
                  <a:tcPr marL="68850" marR="68850" marT="45900" marB="45900" anchor="ctr"/>
                </a:tc>
                <a:tc>
                  <a:txBody>
                    <a:bodyPr/>
                    <a:lstStyle/>
                    <a:p>
                      <a:pPr rtl="0"/>
                      <a:r>
                        <a:rPr lang="en-US" sz="1100" b="1">
                          <a:solidFill>
                            <a:srgbClr val="1B1C1D"/>
                          </a:solidFill>
                          <a:effectLst/>
                        </a:rPr>
                        <a:t>Offset Properties (top/left...)</a:t>
                      </a:r>
                      <a:endParaRPr lang="en-US" sz="1100">
                        <a:solidFill>
                          <a:srgbClr val="1B1C1D"/>
                        </a:solidFill>
                        <a:effectLst/>
                        <a:latin typeface="+mj-lt"/>
                      </a:endParaRPr>
                    </a:p>
                  </a:txBody>
                  <a:tcPr marL="68850" marR="68850" marT="45900" marB="45900" anchor="ctr"/>
                </a:tc>
                <a:tc>
                  <a:txBody>
                    <a:bodyPr/>
                    <a:lstStyle/>
                    <a:p>
                      <a:pPr rtl="0"/>
                      <a:r>
                        <a:rPr lang="en-US" sz="1100" b="1">
                          <a:solidFill>
                            <a:srgbClr val="1B1C1D"/>
                          </a:solidFill>
                          <a:effectLst/>
                        </a:rPr>
                        <a:t>Typical Use</a:t>
                      </a:r>
                      <a:endParaRPr lang="en-US" sz="1100">
                        <a:solidFill>
                          <a:srgbClr val="1B1C1D"/>
                        </a:solidFill>
                        <a:effectLst/>
                        <a:latin typeface="+mj-lt"/>
                      </a:endParaRPr>
                    </a:p>
                  </a:txBody>
                  <a:tcPr marL="68850" marR="68850" marT="45900" marB="45900" anchor="ctr"/>
                </a:tc>
                <a:extLst>
                  <a:ext uri="{0D108BD9-81ED-4DB2-BD59-A6C34878D82A}">
                    <a16:rowId xmlns:a16="http://schemas.microsoft.com/office/drawing/2014/main" val="1093372633"/>
                  </a:ext>
                </a:extLst>
              </a:tr>
              <a:tr h="446725">
                <a:tc>
                  <a:txBody>
                    <a:bodyPr/>
                    <a:lstStyle/>
                    <a:p>
                      <a:pPr rtl="0"/>
                      <a:r>
                        <a:rPr lang="en-US" sz="1100" b="1">
                          <a:solidFill>
                            <a:srgbClr val="1B1C1D"/>
                          </a:solidFill>
                          <a:effectLst/>
                        </a:rPr>
                        <a:t>static</a:t>
                      </a:r>
                      <a:endParaRPr lang="en-US" sz="1100">
                        <a:solidFill>
                          <a:srgbClr val="1B1C1D"/>
                        </a:solidFill>
                        <a:effectLst/>
                        <a:latin typeface="+mj-lt"/>
                      </a:endParaRPr>
                    </a:p>
                  </a:txBody>
                  <a:tcPr marL="68850" marR="68850" marT="45900" marB="45900" anchor="ctr"/>
                </a:tc>
                <a:tc>
                  <a:txBody>
                    <a:bodyPr/>
                    <a:lstStyle/>
                    <a:p>
                      <a:pPr rtl="0"/>
                      <a:r>
                        <a:rPr lang="en-US" sz="1100" b="1">
                          <a:solidFill>
                            <a:srgbClr val="1B1C1D"/>
                          </a:solidFill>
                          <a:effectLst/>
                        </a:rPr>
                        <a:t>Normal document flow</a:t>
                      </a:r>
                      <a:endParaRPr lang="en-US" sz="1100">
                        <a:solidFill>
                          <a:srgbClr val="1B1C1D"/>
                        </a:solidFill>
                        <a:effectLst/>
                        <a:latin typeface="+mj-lt"/>
                      </a:endParaRPr>
                    </a:p>
                  </a:txBody>
                  <a:tcPr marL="68850" marR="68850" marT="45900" marB="45900" anchor="ctr"/>
                </a:tc>
                <a:tc>
                  <a:txBody>
                    <a:bodyPr/>
                    <a:lstStyle/>
                    <a:p>
                      <a:pPr rtl="0"/>
                      <a:r>
                        <a:rPr lang="en-US" sz="1100" dirty="0">
                          <a:solidFill>
                            <a:srgbClr val="1B1C1D"/>
                          </a:solidFill>
                          <a:effectLst/>
                        </a:rPr>
                        <a:t>Yes (Default)</a:t>
                      </a:r>
                      <a:endParaRPr lang="en-US" sz="1100" dirty="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No Effect</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Standard element placement.</a:t>
                      </a:r>
                      <a:endParaRPr lang="en-US" sz="1100">
                        <a:solidFill>
                          <a:srgbClr val="1B1C1D"/>
                        </a:solidFill>
                        <a:effectLst/>
                        <a:latin typeface="+mj-lt"/>
                      </a:endParaRPr>
                    </a:p>
                  </a:txBody>
                  <a:tcPr marL="68850" marR="68850" marT="45900" marB="45900" anchor="ctr"/>
                </a:tc>
                <a:extLst>
                  <a:ext uri="{0D108BD9-81ED-4DB2-BD59-A6C34878D82A}">
                    <a16:rowId xmlns:a16="http://schemas.microsoft.com/office/drawing/2014/main" val="1139309689"/>
                  </a:ext>
                </a:extLst>
              </a:tr>
              <a:tr h="797427">
                <a:tc>
                  <a:txBody>
                    <a:bodyPr/>
                    <a:lstStyle/>
                    <a:p>
                      <a:pPr rtl="0"/>
                      <a:r>
                        <a:rPr lang="en-US" sz="1100" b="1">
                          <a:solidFill>
                            <a:srgbClr val="1B1C1D"/>
                          </a:solidFill>
                          <a:effectLst/>
                        </a:rPr>
                        <a:t>relative</a:t>
                      </a:r>
                      <a:endParaRPr lang="en-US" sz="1100">
                        <a:solidFill>
                          <a:srgbClr val="1B1C1D"/>
                        </a:solidFill>
                        <a:effectLst/>
                        <a:latin typeface="+mj-lt"/>
                      </a:endParaRPr>
                    </a:p>
                  </a:txBody>
                  <a:tcPr marL="68850" marR="68850" marT="45900" marB="45900" anchor="ctr"/>
                </a:tc>
                <a:tc>
                  <a:txBody>
                    <a:bodyPr/>
                    <a:lstStyle/>
                    <a:p>
                      <a:pPr rtl="0"/>
                      <a:r>
                        <a:rPr lang="en-US" sz="1100" b="1" dirty="0">
                          <a:solidFill>
                            <a:srgbClr val="1B1C1D"/>
                          </a:solidFill>
                          <a:effectLst/>
                        </a:rPr>
                        <a:t>Original position</a:t>
                      </a:r>
                      <a:endParaRPr lang="en-US" sz="1100" dirty="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Yes (Space reserved)</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Offsets from original spot.</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Minor positional adjustments; setting a context for absolute children.</a:t>
                      </a:r>
                      <a:endParaRPr lang="en-US" sz="1100">
                        <a:solidFill>
                          <a:srgbClr val="1B1C1D"/>
                        </a:solidFill>
                        <a:effectLst/>
                        <a:latin typeface="+mj-lt"/>
                      </a:endParaRPr>
                    </a:p>
                  </a:txBody>
                  <a:tcPr marL="68850" marR="68850" marT="45900" marB="45900" anchor="ctr"/>
                </a:tc>
                <a:extLst>
                  <a:ext uri="{0D108BD9-81ED-4DB2-BD59-A6C34878D82A}">
                    <a16:rowId xmlns:a16="http://schemas.microsoft.com/office/drawing/2014/main" val="263575059"/>
                  </a:ext>
                </a:extLst>
              </a:tr>
              <a:tr h="960230">
                <a:tc>
                  <a:txBody>
                    <a:bodyPr/>
                    <a:lstStyle/>
                    <a:p>
                      <a:pPr rtl="0"/>
                      <a:r>
                        <a:rPr lang="en-US" sz="1100" b="1">
                          <a:solidFill>
                            <a:srgbClr val="1B1C1D"/>
                          </a:solidFill>
                          <a:effectLst/>
                        </a:rPr>
                        <a:t>absolute</a:t>
                      </a:r>
                      <a:endParaRPr lang="en-US" sz="1100">
                        <a:solidFill>
                          <a:srgbClr val="1B1C1D"/>
                        </a:solidFill>
                        <a:effectLst/>
                        <a:latin typeface="+mj-lt"/>
                      </a:endParaRPr>
                    </a:p>
                  </a:txBody>
                  <a:tcPr marL="68850" marR="68850" marT="45900" marB="45900" anchor="ctr"/>
                </a:tc>
                <a:tc>
                  <a:txBody>
                    <a:bodyPr/>
                    <a:lstStyle/>
                    <a:p>
                      <a:pPr rtl="0"/>
                      <a:r>
                        <a:rPr lang="en-US" sz="1100" b="1">
                          <a:solidFill>
                            <a:srgbClr val="1B1C1D"/>
                          </a:solidFill>
                          <a:effectLst/>
                        </a:rPr>
                        <a:t>Nearest positioned ancestor</a:t>
                      </a:r>
                      <a:r>
                        <a:rPr lang="en-US" sz="1100">
                          <a:solidFill>
                            <a:srgbClr val="1B1C1D"/>
                          </a:solidFill>
                          <a:effectLst/>
                        </a:rPr>
                        <a:t> (or viewport)</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No (Removed)</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Positions relative to the ancestor/viewport.</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Tooltips, dropdowns, and components placed precisely over content.</a:t>
                      </a:r>
                      <a:endParaRPr lang="en-US" sz="1100">
                        <a:solidFill>
                          <a:srgbClr val="1B1C1D"/>
                        </a:solidFill>
                        <a:effectLst/>
                        <a:latin typeface="+mj-lt"/>
                      </a:endParaRPr>
                    </a:p>
                  </a:txBody>
                  <a:tcPr marL="68850" marR="68850" marT="45900" marB="45900" anchor="ctr"/>
                </a:tc>
                <a:extLst>
                  <a:ext uri="{0D108BD9-81ED-4DB2-BD59-A6C34878D82A}">
                    <a16:rowId xmlns:a16="http://schemas.microsoft.com/office/drawing/2014/main" val="4027491698"/>
                  </a:ext>
                </a:extLst>
              </a:tr>
              <a:tr h="960230">
                <a:tc>
                  <a:txBody>
                    <a:bodyPr/>
                    <a:lstStyle/>
                    <a:p>
                      <a:pPr rtl="0"/>
                      <a:r>
                        <a:rPr lang="en-US" sz="1100" b="1">
                          <a:solidFill>
                            <a:srgbClr val="1B1C1D"/>
                          </a:solidFill>
                          <a:effectLst/>
                        </a:rPr>
                        <a:t>fixed</a:t>
                      </a:r>
                      <a:endParaRPr lang="en-US" sz="1100">
                        <a:solidFill>
                          <a:srgbClr val="1B1C1D"/>
                        </a:solidFill>
                        <a:effectLst/>
                        <a:latin typeface="+mj-lt"/>
                      </a:endParaRPr>
                    </a:p>
                  </a:txBody>
                  <a:tcPr marL="68850" marR="68850" marT="45900" marB="45900" anchor="ctr"/>
                </a:tc>
                <a:tc>
                  <a:txBody>
                    <a:bodyPr/>
                    <a:lstStyle/>
                    <a:p>
                      <a:pPr rtl="0"/>
                      <a:r>
                        <a:rPr lang="en-US" sz="1100" b="1">
                          <a:solidFill>
                            <a:srgbClr val="1B1C1D"/>
                          </a:solidFill>
                          <a:effectLst/>
                        </a:rPr>
                        <a:t>Viewport</a:t>
                      </a:r>
                      <a:r>
                        <a:rPr lang="en-US" sz="1100">
                          <a:solidFill>
                            <a:srgbClr val="1B1C1D"/>
                          </a:solidFill>
                          <a:effectLst/>
                        </a:rPr>
                        <a:t> (Browser window)</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No (Removed)</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Positions relative to the viewport.</a:t>
                      </a:r>
                      <a:endParaRPr lang="en-US" sz="1100">
                        <a:solidFill>
                          <a:srgbClr val="1B1C1D"/>
                        </a:solidFill>
                        <a:effectLst/>
                        <a:latin typeface="+mj-lt"/>
                      </a:endParaRPr>
                    </a:p>
                  </a:txBody>
                  <a:tcPr marL="68850" marR="68850" marT="45900" marB="45900" anchor="ctr"/>
                </a:tc>
                <a:tc>
                  <a:txBody>
                    <a:bodyPr/>
                    <a:lstStyle/>
                    <a:p>
                      <a:pPr rtl="0"/>
                      <a:r>
                        <a:rPr lang="en-US" sz="1100" dirty="0">
                          <a:solidFill>
                            <a:srgbClr val="1B1C1D"/>
                          </a:solidFill>
                          <a:effectLst/>
                        </a:rPr>
                        <a:t>Persistent navigation bars or "Back to Top" buttons that scroll with the page.</a:t>
                      </a:r>
                      <a:endParaRPr lang="en-US" sz="1100" dirty="0">
                        <a:solidFill>
                          <a:srgbClr val="1B1C1D"/>
                        </a:solidFill>
                        <a:effectLst/>
                        <a:latin typeface="+mj-lt"/>
                      </a:endParaRPr>
                    </a:p>
                  </a:txBody>
                  <a:tcPr marL="68850" marR="68850" marT="45900" marB="45900" anchor="ctr"/>
                </a:tc>
                <a:extLst>
                  <a:ext uri="{0D108BD9-81ED-4DB2-BD59-A6C34878D82A}">
                    <a16:rowId xmlns:a16="http://schemas.microsoft.com/office/drawing/2014/main" val="764573119"/>
                  </a:ext>
                </a:extLst>
              </a:tr>
              <a:tr h="960230">
                <a:tc>
                  <a:txBody>
                    <a:bodyPr/>
                    <a:lstStyle/>
                    <a:p>
                      <a:pPr rtl="0"/>
                      <a:r>
                        <a:rPr lang="en-US" sz="1100" b="1">
                          <a:solidFill>
                            <a:srgbClr val="1B1C1D"/>
                          </a:solidFill>
                          <a:effectLst/>
                        </a:rPr>
                        <a:t>sticky</a:t>
                      </a:r>
                      <a:endParaRPr lang="en-US" sz="1100">
                        <a:solidFill>
                          <a:srgbClr val="1B1C1D"/>
                        </a:solidFill>
                        <a:effectLst/>
                        <a:latin typeface="+mj-lt"/>
                      </a:endParaRPr>
                    </a:p>
                  </a:txBody>
                  <a:tcPr marL="68850" marR="68850" marT="45900" marB="45900" anchor="ctr"/>
                </a:tc>
                <a:tc>
                  <a:txBody>
                    <a:bodyPr/>
                    <a:lstStyle/>
                    <a:p>
                      <a:pPr rtl="0"/>
                      <a:r>
                        <a:rPr lang="en-US" sz="1100" b="1">
                          <a:solidFill>
                            <a:srgbClr val="1B1C1D"/>
                          </a:solidFill>
                          <a:effectLst/>
                        </a:rPr>
                        <a:t>Viewport</a:t>
                      </a:r>
                      <a:r>
                        <a:rPr lang="en-US" sz="1100">
                          <a:solidFill>
                            <a:srgbClr val="1B1C1D"/>
                          </a:solidFill>
                          <a:effectLst/>
                        </a:rPr>
                        <a:t> (after scrolling)</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Yes (Default is relative)</a:t>
                      </a:r>
                      <a:endParaRPr lang="en-US" sz="1100">
                        <a:solidFill>
                          <a:srgbClr val="1B1C1D"/>
                        </a:solidFill>
                        <a:effectLst/>
                        <a:latin typeface="+mj-lt"/>
                      </a:endParaRPr>
                    </a:p>
                  </a:txBody>
                  <a:tcPr marL="68850" marR="68850" marT="45900" marB="45900" anchor="ctr"/>
                </a:tc>
                <a:tc>
                  <a:txBody>
                    <a:bodyPr/>
                    <a:lstStyle/>
                    <a:p>
                      <a:pPr rtl="0"/>
                      <a:r>
                        <a:rPr lang="en-US" sz="1100">
                          <a:solidFill>
                            <a:srgbClr val="1B1C1D"/>
                          </a:solidFill>
                          <a:effectLst/>
                        </a:rPr>
                        <a:t>Defines the "sticking" point (e.g., top: 0).</a:t>
                      </a:r>
                      <a:endParaRPr lang="en-US" sz="1100">
                        <a:solidFill>
                          <a:srgbClr val="1B1C1D"/>
                        </a:solidFill>
                        <a:effectLst/>
                        <a:latin typeface="+mj-lt"/>
                      </a:endParaRPr>
                    </a:p>
                  </a:txBody>
                  <a:tcPr marL="68850" marR="68850" marT="45900" marB="45900" anchor="ctr"/>
                </a:tc>
                <a:tc>
                  <a:txBody>
                    <a:bodyPr/>
                    <a:lstStyle/>
                    <a:p>
                      <a:pPr rtl="0"/>
                      <a:r>
                        <a:rPr lang="en-US" sz="1100" dirty="0">
                          <a:solidFill>
                            <a:srgbClr val="1B1C1D"/>
                          </a:solidFill>
                          <a:effectLst/>
                        </a:rPr>
                        <a:t>Table headers or section titles that remain visible while scrolling through content.</a:t>
                      </a:r>
                      <a:endParaRPr lang="en-US" sz="1100" dirty="0">
                        <a:solidFill>
                          <a:srgbClr val="1B1C1D"/>
                        </a:solidFill>
                        <a:effectLst/>
                        <a:latin typeface="+mj-lt"/>
                      </a:endParaRPr>
                    </a:p>
                  </a:txBody>
                  <a:tcPr marL="68850" marR="68850" marT="45900" marB="45900" anchor="ctr"/>
                </a:tc>
                <a:extLst>
                  <a:ext uri="{0D108BD9-81ED-4DB2-BD59-A6C34878D82A}">
                    <a16:rowId xmlns:a16="http://schemas.microsoft.com/office/drawing/2014/main" val="3569499795"/>
                  </a:ext>
                </a:extLst>
              </a:tr>
            </a:tbl>
          </a:graphicData>
        </a:graphic>
      </p:graphicFrame>
    </p:spTree>
    <p:extLst>
      <p:ext uri="{BB962C8B-B14F-4D97-AF65-F5344CB8AC3E}">
        <p14:creationId xmlns:p14="http://schemas.microsoft.com/office/powerpoint/2010/main" val="681022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52490" y="226961"/>
            <a:ext cx="11055148" cy="1900777"/>
          </a:xfrm>
          <a:prstGeom prst="rect">
            <a:avLst/>
          </a:prstGeom>
          <a:noFill/>
        </p:spPr>
        <p:txBody>
          <a:bodyPr wrap="square" rtlCol="0">
            <a:spAutoFit/>
          </a:bodyPr>
          <a:lstStyle/>
          <a:p>
            <a:pPr>
              <a:lnSpc>
                <a:spcPct val="150000"/>
              </a:lnSpc>
            </a:pPr>
            <a:r>
              <a:rPr lang="en-US" sz="1600" b="1" dirty="0">
                <a:solidFill>
                  <a:schemeClr val="accent6">
                    <a:lumMod val="60000"/>
                    <a:lumOff val="40000"/>
                  </a:schemeClr>
                </a:solidFill>
              </a:rPr>
              <a:t>Z-index:</a:t>
            </a:r>
          </a:p>
          <a:p>
            <a:pPr>
              <a:lnSpc>
                <a:spcPct val="150000"/>
              </a:lnSpc>
            </a:pPr>
            <a:r>
              <a:rPr lang="en-US" sz="1600" dirty="0">
                <a:latin typeface="+mj-lt"/>
              </a:rPr>
              <a:t>The </a:t>
            </a:r>
            <a:r>
              <a:rPr lang="en-US" sz="1600" b="1" dirty="0">
                <a:latin typeface="+mj-lt"/>
              </a:rPr>
              <a:t>z-index</a:t>
            </a:r>
            <a:r>
              <a:rPr lang="en-US" sz="1600" dirty="0">
                <a:latin typeface="+mj-lt"/>
              </a:rPr>
              <a:t> property in CSS controls the </a:t>
            </a:r>
            <a:r>
              <a:rPr lang="en-US" sz="1600" b="1" dirty="0">
                <a:latin typeface="+mj-lt"/>
              </a:rPr>
              <a:t>stacking order</a:t>
            </a:r>
            <a:r>
              <a:rPr lang="en-US" sz="1600" dirty="0">
                <a:latin typeface="+mj-lt"/>
              </a:rPr>
              <a:t> of positioned elements. It determines which element appears in front of or behind other overlapping elements on the z-axis (the axis coming out of the screen towards the user).</a:t>
            </a:r>
          </a:p>
          <a:p>
            <a:pPr>
              <a:lnSpc>
                <a:spcPct val="150000"/>
              </a:lnSpc>
            </a:pPr>
            <a:endParaRPr lang="en-US" sz="1600" dirty="0">
              <a:solidFill>
                <a:schemeClr val="tx1">
                  <a:lumMod val="65000"/>
                  <a:lumOff val="35000"/>
                </a:schemeClr>
              </a:solidFill>
              <a:latin typeface="+mj-lt"/>
            </a:endParaRPr>
          </a:p>
          <a:p>
            <a:pPr>
              <a:lnSpc>
                <a:spcPct val="150000"/>
              </a:lnSpc>
            </a:pPr>
            <a:endParaRPr lang="en-US" sz="1600" dirty="0">
              <a:solidFill>
                <a:schemeClr val="tx1">
                  <a:lumMod val="65000"/>
                  <a:lumOff val="35000"/>
                </a:schemeClr>
              </a:solidFill>
              <a:latin typeface="+mj-lt"/>
            </a:endParaRPr>
          </a:p>
        </p:txBody>
      </p:sp>
      <p:pic>
        <p:nvPicPr>
          <p:cNvPr id="7170" name="Picture 2" descr="CSS z-index Property - Scaler Topics">
            <a:extLst>
              <a:ext uri="{FF2B5EF4-FFF2-40B4-BE49-F238E27FC236}">
                <a16:creationId xmlns:a16="http://schemas.microsoft.com/office/drawing/2014/main" id="{86E4FD8F-9165-536D-C1FA-13E0971C22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8484"/>
          <a:stretch/>
        </p:blipFill>
        <p:spPr bwMode="auto">
          <a:xfrm>
            <a:off x="1924768" y="1343857"/>
            <a:ext cx="7211596" cy="5062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374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52490" y="226961"/>
            <a:ext cx="11055148" cy="2639441"/>
          </a:xfrm>
          <a:prstGeom prst="rect">
            <a:avLst/>
          </a:prstGeom>
          <a:noFill/>
        </p:spPr>
        <p:txBody>
          <a:bodyPr wrap="square" rtlCol="0">
            <a:spAutoFit/>
          </a:bodyPr>
          <a:lstStyle/>
          <a:p>
            <a:pPr>
              <a:lnSpc>
                <a:spcPct val="150000"/>
              </a:lnSpc>
            </a:pPr>
            <a:r>
              <a:rPr lang="en-US" sz="1600" b="1" dirty="0">
                <a:solidFill>
                  <a:schemeClr val="accent6">
                    <a:lumMod val="60000"/>
                    <a:lumOff val="40000"/>
                  </a:schemeClr>
                </a:solidFill>
              </a:rPr>
              <a:t>Rules for z-index</a:t>
            </a:r>
          </a:p>
          <a:p>
            <a:pPr>
              <a:lnSpc>
                <a:spcPct val="150000"/>
              </a:lnSpc>
              <a:buFont typeface="+mj-lt"/>
              <a:buAutoNum type="arabicPeriod"/>
            </a:pPr>
            <a:r>
              <a:rPr lang="en-US" sz="1600" b="1" dirty="0">
                <a:latin typeface="+mj-lt"/>
              </a:rPr>
              <a:t>Requires Positioning:</a:t>
            </a:r>
            <a:r>
              <a:rPr lang="en-US" sz="1600" dirty="0">
                <a:latin typeface="+mj-lt"/>
              </a:rPr>
              <a:t> z-index only works on elements that have their position property set to something other than the default value of static .</a:t>
            </a:r>
            <a:br>
              <a:rPr lang="en-US" sz="1600" dirty="0">
                <a:latin typeface="+mj-lt"/>
              </a:rPr>
            </a:br>
            <a:r>
              <a:rPr lang="en-US" sz="1600" b="1" dirty="0">
                <a:latin typeface="+mj-lt"/>
              </a:rPr>
              <a:t>Higher Number, Higher Stack:</a:t>
            </a:r>
            <a:r>
              <a:rPr lang="en-US" sz="1600" dirty="0">
                <a:latin typeface="+mj-lt"/>
              </a:rPr>
              <a:t> Elements with a </a:t>
            </a:r>
            <a:r>
              <a:rPr lang="en-US" sz="1600" b="1" dirty="0">
                <a:latin typeface="+mj-lt"/>
              </a:rPr>
              <a:t>higher z-index value</a:t>
            </a:r>
            <a:r>
              <a:rPr lang="en-US" sz="1600" dirty="0">
                <a:latin typeface="+mj-lt"/>
              </a:rPr>
              <a:t> are placed closer to the user (on top) than elements with a lower value.</a:t>
            </a:r>
          </a:p>
          <a:p>
            <a:pPr>
              <a:lnSpc>
                <a:spcPct val="150000"/>
              </a:lnSpc>
              <a:buFont typeface="+mj-lt"/>
              <a:buAutoNum type="arabicPeriod"/>
            </a:pPr>
            <a:r>
              <a:rPr lang="en-US" sz="1600" b="1" dirty="0">
                <a:latin typeface="+mj-lt"/>
              </a:rPr>
              <a:t>No Units:</a:t>
            </a:r>
            <a:r>
              <a:rPr lang="en-US" sz="1600" dirty="0">
                <a:latin typeface="+mj-lt"/>
              </a:rPr>
              <a:t> The value for z-index is a </a:t>
            </a:r>
            <a:r>
              <a:rPr lang="en-US" sz="1600" b="1" dirty="0">
                <a:latin typeface="+mj-lt"/>
              </a:rPr>
              <a:t>unitless integer</a:t>
            </a:r>
            <a:r>
              <a:rPr lang="en-US" sz="1600" dirty="0">
                <a:latin typeface="+mj-lt"/>
              </a:rPr>
              <a:t> (e.g., 1, 10, 1000). It can be positive, negative, or zero.</a:t>
            </a:r>
            <a:endParaRPr lang="en-US" sz="1600" dirty="0">
              <a:solidFill>
                <a:schemeClr val="tx1">
                  <a:lumMod val="65000"/>
                  <a:lumOff val="35000"/>
                </a:schemeClr>
              </a:solidFill>
              <a:latin typeface="+mj-lt"/>
            </a:endParaRPr>
          </a:p>
          <a:p>
            <a:pPr>
              <a:lnSpc>
                <a:spcPct val="150000"/>
              </a:lnSpc>
            </a:pPr>
            <a:endParaRPr lang="en-US" sz="1600" dirty="0">
              <a:solidFill>
                <a:schemeClr val="tx1">
                  <a:lumMod val="65000"/>
                  <a:lumOff val="35000"/>
                </a:schemeClr>
              </a:solidFill>
              <a:latin typeface="+mj-lt"/>
            </a:endParaRPr>
          </a:p>
        </p:txBody>
      </p:sp>
      <p:pic>
        <p:nvPicPr>
          <p:cNvPr id="8194" name="Picture 2" descr="重新認識CSS - z-index &amp; stacking context | Titangene Blog">
            <a:extLst>
              <a:ext uri="{FF2B5EF4-FFF2-40B4-BE49-F238E27FC236}">
                <a16:creationId xmlns:a16="http://schemas.microsoft.com/office/drawing/2014/main" id="{43C9593B-774E-59B5-30F1-B565BDB656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336" y="3049438"/>
            <a:ext cx="4221193" cy="3428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377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52490" y="226961"/>
            <a:ext cx="11055148" cy="4039824"/>
          </a:xfrm>
          <a:prstGeom prst="rect">
            <a:avLst/>
          </a:prstGeom>
          <a:noFill/>
        </p:spPr>
        <p:txBody>
          <a:bodyPr wrap="square" rtlCol="0">
            <a:spAutoFit/>
          </a:bodyPr>
          <a:lstStyle/>
          <a:p>
            <a:pPr>
              <a:lnSpc>
                <a:spcPct val="150000"/>
              </a:lnSpc>
            </a:pPr>
            <a:r>
              <a:rPr lang="en-US" b="1" dirty="0">
                <a:solidFill>
                  <a:srgbClr val="00B0F0"/>
                </a:solidFill>
              </a:rPr>
              <a:t>Background-image:</a:t>
            </a:r>
          </a:p>
          <a:p>
            <a:pPr>
              <a:lnSpc>
                <a:spcPct val="150000"/>
              </a:lnSpc>
            </a:pPr>
            <a:r>
              <a:rPr lang="en-US" sz="1600" dirty="0">
                <a:latin typeface="+mj-lt"/>
              </a:rPr>
              <a:t>The </a:t>
            </a:r>
            <a:r>
              <a:rPr lang="en-US" sz="1600" b="1" dirty="0">
                <a:latin typeface="+mj-lt"/>
              </a:rPr>
              <a:t>background-image</a:t>
            </a:r>
            <a:r>
              <a:rPr lang="en-US" sz="1600" dirty="0">
                <a:latin typeface="+mj-lt"/>
              </a:rPr>
              <a:t> CSS property is used to set one or more background images for an element. This property does not replace the content of the element; instead, it places the image </a:t>
            </a:r>
            <a:r>
              <a:rPr lang="en-US" sz="1600" b="1" dirty="0">
                <a:latin typeface="+mj-lt"/>
              </a:rPr>
              <a:t>behind</a:t>
            </a:r>
            <a:r>
              <a:rPr lang="en-US" sz="1600" dirty="0">
                <a:latin typeface="+mj-lt"/>
              </a:rPr>
              <a:t> the element's content, padding, and border.</a:t>
            </a:r>
          </a:p>
          <a:p>
            <a:pPr>
              <a:lnSpc>
                <a:spcPct val="150000"/>
              </a:lnSpc>
            </a:pPr>
            <a:endParaRPr lang="en-US" sz="1600" dirty="0">
              <a:latin typeface="+mj-lt"/>
            </a:endParaRPr>
          </a:p>
          <a:p>
            <a:pPr>
              <a:lnSpc>
                <a:spcPct val="150000"/>
              </a:lnSpc>
            </a:pPr>
            <a:r>
              <a:rPr lang="en-US" sz="1600" b="1" dirty="0">
                <a:solidFill>
                  <a:srgbClr val="00B0F0"/>
                </a:solidFill>
                <a:latin typeface="+mj-lt"/>
              </a:rPr>
              <a:t>Tip: </a:t>
            </a:r>
            <a:r>
              <a:rPr lang="en-US" sz="1600" dirty="0">
                <a:latin typeface="+mj-lt"/>
              </a:rPr>
              <a:t>Background images are </a:t>
            </a:r>
            <a:r>
              <a:rPr lang="en-US" sz="1600" b="1" dirty="0">
                <a:latin typeface="+mj-lt"/>
              </a:rPr>
              <a:t>decorative</a:t>
            </a:r>
            <a:r>
              <a:rPr lang="en-US" sz="1600" dirty="0">
                <a:latin typeface="+mj-lt"/>
              </a:rPr>
              <a:t>; they are not part of the document's content. They are typically ignored by screen readers and don't affect the document's structure.</a:t>
            </a:r>
          </a:p>
          <a:p>
            <a:pPr>
              <a:lnSpc>
                <a:spcPct val="150000"/>
              </a:lnSpc>
            </a:pPr>
            <a:endParaRPr lang="en-US" sz="1600" dirty="0">
              <a:latin typeface="+mj-lt"/>
            </a:endParaRPr>
          </a:p>
          <a:p>
            <a:pPr>
              <a:lnSpc>
                <a:spcPct val="150000"/>
              </a:lnSpc>
            </a:pPr>
            <a:r>
              <a:rPr lang="en-US" sz="1600" b="1" dirty="0">
                <a:solidFill>
                  <a:srgbClr val="00B0F0"/>
                </a:solidFill>
                <a:latin typeface="+mj-lt"/>
              </a:rPr>
              <a:t>Syntax and Example:</a:t>
            </a:r>
          </a:p>
          <a:p>
            <a:r>
              <a:rPr lang="en-US" sz="1600" dirty="0"/>
              <a:t>The value for background-image is typically a </a:t>
            </a:r>
            <a:r>
              <a:rPr lang="en-US" sz="1600" dirty="0" err="1"/>
              <a:t>url</a:t>
            </a:r>
            <a:r>
              <a:rPr lang="en-US" sz="1600" dirty="0"/>
              <a:t>() function pointing to the image file.</a:t>
            </a:r>
          </a:p>
          <a:p>
            <a:pPr>
              <a:lnSpc>
                <a:spcPct val="150000"/>
              </a:lnSpc>
            </a:pPr>
            <a:endParaRPr lang="en-US" sz="1600" dirty="0">
              <a:solidFill>
                <a:schemeClr val="tx1">
                  <a:lumMod val="65000"/>
                  <a:lumOff val="35000"/>
                </a:schemeClr>
              </a:solidFill>
              <a:latin typeface="+mj-lt"/>
            </a:endParaRPr>
          </a:p>
          <a:p>
            <a:pPr>
              <a:lnSpc>
                <a:spcPct val="150000"/>
              </a:lnSpc>
            </a:pPr>
            <a:endParaRPr lang="en-US" sz="1600" dirty="0">
              <a:solidFill>
                <a:schemeClr val="tx1">
                  <a:lumMod val="65000"/>
                  <a:lumOff val="35000"/>
                </a:schemeClr>
              </a:solidFill>
              <a:latin typeface="+mj-lt"/>
            </a:endParaRPr>
          </a:p>
        </p:txBody>
      </p:sp>
      <p:pic>
        <p:nvPicPr>
          <p:cNvPr id="2" name="Picture 1">
            <a:extLst>
              <a:ext uri="{FF2B5EF4-FFF2-40B4-BE49-F238E27FC236}">
                <a16:creationId xmlns:a16="http://schemas.microsoft.com/office/drawing/2014/main" id="{933EC3CA-F475-5237-8D63-F806F0C83B38}"/>
              </a:ext>
            </a:extLst>
          </p:cNvPr>
          <p:cNvPicPr>
            <a:picLocks noChangeAspect="1"/>
          </p:cNvPicPr>
          <p:nvPr/>
        </p:nvPicPr>
        <p:blipFill>
          <a:blip r:embed="rId2"/>
          <a:stretch>
            <a:fillRect/>
          </a:stretch>
        </p:blipFill>
        <p:spPr>
          <a:xfrm>
            <a:off x="2974796" y="3977204"/>
            <a:ext cx="4943258" cy="2486855"/>
          </a:xfrm>
          <a:prstGeom prst="rect">
            <a:avLst/>
          </a:prstGeom>
        </p:spPr>
      </p:pic>
    </p:spTree>
    <p:extLst>
      <p:ext uri="{BB962C8B-B14F-4D97-AF65-F5344CB8AC3E}">
        <p14:creationId xmlns:p14="http://schemas.microsoft.com/office/powerpoint/2010/main" val="2076230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3A004C-57F2-4831-B539-656D63523175}"/>
              </a:ext>
            </a:extLst>
          </p:cNvPr>
          <p:cNvSpPr txBox="1"/>
          <p:nvPr/>
        </p:nvSpPr>
        <p:spPr>
          <a:xfrm>
            <a:off x="452490" y="226961"/>
            <a:ext cx="11055148" cy="1577611"/>
          </a:xfrm>
          <a:prstGeom prst="rect">
            <a:avLst/>
          </a:prstGeom>
          <a:noFill/>
        </p:spPr>
        <p:txBody>
          <a:bodyPr wrap="square" rtlCol="0">
            <a:spAutoFit/>
          </a:bodyPr>
          <a:lstStyle/>
          <a:p>
            <a:pPr>
              <a:lnSpc>
                <a:spcPct val="150000"/>
              </a:lnSpc>
            </a:pPr>
            <a:r>
              <a:rPr lang="en-US" b="1" dirty="0">
                <a:solidFill>
                  <a:srgbClr val="00B0F0"/>
                </a:solidFill>
              </a:rPr>
              <a:t>Background properties:</a:t>
            </a:r>
          </a:p>
          <a:p>
            <a:pPr>
              <a:lnSpc>
                <a:spcPct val="150000"/>
              </a:lnSpc>
            </a:pPr>
            <a:r>
              <a:rPr lang="en-US" sz="1600" dirty="0">
                <a:latin typeface="+mj-lt"/>
              </a:rPr>
              <a:t>The background-image property is rarely used alone. It is typically combined with other background properties to control how the image is displayed:</a:t>
            </a:r>
            <a:endParaRPr lang="en-US" sz="1600" dirty="0">
              <a:solidFill>
                <a:schemeClr val="tx1">
                  <a:lumMod val="65000"/>
                  <a:lumOff val="35000"/>
                </a:schemeClr>
              </a:solidFill>
              <a:latin typeface="+mj-lt"/>
            </a:endParaRPr>
          </a:p>
          <a:p>
            <a:pPr>
              <a:lnSpc>
                <a:spcPct val="150000"/>
              </a:lnSpc>
            </a:pPr>
            <a:endParaRPr lang="en-US" sz="1600" dirty="0">
              <a:solidFill>
                <a:schemeClr val="tx1">
                  <a:lumMod val="65000"/>
                  <a:lumOff val="35000"/>
                </a:schemeClr>
              </a:solidFill>
              <a:latin typeface="+mj-lt"/>
            </a:endParaRPr>
          </a:p>
        </p:txBody>
      </p:sp>
      <p:graphicFrame>
        <p:nvGraphicFramePr>
          <p:cNvPr id="6" name="Table 5">
            <a:extLst>
              <a:ext uri="{FF2B5EF4-FFF2-40B4-BE49-F238E27FC236}">
                <a16:creationId xmlns:a16="http://schemas.microsoft.com/office/drawing/2014/main" id="{789FC020-126E-9E20-9A15-2496E0EFDA50}"/>
              </a:ext>
            </a:extLst>
          </p:cNvPr>
          <p:cNvGraphicFramePr>
            <a:graphicFrameLocks noGrp="1"/>
          </p:cNvGraphicFramePr>
          <p:nvPr>
            <p:extLst>
              <p:ext uri="{D42A27DB-BD31-4B8C-83A1-F6EECF244321}">
                <p14:modId xmlns:p14="http://schemas.microsoft.com/office/powerpoint/2010/main" val="91153653"/>
              </p:ext>
            </p:extLst>
          </p:nvPr>
        </p:nvGraphicFramePr>
        <p:xfrm>
          <a:off x="668975" y="2085988"/>
          <a:ext cx="5956112" cy="3605221"/>
        </p:xfrm>
        <a:graphic>
          <a:graphicData uri="http://schemas.openxmlformats.org/drawingml/2006/table">
            <a:tbl>
              <a:tblPr>
                <a:tableStyleId>{7DF18680-E054-41AD-8BC1-D1AEF772440D}</a:tableStyleId>
              </a:tblPr>
              <a:tblGrid>
                <a:gridCol w="2978056">
                  <a:extLst>
                    <a:ext uri="{9D8B030D-6E8A-4147-A177-3AD203B41FA5}">
                      <a16:colId xmlns:a16="http://schemas.microsoft.com/office/drawing/2014/main" val="1608850172"/>
                    </a:ext>
                  </a:extLst>
                </a:gridCol>
                <a:gridCol w="2978056">
                  <a:extLst>
                    <a:ext uri="{9D8B030D-6E8A-4147-A177-3AD203B41FA5}">
                      <a16:colId xmlns:a16="http://schemas.microsoft.com/office/drawing/2014/main" val="964789470"/>
                    </a:ext>
                  </a:extLst>
                </a:gridCol>
              </a:tblGrid>
              <a:tr h="391698">
                <a:tc>
                  <a:txBody>
                    <a:bodyPr/>
                    <a:lstStyle/>
                    <a:p>
                      <a:pPr rtl="0"/>
                      <a:r>
                        <a:rPr lang="en-US" sz="1800" b="1" dirty="0">
                          <a:solidFill>
                            <a:srgbClr val="1B1C1D"/>
                          </a:solidFill>
                          <a:effectLst/>
                          <a:latin typeface="+mj-lt"/>
                        </a:rPr>
                        <a:t>Property</a:t>
                      </a:r>
                      <a:endParaRPr lang="en-US" sz="1800" dirty="0">
                        <a:solidFill>
                          <a:srgbClr val="1B1C1D"/>
                        </a:solidFill>
                        <a:effectLst/>
                        <a:latin typeface="+mj-lt"/>
                      </a:endParaRPr>
                    </a:p>
                  </a:txBody>
                  <a:tcPr marL="101351" marR="101351" marT="67567" marB="67567" anchor="ctr"/>
                </a:tc>
                <a:tc>
                  <a:txBody>
                    <a:bodyPr/>
                    <a:lstStyle/>
                    <a:p>
                      <a:pPr rtl="0"/>
                      <a:r>
                        <a:rPr lang="en-US" sz="1800" b="1" dirty="0">
                          <a:solidFill>
                            <a:srgbClr val="1B1C1D"/>
                          </a:solidFill>
                          <a:effectLst/>
                          <a:latin typeface="+mj-lt"/>
                        </a:rPr>
                        <a:t>Purpose</a:t>
                      </a:r>
                      <a:endParaRPr lang="en-US" sz="1800" dirty="0">
                        <a:solidFill>
                          <a:srgbClr val="1B1C1D"/>
                        </a:solidFill>
                        <a:effectLst/>
                        <a:latin typeface="+mj-lt"/>
                      </a:endParaRPr>
                    </a:p>
                  </a:txBody>
                  <a:tcPr marL="101351" marR="101351" marT="67567" marB="67567" anchor="ctr"/>
                </a:tc>
                <a:extLst>
                  <a:ext uri="{0D108BD9-81ED-4DB2-BD59-A6C34878D82A}">
                    <a16:rowId xmlns:a16="http://schemas.microsoft.com/office/drawing/2014/main" val="4007178118"/>
                  </a:ext>
                </a:extLst>
              </a:tr>
              <a:tr h="595805">
                <a:tc>
                  <a:txBody>
                    <a:bodyPr/>
                    <a:lstStyle/>
                    <a:p>
                      <a:pPr rtl="0"/>
                      <a:r>
                        <a:rPr lang="en-US" sz="1800" b="1" dirty="0">
                          <a:solidFill>
                            <a:srgbClr val="1B1C1D"/>
                          </a:solidFill>
                          <a:effectLst/>
                          <a:latin typeface="+mj-lt"/>
                        </a:rPr>
                        <a:t>background-repeat</a:t>
                      </a:r>
                      <a:endParaRPr lang="en-US" sz="1800" dirty="0">
                        <a:solidFill>
                          <a:srgbClr val="1B1C1D"/>
                        </a:solidFill>
                        <a:effectLst/>
                        <a:latin typeface="+mj-lt"/>
                      </a:endParaRPr>
                    </a:p>
                  </a:txBody>
                  <a:tcPr marL="101351" marR="101351" marT="67567" marB="67567" anchor="ctr"/>
                </a:tc>
                <a:tc>
                  <a:txBody>
                    <a:bodyPr/>
                    <a:lstStyle/>
                    <a:p>
                      <a:pPr rtl="0"/>
                      <a:r>
                        <a:rPr lang="en-US" sz="1600" dirty="0">
                          <a:solidFill>
                            <a:srgbClr val="1B1C1D"/>
                          </a:solidFill>
                          <a:effectLst/>
                          <a:latin typeface="+mj-lt"/>
                        </a:rPr>
                        <a:t>Defines if and how the image is tiled (e.g., no-repeat, repeat-x, repeat-y).</a:t>
                      </a:r>
                    </a:p>
                  </a:txBody>
                  <a:tcPr marL="101351" marR="101351" marT="67567" marB="67567" anchor="ctr"/>
                </a:tc>
                <a:extLst>
                  <a:ext uri="{0D108BD9-81ED-4DB2-BD59-A6C34878D82A}">
                    <a16:rowId xmlns:a16="http://schemas.microsoft.com/office/drawing/2014/main" val="905541142"/>
                  </a:ext>
                </a:extLst>
              </a:tr>
              <a:tr h="595805">
                <a:tc>
                  <a:txBody>
                    <a:bodyPr/>
                    <a:lstStyle/>
                    <a:p>
                      <a:pPr rtl="0"/>
                      <a:r>
                        <a:rPr lang="en-US" sz="1800" b="1" dirty="0">
                          <a:solidFill>
                            <a:srgbClr val="1B1C1D"/>
                          </a:solidFill>
                          <a:effectLst/>
                          <a:latin typeface="+mj-lt"/>
                        </a:rPr>
                        <a:t>background-position</a:t>
                      </a:r>
                      <a:endParaRPr lang="en-US" sz="1800" dirty="0">
                        <a:solidFill>
                          <a:srgbClr val="1B1C1D"/>
                        </a:solidFill>
                        <a:effectLst/>
                        <a:latin typeface="+mj-lt"/>
                      </a:endParaRPr>
                    </a:p>
                  </a:txBody>
                  <a:tcPr marL="101351" marR="101351" marT="67567" marB="67567" anchor="ctr"/>
                </a:tc>
                <a:tc>
                  <a:txBody>
                    <a:bodyPr/>
                    <a:lstStyle/>
                    <a:p>
                      <a:pPr rtl="0"/>
                      <a:r>
                        <a:rPr lang="en-US" sz="1600" dirty="0">
                          <a:solidFill>
                            <a:srgbClr val="1B1C1D"/>
                          </a:solidFill>
                          <a:effectLst/>
                          <a:latin typeface="+mj-lt"/>
                        </a:rPr>
                        <a:t>Sets the starting position of the background image (e.g., center, top right, 20px 50%).</a:t>
                      </a:r>
                    </a:p>
                  </a:txBody>
                  <a:tcPr marL="101351" marR="101351" marT="67567" marB="67567" anchor="ctr"/>
                </a:tc>
                <a:extLst>
                  <a:ext uri="{0D108BD9-81ED-4DB2-BD59-A6C34878D82A}">
                    <a16:rowId xmlns:a16="http://schemas.microsoft.com/office/drawing/2014/main" val="3389963817"/>
                  </a:ext>
                </a:extLst>
              </a:tr>
              <a:tr h="595805">
                <a:tc>
                  <a:txBody>
                    <a:bodyPr/>
                    <a:lstStyle/>
                    <a:p>
                      <a:pPr rtl="0"/>
                      <a:r>
                        <a:rPr lang="en-US" sz="1800" b="1">
                          <a:solidFill>
                            <a:srgbClr val="1B1C1D"/>
                          </a:solidFill>
                          <a:effectLst/>
                          <a:latin typeface="+mj-lt"/>
                        </a:rPr>
                        <a:t>background-size</a:t>
                      </a:r>
                      <a:endParaRPr lang="en-US" sz="1800">
                        <a:solidFill>
                          <a:srgbClr val="1B1C1D"/>
                        </a:solidFill>
                        <a:effectLst/>
                        <a:latin typeface="+mj-lt"/>
                      </a:endParaRPr>
                    </a:p>
                  </a:txBody>
                  <a:tcPr marL="101351" marR="101351" marT="67567" marB="67567" anchor="ctr"/>
                </a:tc>
                <a:tc>
                  <a:txBody>
                    <a:bodyPr/>
                    <a:lstStyle/>
                    <a:p>
                      <a:pPr rtl="0"/>
                      <a:r>
                        <a:rPr lang="en-US" sz="1600" dirty="0">
                          <a:solidFill>
                            <a:srgbClr val="1B1C1D"/>
                          </a:solidFill>
                          <a:effectLst/>
                          <a:latin typeface="+mj-lt"/>
                        </a:rPr>
                        <a:t>Specifies the size of the background image (e.g., cover, contain, 100% auto).</a:t>
                      </a:r>
                    </a:p>
                  </a:txBody>
                  <a:tcPr marL="101351" marR="101351" marT="67567" marB="67567" anchor="ctr"/>
                </a:tc>
                <a:extLst>
                  <a:ext uri="{0D108BD9-81ED-4DB2-BD59-A6C34878D82A}">
                    <a16:rowId xmlns:a16="http://schemas.microsoft.com/office/drawing/2014/main" val="3902285951"/>
                  </a:ext>
                </a:extLst>
              </a:tr>
              <a:tr h="595805">
                <a:tc>
                  <a:txBody>
                    <a:bodyPr/>
                    <a:lstStyle/>
                    <a:p>
                      <a:pPr rtl="0"/>
                      <a:r>
                        <a:rPr lang="en-US" sz="1800" b="1" dirty="0">
                          <a:solidFill>
                            <a:srgbClr val="1B1C1D"/>
                          </a:solidFill>
                          <a:effectLst/>
                          <a:latin typeface="+mj-lt"/>
                        </a:rPr>
                        <a:t>background (Shorthand) :</a:t>
                      </a:r>
                      <a:endParaRPr lang="en-US" sz="1800" dirty="0">
                        <a:solidFill>
                          <a:srgbClr val="1B1C1D"/>
                        </a:solidFill>
                        <a:effectLst/>
                        <a:latin typeface="+mj-lt"/>
                      </a:endParaRPr>
                    </a:p>
                  </a:txBody>
                  <a:tcPr marL="101351" marR="101351" marT="67567" marB="67567" anchor="ctr"/>
                </a:tc>
                <a:tc>
                  <a:txBody>
                    <a:bodyPr/>
                    <a:lstStyle/>
                    <a:p>
                      <a:pPr rtl="1"/>
                      <a:r>
                        <a:rPr lang="en-US" sz="1600" b="0" i="0" kern="1200" dirty="0">
                          <a:solidFill>
                            <a:schemeClr val="dk1"/>
                          </a:solidFill>
                          <a:effectLst/>
                          <a:latin typeface="+mn-lt"/>
                          <a:ea typeface="+mn-ea"/>
                          <a:cs typeface="+mn-cs"/>
                        </a:rPr>
                        <a:t>color image repeat position  size;</a:t>
                      </a:r>
                      <a:endParaRPr lang="en-US" sz="1600" kern="1200" dirty="0">
                        <a:solidFill>
                          <a:schemeClr val="dk1"/>
                        </a:solidFill>
                        <a:effectLst/>
                        <a:latin typeface="+mn-lt"/>
                        <a:ea typeface="+mn-ea"/>
                        <a:cs typeface="+mn-cs"/>
                      </a:endParaRPr>
                    </a:p>
                  </a:txBody>
                  <a:tcPr marL="101351" marR="101351" marT="67567" marB="67567" anchor="ctr"/>
                </a:tc>
                <a:extLst>
                  <a:ext uri="{0D108BD9-81ED-4DB2-BD59-A6C34878D82A}">
                    <a16:rowId xmlns:a16="http://schemas.microsoft.com/office/drawing/2014/main" val="920847064"/>
                  </a:ext>
                </a:extLst>
              </a:tr>
            </a:tbl>
          </a:graphicData>
        </a:graphic>
      </p:graphicFrame>
      <p:pic>
        <p:nvPicPr>
          <p:cNvPr id="10242" name="Picture 2">
            <a:extLst>
              <a:ext uri="{FF2B5EF4-FFF2-40B4-BE49-F238E27FC236}">
                <a16:creationId xmlns:a16="http://schemas.microsoft.com/office/drawing/2014/main" id="{7F159A2C-A6A5-060C-EA40-5F490305FA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52" t="19632" r="31500" b="4745"/>
          <a:stretch/>
        </p:blipFill>
        <p:spPr bwMode="auto">
          <a:xfrm>
            <a:off x="6987396" y="2085988"/>
            <a:ext cx="4807790" cy="384163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12519D5-C620-9BC0-AC59-3AB4FF4B7BD2}"/>
              </a:ext>
            </a:extLst>
          </p:cNvPr>
          <p:cNvSpPr txBox="1"/>
          <p:nvPr/>
        </p:nvSpPr>
        <p:spPr>
          <a:xfrm>
            <a:off x="6935637" y="1716656"/>
            <a:ext cx="1984076" cy="369332"/>
          </a:xfrm>
          <a:prstGeom prst="rect">
            <a:avLst/>
          </a:prstGeom>
          <a:noFill/>
        </p:spPr>
        <p:txBody>
          <a:bodyPr wrap="square" rtlCol="0">
            <a:spAutoFit/>
          </a:bodyPr>
          <a:lstStyle/>
          <a:p>
            <a:r>
              <a:rPr lang="en-US" dirty="0"/>
              <a:t>Background-size:</a:t>
            </a:r>
          </a:p>
        </p:txBody>
      </p:sp>
    </p:spTree>
    <p:extLst>
      <p:ext uri="{BB962C8B-B14F-4D97-AF65-F5344CB8AC3E}">
        <p14:creationId xmlns:p14="http://schemas.microsoft.com/office/powerpoint/2010/main" val="4185888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7387</TotalTime>
  <Words>1669</Words>
  <Application>Microsoft Macintosh PowerPoint</Application>
  <PresentationFormat>Widescreen</PresentationFormat>
  <Paragraphs>149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Special topics  Session 5    Al-Zahra university  Maryam zim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maryam.zim@PART.LOCAL</dc:creator>
  <cp:lastModifiedBy>maryam zim</cp:lastModifiedBy>
  <cp:revision>40</cp:revision>
  <dcterms:created xsi:type="dcterms:W3CDTF">2025-10-04T12:24:50Z</dcterms:created>
  <dcterms:modified xsi:type="dcterms:W3CDTF">2025-11-13T12:38:25Z</dcterms:modified>
</cp:coreProperties>
</file>