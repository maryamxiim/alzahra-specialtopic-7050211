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4" r:id="rId2"/>
    <p:sldId id="343" r:id="rId3"/>
    <p:sldId id="346" r:id="rId4"/>
    <p:sldId id="345" r:id="rId5"/>
    <p:sldId id="347" r:id="rId6"/>
    <p:sldId id="348" r:id="rId7"/>
    <p:sldId id="349" r:id="rId8"/>
    <p:sldId id="350" r:id="rId9"/>
    <p:sldId id="351" r:id="rId10"/>
    <p:sldId id="352" r:id="rId11"/>
    <p:sldId id="353" r:id="rId12"/>
    <p:sldId id="354" r:id="rId13"/>
    <p:sldId id="355" r:id="rId14"/>
    <p:sldId id="35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CC"/>
    <a:srgbClr val="6666FF"/>
    <a:srgbClr val="993366"/>
    <a:srgbClr val="FF6699"/>
    <a:srgbClr val="0099CC"/>
    <a:srgbClr val="AC1455"/>
    <a:srgbClr val="9D2F23"/>
    <a:srgbClr val="4563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2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621A7-1297-4B3D-AA39-F5C0DF1593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F210B9-4796-4874-9BB8-15F35183EC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B7682-B92C-4941-BF14-1CC126B0A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4EDB1-FFF8-4366-8956-44B1F0399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50CC4-F01F-49B0-B16E-FB8D42E76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080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8765F-E9B9-4ED1-9E9E-EBBE0338D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A57D5-DD8D-4939-A68C-92AF9510B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36BAA-6F97-4E6F-B61B-7E4CF5436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A5917-50CC-4C33-A243-F3EC0293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1BB40-3BBA-4F2F-BF06-08662F152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189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C94DA-872A-4221-BA19-E07B6B95A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027956-B24A-4F79-A497-786703A03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01D3C-2A54-43A4-B4AA-E3578A5F0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BF451-B11A-429E-AE89-A29A040D4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9344F-0B35-47EF-B676-F7D6EFD51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703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0B749-E171-424D-95A4-107569D20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AE049-633C-4EE9-9C60-6E549F603B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E85B50-1331-4886-879E-3B49F8407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6F5FF1-B6E1-4969-8EA6-3540B5C09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E9DCB5-B792-438D-BC09-99FA3302A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21F8EF-9BA1-4D3A-8856-9E1F28F9F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095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523B0-D53A-4FB3-A0FA-3AA650170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861986-7E35-4BFD-AE5C-731845CE2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DB44A9-6B54-44C0-B2D5-AB7D848EF5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CF03A4-F8A4-4A2B-B519-1F7A15433D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6FA89C-42F2-4E57-9927-53867109DF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C8D43E-DE9B-4462-9805-C8D17DE09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8FD1DA-4390-4E8E-9A61-060979A91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0717FB-EF17-43FB-8605-E12CCEEDE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108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E3E59-9915-476C-B0F8-EB3A25E6D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460F27-09EE-485F-A74C-6A6BD7FDD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765843-65D3-4667-B615-FD1F6B5C2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674E2-122C-48F8-9EF8-E6146682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304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B7D829-74FC-4444-AFD6-536A86FD1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9E63DD-C7A8-44E9-9536-DA1E14996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2B870-EF9E-4D10-9908-985BE1401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484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FAF71-5FE8-47EF-BAE7-4E48FB03C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04D18-94CC-4C61-8AA2-0F0BA6A0E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F63AB8-9CB2-4DC0-8619-82C66AB04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A9CBA3-20B9-4D09-ACA4-F5CEF5563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4BCDAA-722B-42B1-AB5B-4104181CB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4DEFB-4003-4080-A9E6-42AD178C9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680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5A2CF-E225-4AA2-9996-E97E5DA06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5EB8C8-2BA5-4DF3-A3A3-873EAA04F9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4D1B52-B572-4655-9E7F-D7EA05728A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31BB40-94C9-4CB5-A0F8-6A46E661B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83C2F9-22D4-46CF-B08D-134F301D0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C59A7B-D3AF-42CC-BAE5-CDA0DD8EE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746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281F0-3D68-4BF4-B5AB-CFC8A80A3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C818F2-79A6-4F9C-8E66-E20F9B5DF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9898E-CF68-4BA9-953F-8142C596F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0293A-8B19-473E-BCA1-11F92655F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4F1BF-9DEB-49A9-A123-D6CD83028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364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5B366D-8EC1-428A-85D4-129DE2C092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9E9B1A-AB28-446F-BB0F-3C4EE0113F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51CD6-A1AE-4BB4-98F6-1EEA62944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B7E9E-4950-4891-8590-A9FC4063C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D1937-6B22-45E0-8722-8BCFDA6AD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55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E6A79B-B1C2-4FC9-8C3A-F43EC7D4F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36324-1315-477A-9FFD-ECA6522C7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AE13F-AC62-445F-A16D-ED4215451F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7B2B08-B017-4EEC-B17F-079F487C2A9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B1C2D-8020-42C2-998D-4313F62E31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0E827-9FF1-43A7-A9E2-B0C00B12F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25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4C456-2368-04EF-CB18-5B4BA1953C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9864" y="240060"/>
            <a:ext cx="9144000" cy="5786006"/>
          </a:xfrm>
        </p:spPr>
        <p:txBody>
          <a:bodyPr>
            <a:normAutofit/>
          </a:bodyPr>
          <a:lstStyle/>
          <a:p>
            <a:r>
              <a:rPr lang="en-US" b="1" dirty="0"/>
              <a:t>Special topics</a:t>
            </a:r>
            <a:br>
              <a:rPr lang="en-US" dirty="0"/>
            </a:br>
            <a:br>
              <a:rPr lang="en-US" dirty="0"/>
            </a:br>
            <a:r>
              <a:rPr lang="en-US" sz="3200" b="1" dirty="0"/>
              <a:t>Session 11</a:t>
            </a:r>
            <a:br>
              <a:rPr lang="en-US" sz="3200" b="1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2000" dirty="0"/>
              <a:t>Al-Zahra university </a:t>
            </a:r>
            <a:br>
              <a:rPr lang="en-US" sz="2000" dirty="0"/>
            </a:br>
            <a:r>
              <a:rPr lang="en-US" sz="2000" dirty="0"/>
              <a:t>Maryam </a:t>
            </a:r>
            <a:r>
              <a:rPr lang="en-US" sz="2000" dirty="0" err="1"/>
              <a:t>zim</a:t>
            </a:r>
            <a:r>
              <a:rPr lang="en-US" sz="20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49644-702C-104B-A3C2-E81A66E02B10}"/>
              </a:ext>
            </a:extLst>
          </p:cNvPr>
          <p:cNvSpPr txBox="1"/>
          <p:nvPr/>
        </p:nvSpPr>
        <p:spPr>
          <a:xfrm>
            <a:off x="333555" y="6331012"/>
            <a:ext cx="21796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+mj-lt"/>
              </a:rPr>
              <a:t>@</a:t>
            </a:r>
            <a:r>
              <a:rPr lang="en-US" sz="1100" dirty="0" err="1">
                <a:latin typeface="+mj-lt"/>
              </a:rPr>
              <a:t>maryamzim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maryamxiim@gmail.com</a:t>
            </a:r>
            <a:endParaRPr lang="en-US" sz="1100" dirty="0">
              <a:latin typeface="+mj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139A4A4-6725-59CF-7099-1F9127951243}"/>
              </a:ext>
            </a:extLst>
          </p:cNvPr>
          <p:cNvCxnSpPr>
            <a:cxnSpLocks/>
          </p:cNvCxnSpPr>
          <p:nvPr/>
        </p:nvCxnSpPr>
        <p:spPr>
          <a:xfrm>
            <a:off x="0" y="6239774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482" name="Picture 2">
            <a:extLst>
              <a:ext uri="{FF2B5EF4-FFF2-40B4-BE49-F238E27FC236}">
                <a16:creationId xmlns:a16="http://schemas.microsoft.com/office/drawing/2014/main" id="{C0C7CD75-3CDC-8F39-FAB2-BC9933D5B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80" y="6406516"/>
            <a:ext cx="139939" cy="139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4" name="Picture 4">
            <a:extLst>
              <a:ext uri="{FF2B5EF4-FFF2-40B4-BE49-F238E27FC236}">
                <a16:creationId xmlns:a16="http://schemas.microsoft.com/office/drawing/2014/main" id="{897B446E-8E4A-1444-0B25-280230FC1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536" y="6593099"/>
            <a:ext cx="138983" cy="99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6627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788462" y="707755"/>
            <a:ext cx="10615076" cy="4116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B0F0"/>
                </a:solidFill>
              </a:rPr>
              <a:t>Objects :</a:t>
            </a:r>
          </a:p>
          <a:p>
            <a:pPr algn="l">
              <a:lnSpc>
                <a:spcPct val="150000"/>
              </a:lnSpc>
            </a:pPr>
            <a:r>
              <a:rPr lang="en-US" sz="1600" b="0" i="0" dirty="0">
                <a:solidFill>
                  <a:schemeClr val="bg2">
                    <a:lumMod val="10000"/>
                  </a:schemeClr>
                </a:solidFill>
                <a:effectLst/>
              </a:rPr>
              <a:t>An </a:t>
            </a:r>
            <a:r>
              <a:rPr lang="en-US" sz="1600" b="1" i="0" dirty="0">
                <a:solidFill>
                  <a:schemeClr val="bg2">
                    <a:lumMod val="10000"/>
                  </a:schemeClr>
                </a:solidFill>
                <a:effectLst/>
              </a:rPr>
              <a:t>object</a:t>
            </a:r>
            <a:r>
              <a:rPr lang="en-US" sz="1600" b="0" i="0" dirty="0">
                <a:solidFill>
                  <a:schemeClr val="bg2">
                    <a:lumMod val="10000"/>
                  </a:schemeClr>
                </a:solidFill>
                <a:effectLst/>
              </a:rPr>
              <a:t> in JavaScript is a collection of named values, similar to a real-world entity (like a car, a student, or a phone). </a:t>
            </a:r>
            <a:r>
              <a:rPr lang="en-US" sz="1600" b="1" i="0" dirty="0">
                <a:solidFill>
                  <a:srgbClr val="00B0F0"/>
                </a:solidFill>
                <a:effectLst/>
              </a:rPr>
              <a:t>Structure: Key-Value Pairs</a:t>
            </a:r>
          </a:p>
          <a:p>
            <a:pPr algn="l">
              <a:lnSpc>
                <a:spcPct val="150000"/>
              </a:lnSpc>
            </a:pPr>
            <a:r>
              <a:rPr lang="en-US" sz="1600" b="0" i="0" dirty="0">
                <a:solidFill>
                  <a:schemeClr val="bg2">
                    <a:lumMod val="10000"/>
                  </a:schemeClr>
                </a:solidFill>
                <a:effectLst/>
              </a:rPr>
              <a:t>Each object is made up of Key-Value Pairs:</a:t>
            </a:r>
          </a:p>
          <a:p>
            <a:pPr algn="l">
              <a:lnSpc>
                <a:spcPct val="150000"/>
              </a:lnSpc>
            </a:pPr>
            <a:r>
              <a:rPr lang="en-US" sz="1600" b="0" i="0" dirty="0">
                <a:solidFill>
                  <a:schemeClr val="bg2">
                    <a:lumMod val="10000"/>
                  </a:schemeClr>
                </a:solidFill>
                <a:effectLst/>
              </a:rPr>
              <a:t>Key: Always a String or a Symbol. Specifies the name of the property.</a:t>
            </a:r>
          </a:p>
          <a:p>
            <a:pPr algn="l">
              <a:lnSpc>
                <a:spcPct val="150000"/>
              </a:lnSpc>
            </a:pPr>
            <a:r>
              <a:rPr lang="en-US" sz="1600" b="0" i="0" dirty="0">
                <a:solidFill>
                  <a:schemeClr val="bg2">
                    <a:lumMod val="10000"/>
                  </a:schemeClr>
                </a:solidFill>
                <a:effectLst/>
              </a:rPr>
              <a:t>Value: Can be any data type (string, number, </a:t>
            </a:r>
            <a:r>
              <a:rPr lang="en-US" sz="1600" b="0" i="0" dirty="0" err="1">
                <a:solidFill>
                  <a:schemeClr val="bg2">
                    <a:lumMod val="10000"/>
                  </a:schemeClr>
                </a:solidFill>
                <a:effectLst/>
              </a:rPr>
              <a:t>boolean</a:t>
            </a:r>
            <a:r>
              <a:rPr lang="en-US" sz="1600" b="0" i="0" dirty="0">
                <a:solidFill>
                  <a:schemeClr val="bg2">
                    <a:lumMod val="10000"/>
                  </a:schemeClr>
                </a:solidFill>
                <a:effectLst/>
              </a:rPr>
              <a:t>, array, function, or even another object!).</a:t>
            </a:r>
          </a:p>
          <a:p>
            <a:pPr algn="l">
              <a:lnSpc>
                <a:spcPct val="150000"/>
              </a:lnSpc>
            </a:pPr>
            <a:r>
              <a:rPr lang="en-US" sz="1600" b="0" i="0" dirty="0">
                <a:solidFill>
                  <a:schemeClr val="bg2">
                    <a:lumMod val="10000"/>
                  </a:schemeClr>
                </a:solidFill>
                <a:effectLst/>
              </a:rPr>
              <a:t>Objects are collections of </a:t>
            </a:r>
            <a:r>
              <a:rPr lang="en-US" sz="1600" b="1" i="0" dirty="0">
                <a:solidFill>
                  <a:schemeClr val="bg2">
                    <a:lumMod val="10000"/>
                  </a:schemeClr>
                </a:solidFill>
                <a:effectLst/>
              </a:rPr>
              <a:t>key-value pairs</a:t>
            </a:r>
            <a:r>
              <a:rPr lang="en-US" sz="1600" b="0" i="0" dirty="0">
                <a:solidFill>
                  <a:schemeClr val="bg2">
                    <a:lumMod val="10000"/>
                  </a:schemeClr>
                </a:solidFill>
                <a:effectLst/>
              </a:rPr>
              <a:t>, where each key (known as </a:t>
            </a:r>
            <a:r>
              <a:rPr lang="en-US" sz="1600" b="1" i="0" dirty="0">
                <a:solidFill>
                  <a:schemeClr val="bg2">
                    <a:lumMod val="10000"/>
                  </a:schemeClr>
                </a:solidFill>
                <a:effectLst/>
              </a:rPr>
              <a:t>property names</a:t>
            </a:r>
            <a:r>
              <a:rPr lang="en-US" sz="1600" b="0" i="0" dirty="0">
                <a:solidFill>
                  <a:schemeClr val="bg2">
                    <a:lumMod val="10000"/>
                  </a:schemeClr>
                </a:solidFill>
                <a:effectLst/>
              </a:rPr>
              <a:t>) has a value.</a:t>
            </a:r>
          </a:p>
          <a:p>
            <a:pPr algn="l">
              <a:lnSpc>
                <a:spcPct val="150000"/>
              </a:lnSpc>
            </a:pPr>
            <a:r>
              <a:rPr lang="en-US" sz="1600" b="0" i="0" dirty="0">
                <a:solidFill>
                  <a:schemeClr val="bg2">
                    <a:lumMod val="10000"/>
                  </a:schemeClr>
                </a:solidFill>
                <a:effectLst/>
              </a:rPr>
              <a:t>Objects can describe anything like houses, cars, people, animals, or any other subjects.</a:t>
            </a:r>
          </a:p>
          <a:p>
            <a:pPr>
              <a:lnSpc>
                <a:spcPct val="150000"/>
              </a:lnSpc>
            </a:pPr>
            <a:br>
              <a:rPr lang="fa-IR" sz="1600" dirty="0"/>
            </a:br>
            <a:endParaRPr lang="en-US" sz="1600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sz="1600" b="1" dirty="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  <p:pic>
        <p:nvPicPr>
          <p:cNvPr id="1026" name="Picture 2" descr="An object is a collection of properties, aka key-value pairs">
            <a:extLst>
              <a:ext uri="{FF2B5EF4-FFF2-40B4-BE49-F238E27FC236}">
                <a16:creationId xmlns:a16="http://schemas.microsoft.com/office/drawing/2014/main" id="{079DB08D-0C0E-47E2-A8D8-EBC82B775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8106" y="4045946"/>
            <a:ext cx="4178828" cy="2634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6807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788462" y="648488"/>
            <a:ext cx="10615076" cy="2685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i="0" dirty="0">
                <a:solidFill>
                  <a:srgbClr val="FFC000"/>
                </a:solidFill>
                <a:effectLst/>
                <a:latin typeface="Inter"/>
              </a:rPr>
              <a:t>accessors</a:t>
            </a:r>
            <a:r>
              <a:rPr lang="en-US" sz="1600" b="1" dirty="0">
                <a:solidFill>
                  <a:srgbClr val="C00000"/>
                </a:solidFill>
              </a:rPr>
              <a:t> </a:t>
            </a:r>
            <a:r>
              <a:rPr lang="en-US" sz="1600" b="1" dirty="0">
                <a:solidFill>
                  <a:srgbClr val="FFC000"/>
                </a:solidFill>
              </a:rPr>
              <a:t>:</a:t>
            </a:r>
          </a:p>
          <a:p>
            <a:pPr algn="l">
              <a:lnSpc>
                <a:spcPct val="150000"/>
              </a:lnSpc>
            </a:pPr>
            <a:r>
              <a:rPr lang="en-US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Inter"/>
              </a:rPr>
              <a:t>Property accessors</a:t>
            </a:r>
            <a:r>
              <a:rPr lang="en-U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Inter"/>
              </a:rPr>
              <a:t> provide access to an object's properties by using the dot notation or the bracket notation.</a:t>
            </a:r>
          </a:p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C000"/>
                </a:solidFill>
              </a:rPr>
              <a:t>1.Dot Notation: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The most common and cleanest method. (Example: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object.key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FFC000"/>
                </a:solidFill>
              </a:rPr>
              <a:t>2.Bracket Notation: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Used when the key is a variable name or contains a space/special character. (Example: object['key'] or object[variable])</a:t>
            </a:r>
            <a:br>
              <a:rPr lang="fa-I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endParaRPr lang="en-US" sz="1600" b="1" dirty="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  <p:pic>
        <p:nvPicPr>
          <p:cNvPr id="2050" name="Picture 2" descr="Post cover">
            <a:extLst>
              <a:ext uri="{FF2B5EF4-FFF2-40B4-BE49-F238E27FC236}">
                <a16:creationId xmlns:a16="http://schemas.microsoft.com/office/drawing/2014/main" id="{1EF27EAF-B20E-4606-AB0F-7173CE304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13" y="3248011"/>
            <a:ext cx="5039673" cy="2797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>
            <a:extLst>
              <a:ext uri="{FF2B5EF4-FFF2-40B4-BE49-F238E27FC236}">
                <a16:creationId xmlns:a16="http://schemas.microsoft.com/office/drawing/2014/main" id="{A9FEF195-A781-40D6-B0A3-71BE52159A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88FA43-D56B-4E2F-A6AF-4FE78CD6FC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117" y="2785948"/>
            <a:ext cx="5349283" cy="3721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754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79DD7C-122E-46D4-ACD3-9651CB46E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541" y="2531643"/>
            <a:ext cx="6190192" cy="34389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72C2C0-3435-4B9E-B02D-0EBE10E0B7AB}"/>
              </a:ext>
            </a:extLst>
          </p:cNvPr>
          <p:cNvSpPr txBox="1"/>
          <p:nvPr/>
        </p:nvSpPr>
        <p:spPr>
          <a:xfrm>
            <a:off x="4817533" y="79683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b="1" dirty="0">
                <a:cs typeface="B Ferdosi" panose="00000400000000000000" pitchFamily="2" charset="-78"/>
              </a:rPr>
              <a:t>صرفا جهت اطلاع : </a:t>
            </a:r>
            <a:br>
              <a:rPr lang="fa-IR" b="1" dirty="0">
                <a:cs typeface="B Ferdosi" panose="00000400000000000000" pitchFamily="2" charset="-78"/>
              </a:rPr>
            </a:br>
            <a:r>
              <a:rPr lang="fa-IR" b="1" dirty="0">
                <a:cs typeface="B Ferdosi" panose="00000400000000000000" pitchFamily="2" charset="-78"/>
              </a:rPr>
              <a:t>مورد سوم</a:t>
            </a:r>
            <a:r>
              <a:rPr lang="en-US" b="1" dirty="0">
                <a:cs typeface="B Ferdosi" panose="00000400000000000000" pitchFamily="2" charset="-78"/>
              </a:rPr>
              <a:t> </a:t>
            </a:r>
            <a:r>
              <a:rPr lang="fa-IR" b="1" dirty="0">
                <a:cs typeface="B Ferdosi" panose="00000400000000000000" pitchFamily="2" charset="-78"/>
              </a:rPr>
              <a:t> صفحه قبل تو امتحان </a:t>
            </a:r>
            <a:r>
              <a:rPr lang="fa-IR" b="1" dirty="0" err="1">
                <a:cs typeface="B Ferdosi" panose="00000400000000000000" pitchFamily="2" charset="-78"/>
              </a:rPr>
              <a:t>تون</a:t>
            </a:r>
            <a:r>
              <a:rPr lang="fa-IR" b="1" dirty="0">
                <a:cs typeface="B Ferdosi" panose="00000400000000000000" pitchFamily="2" charset="-78"/>
              </a:rPr>
              <a:t> نمیاد اما اسمش </a:t>
            </a:r>
            <a:r>
              <a:rPr lang="en-US" b="1" dirty="0">
                <a:cs typeface="B Ferdosi" panose="00000400000000000000" pitchFamily="2" charset="-78"/>
              </a:rPr>
              <a:t>destruct </a:t>
            </a:r>
            <a:r>
              <a:rPr lang="fa-IR" b="1" dirty="0">
                <a:cs typeface="B Ferdosi" panose="00000400000000000000" pitchFamily="2" charset="-78"/>
              </a:rPr>
              <a:t> کردن هست</a:t>
            </a:r>
            <a:br>
              <a:rPr lang="fa-IR" b="1" dirty="0">
                <a:cs typeface="B Ferdosi" panose="00000400000000000000" pitchFamily="2" charset="-78"/>
              </a:rPr>
            </a:br>
            <a:r>
              <a:rPr lang="fa-IR" b="1" dirty="0">
                <a:cs typeface="B Ferdosi" panose="00000400000000000000" pitchFamily="2" charset="-78"/>
              </a:rPr>
              <a:t>بیشتر اینو میگم ک </a:t>
            </a:r>
            <a:r>
              <a:rPr lang="fa-IR" b="1" dirty="0" err="1">
                <a:cs typeface="B Ferdosi" panose="00000400000000000000" pitchFamily="2" charset="-78"/>
              </a:rPr>
              <a:t>بدونین</a:t>
            </a:r>
            <a:r>
              <a:rPr lang="fa-IR" b="1" dirty="0">
                <a:cs typeface="B Ferdosi" panose="00000400000000000000" pitchFamily="2" charset="-78"/>
              </a:rPr>
              <a:t> – از لحاظ حرفه ای تر بودن –</a:t>
            </a:r>
            <a:br>
              <a:rPr lang="fa-IR" b="1" dirty="0">
                <a:cs typeface="B Ferdosi" panose="00000400000000000000" pitchFamily="2" charset="-78"/>
              </a:rPr>
            </a:br>
            <a:r>
              <a:rPr lang="fa-IR" b="1" dirty="0">
                <a:cs typeface="B Ferdosi" panose="00000400000000000000" pitchFamily="2" charset="-78"/>
              </a:rPr>
              <a:t>به این صورت عمل میکنه:</a:t>
            </a:r>
            <a:endParaRPr lang="en-US" b="1" dirty="0">
              <a:cs typeface="B Ferdosi" panose="00000400000000000000" pitchFamily="2" charset="-7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5C03C1-589D-49F6-961C-5213827C6F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1779" y="887362"/>
            <a:ext cx="2029108" cy="714475"/>
          </a:xfrm>
          <a:prstGeom prst="rect">
            <a:avLst/>
          </a:prstGeom>
        </p:spPr>
      </p:pic>
      <p:sp>
        <p:nvSpPr>
          <p:cNvPr id="10" name="AutoShape 2">
            <a:extLst>
              <a:ext uri="{FF2B5EF4-FFF2-40B4-BE49-F238E27FC236}">
                <a16:creationId xmlns:a16="http://schemas.microsoft.com/office/drawing/2014/main" id="{C6AC03F2-80C9-4851-A320-6FA6887B48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5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788462" y="707755"/>
            <a:ext cx="10615076" cy="15314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</a:rPr>
              <a:t>Adding, Updating, Deleting in Objects: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Because objects are mutable, you can easily change them: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Modify/Add: Simply assign a new value to the key using any of the accessors.</a:t>
            </a:r>
          </a:p>
          <a:p>
            <a:pPr>
              <a:lnSpc>
                <a:spcPct val="150000"/>
              </a:lnSpc>
            </a:pPr>
            <a:endParaRPr lang="en-US" sz="1600" b="1" dirty="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531220-FAE2-42ED-A8B4-4F40BD3DAF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5184" y="2568345"/>
            <a:ext cx="5306165" cy="329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333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788462" y="707755"/>
            <a:ext cx="10615076" cy="792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Nested Objects: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key value can itself be an array or another object.</a:t>
            </a:r>
            <a:endParaRPr lang="en-US" sz="1600" b="1" dirty="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38D6EA-E902-4F1A-9B76-F56304D2B9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2864" y="2063449"/>
            <a:ext cx="5706271" cy="430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199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729195" y="380333"/>
            <a:ext cx="10615076" cy="792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Object Methods: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If the value of a key is a function, it is called a method. Methods perform behaviors associated with that object.</a:t>
            </a:r>
            <a:endParaRPr lang="en-US" sz="1600" b="1" dirty="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5DE29C-539D-409A-8FF2-345A591877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9077" y="1585510"/>
            <a:ext cx="6398657" cy="40256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409A4A-6013-48D9-BE6D-589DF95987B3}"/>
              </a:ext>
            </a:extLst>
          </p:cNvPr>
          <p:cNvSpPr txBox="1"/>
          <p:nvPr/>
        </p:nvSpPr>
        <p:spPr>
          <a:xfrm>
            <a:off x="729195" y="5943692"/>
            <a:ext cx="1102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Important: </a:t>
            </a:r>
            <a:r>
              <a:rPr lang="en-US" sz="1600" b="1" dirty="0"/>
              <a:t>The this keyword inside a method refers to the object itself and allows you to access its other properties. </a:t>
            </a:r>
          </a:p>
        </p:txBody>
      </p:sp>
    </p:spTree>
    <p:extLst>
      <p:ext uri="{BB962C8B-B14F-4D97-AF65-F5344CB8AC3E}">
        <p14:creationId xmlns:p14="http://schemas.microsoft.com/office/powerpoint/2010/main" val="1285602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729195" y="380333"/>
            <a:ext cx="10615076" cy="1162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3">
                    <a:lumMod val="75000"/>
                  </a:schemeClr>
                </a:solidFill>
              </a:rPr>
              <a:t>Iteration and Key Utilities: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Iteration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with 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for...in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for...in loop is used to access all the keys of an object.</a:t>
            </a:r>
            <a:endParaRPr lang="en-US" sz="1600" b="1" dirty="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DB57F2-0B9B-4EEF-BAE5-E965877F8A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2364" y="1952661"/>
            <a:ext cx="5887272" cy="4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842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729195" y="380333"/>
            <a:ext cx="10615076" cy="1162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Built-in Object Methods: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JavaScript provides some very useful methods on Object itself (capitalized), which are essential for working with keys, values, and pairs:</a:t>
            </a:r>
            <a:endParaRPr lang="en-US" sz="1600" b="1" dirty="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16B14B8-11B8-4381-A0E9-3BA84BD376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1596450"/>
              </p:ext>
            </p:extLst>
          </p:nvPr>
        </p:nvGraphicFramePr>
        <p:xfrm>
          <a:off x="4333871" y="2184400"/>
          <a:ext cx="7010400" cy="2868454"/>
        </p:xfrm>
        <a:graphic>
          <a:graphicData uri="http://schemas.openxmlformats.org/drawingml/2006/table">
            <a:tbl>
              <a:tblPr rtl="1">
                <a:tableStyleId>{22838BEF-8BB2-4498-84A7-C5851F593DF1}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37478296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644457872"/>
                    </a:ext>
                  </a:extLst>
                </a:gridCol>
              </a:tblGrid>
              <a:tr h="542680">
                <a:tc>
                  <a:txBody>
                    <a:bodyPr/>
                    <a:lstStyle/>
                    <a:p>
                      <a:pPr marL="0" marR="0" indent="0" algn="l" rtl="1" eaLnBrk="1" fontAlgn="auto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Example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US" dirty="0">
                        <a:effectLst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35982039"/>
                  </a:ext>
                </a:extLst>
              </a:tr>
              <a:tr h="891547">
                <a:tc>
                  <a:txBody>
                    <a:bodyPr/>
                    <a:lstStyle/>
                    <a:p>
                      <a:pPr marL="0" algn="l" rtl="1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['firstName', 'lastName', 'job']</a:t>
                      </a:r>
                      <a:endParaRPr lang="en-US" sz="1600" b="0" i="0" u="none" strike="noStrike"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Returns an array of object keys.</a:t>
                      </a:r>
                      <a:endParaRPr lang="fa-IR" sz="16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545872750"/>
                  </a:ext>
                </a:extLst>
              </a:tr>
              <a:tr h="542680">
                <a:tc>
                  <a:txBody>
                    <a:bodyPr/>
                    <a:lstStyle/>
                    <a:p>
                      <a:pPr marL="0" algn="l" rtl="1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['Mahdi', 'Noori', 'Developer']</a:t>
                      </a:r>
                      <a:endParaRPr lang="en-US" sz="1600" b="0" i="0" u="none" strike="noStrike"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Returns an array of object values.</a:t>
                      </a:r>
                      <a:endParaRPr lang="fa-IR" sz="16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052536167"/>
                  </a:ext>
                </a:extLst>
              </a:tr>
              <a:tr h="891547">
                <a:tc>
                  <a:txBody>
                    <a:bodyPr/>
                    <a:lstStyle/>
                    <a:p>
                      <a:pPr marL="0" algn="l" rtl="1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kern="12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[['</a:t>
                      </a:r>
                      <a:r>
                        <a:rPr lang="en-US" sz="1600" b="0" i="0" u="none" strike="noStrike" kern="1200" dirty="0" err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firstName</a:t>
                      </a:r>
                      <a:r>
                        <a:rPr lang="en-US" sz="1600" b="0" i="0" u="none" strike="noStrike" kern="12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', 'Mahdi'], ...]</a:t>
                      </a:r>
                      <a:endParaRPr lang="en-US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l" rtl="1"/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Returns an array of [key, value] pairs (2-element arrays).</a:t>
                      </a:r>
                      <a:endParaRPr lang="fa-IR" sz="16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41973849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362DCBD-3E1C-4010-A942-AA17C38522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4550704"/>
              </p:ext>
            </p:extLst>
          </p:nvPr>
        </p:nvGraphicFramePr>
        <p:xfrm>
          <a:off x="828671" y="2184400"/>
          <a:ext cx="3505200" cy="2868454"/>
        </p:xfrm>
        <a:graphic>
          <a:graphicData uri="http://schemas.openxmlformats.org/drawingml/2006/table">
            <a:tbl>
              <a:tblPr rtl="1">
                <a:tableStyleId>{22838BEF-8BB2-4498-84A7-C5851F593DF1}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575320369"/>
                    </a:ext>
                  </a:extLst>
                </a:gridCol>
              </a:tblGrid>
              <a:tr h="542680">
                <a:tc>
                  <a:txBody>
                    <a:bodyPr/>
                    <a:lstStyle/>
                    <a:p>
                      <a:pPr algn="l" rtl="1"/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method</a:t>
                      </a:r>
                      <a:endParaRPr lang="fa-IR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43804380"/>
                  </a:ext>
                </a:extLst>
              </a:tr>
              <a:tr h="891547">
                <a:tc>
                  <a:txBody>
                    <a:bodyPr/>
                    <a:lstStyle/>
                    <a:p>
                      <a:pPr algn="l" rtl="1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Object.keys(obj)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935286820"/>
                  </a:ext>
                </a:extLst>
              </a:tr>
              <a:tr h="542680">
                <a:tc>
                  <a:txBody>
                    <a:bodyPr/>
                    <a:lstStyle/>
                    <a:p>
                      <a:pPr algn="l" rtl="1"/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Object.values(obj)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510234299"/>
                  </a:ext>
                </a:extLst>
              </a:tr>
              <a:tr h="891547">
                <a:tc>
                  <a:txBody>
                    <a:bodyPr/>
                    <a:lstStyle/>
                    <a:p>
                      <a:pPr algn="l" rtl="1"/>
                      <a:r>
                        <a:rPr lang="en-US" sz="1600" dirty="0" err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Object.entries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(obj)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596304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4716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729195" y="380333"/>
            <a:ext cx="10615076" cy="2957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Classes: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Class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A template or blueprint for building similar objects. (You build Person objects, not just a person.)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The Core Structure: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A class is defined with the class keyword. The most important part is a special method called the constructor: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constructor: A function that is executed only once when a new instance is created with new and its job is to initialize the properties of that object.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this: Inside the constructor, this refers to the new object that is being created.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2DF8F5-FECE-4976-A23D-023AB145F7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5045" y="3764842"/>
            <a:ext cx="5563376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996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729195" y="744400"/>
            <a:ext cx="10615076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</a:rPr>
              <a:t>Instance</a:t>
            </a: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To create an object from the class map, we use the new keyword: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D09913-29BA-4EB4-B93D-8B59A9E7F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563" y="2133600"/>
            <a:ext cx="6848475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174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703795" y="575067"/>
            <a:ext cx="10615076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6666FF"/>
                </a:solidFill>
              </a:rPr>
              <a:t>Class Methods: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Methods define the behaviors and capabilities of the constructed object. These methods are defined directly within the class body and do not require the function keyword.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2F6603-F490-48B4-BDC2-246964B078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082" y="2144777"/>
            <a:ext cx="5550920" cy="434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957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636061" y="761333"/>
            <a:ext cx="10615076" cy="2957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99CC"/>
                </a:solidFill>
              </a:rPr>
              <a:t>Inheritance: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Inheritance allows a new class (subclass) to inherit properties and methods from an existing class (superclass). This reduces code duplication (DRY Principle).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extends: To define inheritance. Subclass extends Superclass.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super(): Used inside the constructor of the child class to call the constructor of the parent class. It must be called before using this in the child class.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99CC"/>
                </a:solidFill>
              </a:rPr>
              <a:t>Look at next page 👀</a:t>
            </a:r>
          </a:p>
        </p:txBody>
      </p:sp>
    </p:spTree>
    <p:extLst>
      <p:ext uri="{BB962C8B-B14F-4D97-AF65-F5344CB8AC3E}">
        <p14:creationId xmlns:p14="http://schemas.microsoft.com/office/powerpoint/2010/main" val="32566379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1E8701-F6A6-4DBF-8845-B71DB3687E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741" y="569955"/>
            <a:ext cx="6282207" cy="571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142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8097</TotalTime>
  <Words>698</Words>
  <Application>Microsoft Office PowerPoint</Application>
  <PresentationFormat>Widescreen</PresentationFormat>
  <Paragraphs>55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Google Sans Text</vt:lpstr>
      <vt:lpstr>Inter</vt:lpstr>
      <vt:lpstr>Office Theme</vt:lpstr>
      <vt:lpstr>Special topics  Session 11    Al-Zahra university  Maryam zim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maryam.zim@PART.LOCAL</dc:creator>
  <cp:lastModifiedBy>maryam.zim@PART.LOCAL</cp:lastModifiedBy>
  <cp:revision>111</cp:revision>
  <dcterms:created xsi:type="dcterms:W3CDTF">2025-10-04T12:24:50Z</dcterms:created>
  <dcterms:modified xsi:type="dcterms:W3CDTF">2025-12-24T11:22:53Z</dcterms:modified>
</cp:coreProperties>
</file>